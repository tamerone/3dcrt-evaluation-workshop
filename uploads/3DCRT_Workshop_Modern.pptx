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840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F9ED5"/>
                </a:solidFill>
              </a:rPr>
              <a:t>RADIATION ONCOLOGY  ·  UCT / GSH REGISTRAR TRAINING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Plan
</a:t>
            </a:r>
            <a:pPr indent="0" marL="0">
              <a:buNone/>
            </a:pPr>
            <a:r>
              <a:rPr lang="en-US" sz="4800" b="1" i="1" dirty="0">
                <a:solidFill>
                  <a:srgbClr val="E971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Good?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411480" y="3108960"/>
            <a:ext cx="4572000" cy="502920"/>
          </a:xfrm>
          <a:prstGeom prst="rect">
            <a:avLst/>
          </a:prstGeom>
          <a:solidFill>
            <a:srgbClr val="0B7FAA"/>
          </a:solidFill>
          <a:ln w="12700">
            <a:solidFill>
              <a:srgbClr val="0B7F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363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3DCRT Plan Evaluation Workshop  ·  Theory &amp; Practical Module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67588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AB0"/>
                </a:solidFill>
              </a:rPr>
              <a:t>From bad, to acceptable, to good — a structured approach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46634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Presented by Tamerone Manasse  ·  UCT / GSH Registrars  ·  2026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217920" y="365760"/>
            <a:ext cx="2560320" cy="2560320"/>
          </a:xfrm>
          <a:prstGeom prst="ellipse">
            <a:avLst/>
          </a:prstGeom>
          <a:solidFill>
            <a:srgbClr val="0F9ED5">
              <a:alpha val="15000"/>
            </a:srgbClr>
          </a:solidFill>
          <a:ln w="12700">
            <a:solidFill>
              <a:srgbClr val="0F9ED5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1645920"/>
            <a:ext cx="2011680" cy="2011680"/>
          </a:xfrm>
          <a:prstGeom prst="ellipse">
            <a:avLst/>
          </a:prstGeom>
          <a:solidFill>
            <a:srgbClr val="E97132">
              <a:alpha val="12000"/>
            </a:srgbClr>
          </a:solidFill>
          <a:ln w="12700">
            <a:solidFill>
              <a:srgbClr val="E97132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</a:rPr>
              <a:t>FCB-CHOPS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0" y="2834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AB0"/>
                </a:solidFill>
              </a:rPr>
              <a:t>A systematic framework for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AB0"/>
                </a:solidFill>
              </a:rPr>
              <a:t>every plan evaluation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HOW THIS SESSION RUNS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Framework, three blocks, a scorecard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8503920" cy="18288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155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F9ED5"/>
                </a:solidFill>
              </a:rPr>
              <a:t>BY THE END YOU CAN…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20040" y="1353312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FCB-CHOPS — a complete evaluation checklist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DVH and pull coverage &amp; OAR numbers off it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CI &amp; HI — and what "good enough" means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OAR constraints using serial / parallel logic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technical quality of a 3DCRT plan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34840" y="1078992"/>
            <a:ext cx="4389120" cy="6583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34840" y="1078992"/>
            <a:ext cx="64008" cy="658368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143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Framing &amp; FCB-CHOPS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17720" y="1371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0"/>
                </a:solidFill>
              </a:rPr>
              <a:t>The central question · framework · your task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406640" y="11430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0:00 – 0:05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06640" y="138988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8A9AB0"/>
                </a:solidFill>
              </a:rPr>
              <a:t>SLIDES 1–6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4840" y="1837944"/>
            <a:ext cx="4389120" cy="6583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34840" y="1837944"/>
            <a:ext cx="64008" cy="658368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901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Block 1 · Target Coverage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21305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0"/>
                </a:solidFill>
              </a:rPr>
              <a:t>Is the right volume getting the right dose?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406640" y="19019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9ED5"/>
                </a:solidFill>
              </a:rPr>
              <a:t>0:05 – 0:12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06640" y="21488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8A9AB0"/>
                </a:solidFill>
              </a:rPr>
              <a:t>SLIDES 7–14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34840" y="2596896"/>
            <a:ext cx="4389120" cy="6583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34840" y="2596896"/>
            <a:ext cx="64008" cy="658368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26609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Block 2 · OAR Constraints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17720" y="28895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0"/>
                </a:solidFill>
              </a:rPr>
              <a:t>Is normal tissue safe — and how do we know?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406640" y="266090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EA72E"/>
                </a:solidFill>
              </a:rPr>
              <a:t>0:12 – 0:18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29077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8A9AB0"/>
                </a:solidFill>
              </a:rPr>
              <a:t>SLIDES 15–19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34840" y="3355848"/>
            <a:ext cx="4389120" cy="6583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3355848"/>
            <a:ext cx="64008" cy="65836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7720" y="34198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Block 3 · Technical Quality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36484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0"/>
                </a:solidFill>
              </a:rPr>
              <a:t>Is the plan well built and deliverable?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406640" y="34198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97132"/>
                </a:solidFill>
              </a:rPr>
              <a:t>0:18 – 0:23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06640" y="36667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8A9AB0"/>
                </a:solidFill>
              </a:rPr>
              <a:t>SLIDES 20–25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4840" y="4114800"/>
            <a:ext cx="4389120" cy="6583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4114800"/>
            <a:ext cx="64008" cy="658368"/>
          </a:xfrm>
          <a:prstGeom prst="rect">
            <a:avLst/>
          </a:prstGeom>
          <a:solidFill>
            <a:srgbClr val="8A9AB0"/>
          </a:solidFill>
          <a:ln w="12700">
            <a:solidFill>
              <a:srgbClr val="8A9A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4178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841"/>
                </a:solidFill>
              </a:rPr>
              <a:t>Consolidate &amp; Routine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17720" y="44074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0"/>
                </a:solidFill>
              </a:rPr>
              <a:t>Scorecard tiers · evaluation routine · close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406640" y="417880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A9AB0"/>
                </a:solidFill>
              </a:rPr>
              <a:t>0:23 – 0:25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06640" y="442569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100" kern="0" dirty="0">
                <a:solidFill>
                  <a:srgbClr val="8A9AB0"/>
                </a:solidFill>
              </a:rPr>
              <a:t>SLIDES 26–29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02 / 37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THE CENTRAL QUESTION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plan answers four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Run every plan past these four lenses, in order. A plan is never "perfect" — it is the best defensible compromise.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54864" cy="146304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27048"/>
            <a:ext cx="347472" cy="34747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1790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Does it treat the target?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Adequate dose to the whole target volume — no geographic miss, no cold spot where tumour lives.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27448" y="1417320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417320"/>
            <a:ext cx="54864" cy="1463040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64608" y="1527048"/>
            <a:ext cx="347472" cy="347472"/>
          </a:xfrm>
          <a:prstGeom prst="ellipse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51790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21808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Does it spare normal tissue?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187452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Every organ at risk within tolerance — judged against the right dose-volume metric for that organ.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8152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81528"/>
            <a:ext cx="54864" cy="146304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91256"/>
            <a:ext cx="347472" cy="34747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821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172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Is it technically sound?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53872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Sensible isocentre, beam angles, weighting and shaping — the plan is built, not just generated.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27448" y="3081528"/>
            <a:ext cx="411480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3081528"/>
            <a:ext cx="54864" cy="146304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3191256"/>
            <a:ext cx="347472" cy="347472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1821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21808" y="3172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Is it deliverable &amp; robust?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353872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Achievable on the machine, and stable to realistic setup and anatomy variation. Undeliverable ≠ good.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03 / 37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THE REALITY OF PLAN EVALUATION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Bad, acceptable, trade-off — or good?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Few plans are clearly bad. The hard — and teachable — judgement lives in the middle two categories.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65960" cy="7315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44752"/>
            <a:ext cx="1965960" cy="178308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536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0504D"/>
                </a:solidFill>
              </a:rPr>
              <a:t>CLEARLY BAD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8470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Unsafe or unacceptable.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Easy to spot, easy to reject.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1965960" cy="7315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444752"/>
            <a:ext cx="1965960" cy="178308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536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97132"/>
                </a:solidFill>
              </a:rPr>
              <a:t>ACCEPTABLE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78608" y="18470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Passes constraints — but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better plan is clearly achievable.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371600"/>
            <a:ext cx="1965960" cy="731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444752"/>
            <a:ext cx="1965960" cy="178308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536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2841"/>
                </a:solidFill>
              </a:rPr>
              <a:t>TRADE-OFF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27448" y="18470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Competing priorities pull against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each other. Needs judgement.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1965960" cy="73152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1444752"/>
            <a:ext cx="1965960" cy="178308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76288" y="1536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EA72E"/>
                </a:solidFill>
              </a:rPr>
              <a:t>GOOD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76288" y="184708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Balanced, robust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clinically appropriate.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37560"/>
            <a:ext cx="8503920" cy="128016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337560"/>
            <a:ext cx="64008" cy="128016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41985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97132"/>
                </a:solidFill>
              </a:rPr>
              <a:t>THE GUT-CHECK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"Would I confidently treat my own family member with this plan?"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1330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If the answer is not a clear yes — name exactly what would have to change.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04 / 37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A SYSTEMATIC FRAMEWORK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FCB-CHOPS — a checklist for every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Eight checkpoints so no critical step is missed.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1993392" cy="15727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98448"/>
            <a:ext cx="1993392" cy="54864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0817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9ED5"/>
                </a:solidFill>
              </a:rPr>
              <a:t>F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Fusion / Imaging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Verify image fusion accuracy to ensure correct target and OAR anatomy.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298448"/>
            <a:ext cx="1993392" cy="15727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298448"/>
            <a:ext cx="1993392" cy="5486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40817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97132"/>
                </a:solidFill>
              </a:rPr>
              <a:t>C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603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Contours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Check that all target and OAR contours are complete and anatomically correct.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17720" y="1298448"/>
            <a:ext cx="1993392" cy="15727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298448"/>
            <a:ext cx="1993392" cy="54864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40817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E2841"/>
                </a:solidFill>
              </a:rPr>
              <a:t>B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0916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Beam Arrangement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0916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Confirm that beam geometry and entry points are appropriate for the target.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1298448"/>
            <a:ext cx="1993392" cy="15727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298448"/>
            <a:ext cx="1993392" cy="54864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408176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9ED5"/>
                </a:solidFill>
              </a:rPr>
              <a:t>C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5800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Coverage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21945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Ensure the prescribed dose adequately covers the target volume.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017520"/>
            <a:ext cx="1993392" cy="15727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017520"/>
            <a:ext cx="1993392" cy="54864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12724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0504D"/>
                </a:solidFill>
              </a:rPr>
              <a:t>H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1148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Heterogeneity / Hotspots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11480" y="39136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Assess internal dose variation for acceptable high and low dose regions.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468880" y="3017520"/>
            <a:ext cx="1993392" cy="15727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3017520"/>
            <a:ext cx="1993392" cy="54864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312724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EA72E"/>
                </a:solidFill>
              </a:rPr>
              <a:t>O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256032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Organs at Risk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560320" y="39136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Check that OAR doses respect clinical constraints.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617720" y="3017520"/>
            <a:ext cx="1993392" cy="15727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3017520"/>
            <a:ext cx="1993392" cy="54864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12724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97132"/>
                </a:solidFill>
              </a:rPr>
              <a:t>P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470916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Prescription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09160" y="39136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Confirm the correct dose, fractionation, and delivery schedule are used.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66560" y="3017520"/>
            <a:ext cx="1993392" cy="157276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66560" y="3017520"/>
            <a:ext cx="1993392" cy="54864"/>
          </a:xfrm>
          <a:prstGeom prst="rect">
            <a:avLst/>
          </a:prstGeom>
          <a:solidFill>
            <a:srgbClr val="8A9AB0"/>
          </a:solidFill>
          <a:ln w="12700">
            <a:solidFill>
              <a:srgbClr val="8A9A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3127248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A9AB0"/>
                </a:solidFill>
              </a:rPr>
              <a:t>S</a:t>
            </a:r>
            <a:endParaRPr lang="en-US" sz="3200" dirty="0"/>
          </a:p>
        </p:txBody>
      </p:sp>
      <p:sp>
        <p:nvSpPr>
          <p:cNvPr id="43" name="Text 41"/>
          <p:cNvSpPr/>
          <p:nvPr/>
        </p:nvSpPr>
        <p:spPr>
          <a:xfrm>
            <a:off x="685800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Summation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8000" y="391363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Evaluate cumulative dose from all treatment courses / previous RT.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05 / 37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A SYSTEMATIC FRAMEWORK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FCB-CHOPS — how to use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The acronym exists so no critical step is missed — not so you march rigidly from F to 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114800" cy="201168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54864" cy="201168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264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F9ED5"/>
                </a:solidFill>
              </a:rPr>
              <a:t>HOW TO USE IT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682496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2841"/>
                </a:solidFill>
              </a:rPr>
              <a:t>Work in whatever order the plan demands; the letters are a safety net, not a script. The framework is a checklist so that when you look up from the DVH and close the plan, no critical step has been skipped.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353312"/>
            <a:ext cx="4114800" cy="201168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353312"/>
            <a:ext cx="54864" cy="201168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4264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97132"/>
                </a:solidFill>
              </a:rPr>
              <a:t>START WITH THE PRESCRIPTION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92040" y="1682496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It defines treatment intent, dose, fractionation, technique and priorities. Every downstream judgement flows from it — confirm it before anything else.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520440"/>
            <a:ext cx="8503920" cy="6858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520440"/>
            <a:ext cx="54864" cy="685800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593592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EA72E"/>
                </a:solidFill>
              </a:rPr>
              <a:t>THE ORDER IN THIS WORKSHOP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37947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Prescription → Fusion → Contours → Beams → Coverage → Hotspots → OARs → Summation — but always let the plan guide you.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06 / 37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9E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A1F33"/>
          </a:solidFill>
          <a:ln w="12700">
            <a:solidFill>
              <a:srgbClr val="0A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73152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85000"/>
                  </a:srgbClr>
                </a:solidFill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0F9ED5"/>
                </a:solidFill>
              </a:rPr>
              <a:t>BLOCK ONE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Coverage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651760" y="2103120"/>
            <a:ext cx="5486400" cy="457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2212848"/>
            <a:ext cx="109728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2311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10 MINUTES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51760" y="260604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a dose volume histogram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metrics — V95, V107, D98, D2, D50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Conformity and homogeneity — and "what is good enough?"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07 / 37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1 · TARGET COVERAGE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name your volumes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Coverage means nothing until you are clear on which volume you are covering. The ICRU volume hierarchy (Reports 50, 62, 83):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993392" cy="22860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1993392" cy="6400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481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504D"/>
                </a:solidFill>
              </a:rPr>
              <a:t>GTV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29768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Gross Tumour Volume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3042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B0"/>
                </a:solidFill>
              </a:rPr>
              <a:t>What you can see, palpate or image. No tumour = no GTV.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1993392" cy="22860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371600"/>
            <a:ext cx="1993392" cy="6400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1481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</a:rPr>
              <a:t>CTV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78608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Clinical Target Volume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78608" y="23042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B0"/>
                </a:solidFill>
              </a:rPr>
              <a:t>GTV + suspected microscopic spread. The true clinical target.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371600"/>
            <a:ext cx="1993392" cy="22860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371600"/>
            <a:ext cx="1993392" cy="64008"/>
          </a:xfrm>
          <a:prstGeom prst="rect">
            <a:avLst/>
          </a:prstGeom>
          <a:solidFill>
            <a:srgbClr val="0B7FAA"/>
          </a:solidFill>
          <a:ln w="12700">
            <a:solidFill>
              <a:srgbClr val="0B7F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1481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7FAA"/>
                </a:solidFill>
              </a:rPr>
              <a:t>ITV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27448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Internal Target Volume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27448" y="23042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B0"/>
                </a:solidFill>
              </a:rPr>
              <a:t>CTV + internal motion (e.g. breathing). ICRU 62.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371600"/>
            <a:ext cx="1993392" cy="22860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371600"/>
            <a:ext cx="1993392" cy="64008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14813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ED5"/>
                </a:solidFill>
              </a:rPr>
              <a:t>PTV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76288" y="1938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2841"/>
                </a:solidFill>
              </a:rPr>
              <a:t>Planning Target Volume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76288" y="23042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B0"/>
                </a:solidFill>
              </a:rPr>
              <a:t>ITV/CTV + set-up uncertainty. A geometric safety margin.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840480"/>
            <a:ext cx="8503920" cy="86868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840480"/>
            <a:ext cx="64008" cy="86868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9136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F9ED5"/>
                </a:solidFill>
              </a:rPr>
              <a:t>THE POINT THAT MATTERS FOR EVALUATION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30352" y="4142232"/>
            <a:ext cx="8229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 prescribe to and evaluate dose on the PTV — but the clinical aim is to cover the CTV. A small PTV-edge underdose may still leave the CTV fully covered.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08 / 37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1 · TARGET COVERAGE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DVH — your primary instrument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The cumulative dose–volume histogram collapses a 3-D dose distribution into one readable curve.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answers one question: what volume gets at least this dose?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up from a dose → a V-metric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across from a volume → a D-metric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target curve = homogeneous full-dose coverage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OAR curve hugging the origin = good sparing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3913632"/>
            <a:ext cx="38404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3913632"/>
            <a:ext cx="54864" cy="77724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96849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97132"/>
                </a:solidFill>
              </a:rPr>
              <a:t>LIMITATION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417880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A DVH has no spatial information. It never tells you WHERE the high or low dose actually sits.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4434840" cy="32004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39903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AB0"/>
                </a:solidFill>
              </a:rPr>
              <a:t>Cumulative DVH — target (blue) and OAR (green)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 rot="16200000">
            <a:off x="4434840" y="1645920"/>
            <a:ext cx="548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Volume (%)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20640" y="427024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Dose (Gy)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3440" y="167335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0"/>
                </a:solidFill>
              </a:rPr>
              <a:t>100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663440" y="408736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AB0"/>
                </a:solidFill>
              </a:rPr>
              <a:t>0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760720" y="2240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9ED5"/>
                </a:solidFill>
              </a:rPr>
              <a:t>TARGET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F9ED5"/>
                </a:solidFill>
              </a:rPr>
              <a:t>curve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12080" y="3520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EA72E"/>
                </a:solidFill>
              </a:rPr>
              <a:t>OAR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4EA72E"/>
                </a:solidFill>
              </a:rPr>
              <a:t>curve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97132"/>
                </a:solidFill>
              </a:rPr>
              <a:t>V-metric: read UP →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836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97132"/>
                </a:solidFill>
              </a:rPr>
              <a:t>D-metric: read ACROSS →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09 / 37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1 · TARGET COVERAGE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metrics — the numbers that matter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41148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54864" cy="214884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9ED5"/>
                </a:solidFill>
              </a:rPr>
              <a:t>D95%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0"/>
                </a:solidFill>
              </a:rPr>
              <a:t>(or V95%)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957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841"/>
                </a:solidFill>
              </a:rPr>
              <a:t>Volume of the PTV receiving ≥95% of the prescribed dose.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Standard aim: D95 ≥ 95% of prescription. Some protocols want ≥98% for the GTV.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27448" y="1325880"/>
            <a:ext cx="41148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325880"/>
            <a:ext cx="54864" cy="214884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417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504D"/>
                </a:solidFill>
              </a:rPr>
              <a:t>D2%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864608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0"/>
                </a:solidFill>
              </a:rPr>
              <a:t>(or V107%)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64608" y="2395728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841"/>
                </a:solidFill>
              </a:rPr>
              <a:t>Near-maximum dose — the hot-spot criterion. Keep the high-dose volume small.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28346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ICRU 83: D2% &lt;107% of prescription dose. Hotspot should ideally sit inside the target.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8503920" cy="105156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611880"/>
            <a:ext cx="64008" cy="105156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6850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F9ED5"/>
                </a:solidFill>
              </a:rPr>
              <a:t>THE MODERN WAY TO STATE COVERAGE — ICRU 83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30352" y="3913632"/>
            <a:ext cx="82296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ICRU 83 prefers dose-at-a-volume (D95%) over volume-at-a-dose (V95%). Both are in daily use; what matters is that you state which volume and which dose level. "V95" is meaningless until you say V95 of the PTV at the 95% isodose.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10 / 37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1 · TARGET COVERAGE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D98 / D2 / D50 — why point doses retired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ICRU 83 replaced Dmin and Dmax with near-min and near-max doses that are clinically equivalent but statistically stable.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2724912" cy="192024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2724912" cy="54864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4356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9ED5"/>
                </a:solidFill>
              </a:rPr>
              <a:t>D98%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48056" y="1901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9AB0"/>
                </a:solidFill>
              </a:rPr>
              <a:t>NEAR-MINIMUM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8056" y="21488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Dose received by 98% of the volume. The robust stand-in for Dmin.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1353312"/>
            <a:ext cx="2724912" cy="192024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353312"/>
            <a:ext cx="2724912" cy="54864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4356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504D"/>
                </a:solidFill>
              </a:rPr>
              <a:t>D2%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55848" y="1901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9AB0"/>
                </a:solidFill>
              </a:rPr>
              <a:t>NEAR-MAXIMUM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55848" y="21488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Dose received by 2% of the volume. The robust stand-in for Dmax.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35624" y="1353312"/>
            <a:ext cx="2724912" cy="192024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1353312"/>
            <a:ext cx="2724912" cy="54864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43560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EA72E"/>
                </a:solidFill>
              </a:rPr>
              <a:t>D50%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63640" y="1901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A9AB0"/>
                </a:solidFill>
              </a:rPr>
              <a:t>MEDIAN DOSE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63640" y="21488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Dose to half the volume — the denominator of the homogeneity index.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401568"/>
            <a:ext cx="8503920" cy="100584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401568"/>
            <a:ext cx="64008" cy="100584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474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97132"/>
                </a:solidFill>
              </a:rPr>
              <a:t>WHY NOT JUST USE Dmin AND Dmax?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0352" y="370332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Dmin and Dmax are single-voxel point doses — statistically noisy, shifting with calculation grid size and contouring jitter. ICRU 83 replaced them with D98% and D2%: near-minimum and near-maximum doses that mean almost the same thing clinically but are stable plan-to-plan. Trust a near-max over a Dmax.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11 / 37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1 · TARGET COVERAGE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Conformity — is the dose the right shape?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Conformity asks: does the prescription isodose wrap the target — or is it spilling into normal tissue?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724912" cy="155448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89888"/>
            <a:ext cx="2724912" cy="64008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A72E"/>
                </a:solidFill>
              </a:rPr>
              <a:t>Good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Isodose closely follows the target outline on most slices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389888"/>
            <a:ext cx="2724912" cy="155448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389888"/>
            <a:ext cx="2724912" cy="6400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5087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</a:rPr>
              <a:t>Marginal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18470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Dose bulges noticeably beyond the target in places; more normal tissue included than needed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35624" y="1389888"/>
            <a:ext cx="2724912" cy="155448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35624" y="1389888"/>
            <a:ext cx="2724912" cy="6400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5087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</a:rPr>
              <a:t>Poor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72784" y="184708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Isodose falls short of the target or misses an edge entirely; target is underdosed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90672"/>
            <a:ext cx="4023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090672"/>
            <a:ext cx="54864" cy="82296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9ED5"/>
                </a:solidFill>
              </a:rPr>
              <a:t>Conformity Index (CI)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4198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CI = PIV / TV  (Prescription Isodose Volume ÷ Target Volume)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Ideal: 1.0–1.2.  Higher values expected and acceptable in 3DCRT.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3090672"/>
            <a:ext cx="42976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26280" y="3090672"/>
            <a:ext cx="54864" cy="82296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154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7132"/>
                </a:solidFill>
              </a:rPr>
              <a:t>3DCRT context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34198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Shaped static beams cannot wrap dose as tightly as VMAT — some bulge is expected and acceptable. Judge against the technique, not an abstract ideal.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12 / 37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1 · TARGET COVERAGE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Homogeneity — is the dose evenly spread?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Homogeneity asks whether dose is uniform across the target — no hot core, no cold shoulders.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6858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" cy="685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HI  =  (D2% − D98%) ÷ D50%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flatter — ICRU 83; ideal near 0, &lt;0.1 good, &lt;0.15 acceptable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spots → normal-tissue toxicity beyond the target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spots → risk of local recurrence within the target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3DCRT tools — wedges, field-in-field (FiF), compensators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2148840"/>
            <a:ext cx="33375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2148840"/>
            <a:ext cx="54864" cy="64008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221284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7132"/>
                </a:solidFill>
              </a:rPr>
              <a:t>Note: SBRT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0" y="2441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2841"/>
                </a:solidFill>
              </a:rPr>
              <a:t>SBRT deliberately runs inhomogeneous — a hot core is intended. HI thresholds apply to conventional fractionation only.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13 / 37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1 · TARGET COVERAGE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good enough?"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Coverage numbers are not pass/fail laws. They are negotiated — against OAR safety, intent and what the technique can deliver.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153619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ED5"/>
                </a:solidFill>
              </a:rPr>
              <a:t>Coverage is negotiable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Where the PTV abuts a serial OAR, you accept a small underdose at the overlap rather than breach a hard tolerance. Safety wins.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27448" y="1371600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371600"/>
            <a:ext cx="54864" cy="153619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04D"/>
                </a:solidFill>
              </a:rPr>
              <a:t>Know where the cold sits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8013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Underdose at the PTV margin may leave the CTV intact. Underdose reaching into the CTV is a different, serious problem.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63240"/>
            <a:ext cx="54864" cy="1536192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54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A72E"/>
                </a:solidFill>
              </a:rPr>
              <a:t>Intent sets the bar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493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Radical treatment demands tighter coverage than palliation. "Good enough" for pain relief is not "good enough" for cure.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27448" y="3063240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3063240"/>
            <a:ext cx="54864" cy="153619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154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7132"/>
                </a:solidFill>
              </a:rPr>
              <a:t>Achievable, not ideal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64608" y="3493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Judge against what 3DCRT can realistically deliver for this anatomy — not against an inverse-planned VMAT distribution.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14 / 37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EA7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A1F33"/>
          </a:solidFill>
          <a:ln w="12700">
            <a:solidFill>
              <a:srgbClr val="0A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73152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85000"/>
                  </a:srgbClr>
                </a:solidFill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4EA72E"/>
                </a:solidFill>
              </a:rPr>
              <a:t>BLOCK TWO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OAR Constraints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651760" y="2103120"/>
            <a:ext cx="5486400" cy="457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2212848"/>
            <a:ext cx="109728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2311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10 MINUTES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51760" y="260604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vs parallel organs — architecture decides the metric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doses, QUANTEC and dose–response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context, modifiers and the PRV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15 / 37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2 · OAR CONSTRAINTS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vs parallel — architecture sets the rule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How an organ is structured decides which metric matters. Getting this wrong is a class of error.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041648" cy="32004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4041648" cy="6400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04D"/>
                </a:solidFill>
              </a:rPr>
              <a:t>SERIAL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841"/>
                </a:solidFill>
              </a:rPr>
              <a:t>One failed sub-unit = organ failure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by:  Dmax or D1cc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Spinal cord · Brainstem · Optic chiasm · Optic nerves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 Even a small dose spike above tolerance causes irreversible damage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PRV:  Apply a margin — evaluate dose to the PRV, not the bare organ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82312" y="1353312"/>
            <a:ext cx="4041648" cy="32004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2312" y="1353312"/>
            <a:ext cx="4041648" cy="64008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A72E"/>
                </a:solidFill>
              </a:rPr>
              <a:t>PARALLEL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19472" y="1755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841"/>
                </a:solidFill>
              </a:rPr>
              <a:t>Redundant sub-units — organ tolerates partial irradiation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19472" y="2029968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by:  Mean dose or Vx Gy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 Lung · Liver · Kidney · Parotid gland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 Widespread low-dose irradiation depletes functional reserve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metric:  Mean dose predicts loss of function; Vx sets threshold for toxicity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16 / 37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2 · OAR CONSTRAINTS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doses — where the limits come from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2491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54864" cy="18288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081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</a:rPr>
              <a:t>Emami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94560" y="1481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B0"/>
                </a:solidFill>
              </a:rPr>
              <a:t>1991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First systematic tolerance table — TD5/5 and TD50/5. Largely expert consensus. Now largely superseded but still referenced.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325880"/>
            <a:ext cx="272491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325880"/>
            <a:ext cx="54864" cy="18288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4081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9ED5"/>
                </a:solidFill>
              </a:rPr>
              <a:t>QUANTEC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02352" y="1481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B0"/>
                </a:solidFill>
              </a:rPr>
              <a:t>2010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64992" y="18105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Evidence-based organ-by-organ dose–volume limits with defined endpoints. The working reference for conventional fractionation.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35624" y="1325880"/>
            <a:ext cx="272491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35624" y="1325880"/>
            <a:ext cx="54864" cy="1828800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140817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</a:rPr>
              <a:t>Protocol sets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010144" y="14813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AB0"/>
                </a:solidFill>
              </a:rPr>
              <a:t>RTOG/NRG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272784" y="181051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Site-specific, trial-vetted constraints. HyTEC for hypofractionation and SBRT. Always plan to the named protocol.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310128"/>
            <a:ext cx="8503920" cy="135331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310128"/>
            <a:ext cx="64008" cy="135331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3832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F9ED5"/>
                </a:solidFill>
              </a:rPr>
              <a:t>THE CAVEAT THAT MATTERS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30352" y="3611880"/>
            <a:ext cx="8229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Most QUANTEC data come from conventionally fractionated 3DCRT (~1.8–2 Gy per fraction). Change the fractionation and you must think in BED / EQD₂ — never read a 2 Gy/fraction number straight onto an SBRT plan.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17 / 37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2 · OAR CONSTRAINTS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metric to the organ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Read the constraint, identify the organ type, then pull the matching number off the DVH. Mismatched metrics are a classic error.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713232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64008" cy="71323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Dmax / near-max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49047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C0504D">
              <a:alpha val="15000"/>
            </a:srgbClr>
          </a:solidFill>
          <a:ln w="12700">
            <a:solidFill>
              <a:srgbClr val="C0504D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4904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C0504D"/>
                </a:solidFill>
              </a:rPr>
              <a:t>SERIAL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502920" y="17647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0"/>
                </a:solidFill>
              </a:rPr>
              <a:t>Serial organs — spinal cord, brainstem, optic chiasm &amp; nerves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8503920" cy="713232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76272"/>
            <a:ext cx="64008" cy="713232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677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Mean dose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295144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4EA72E">
              <a:alpha val="15000"/>
            </a:srgbClr>
          </a:solidFill>
          <a:ln w="12700">
            <a:solidFill>
              <a:srgbClr val="4EA72E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2951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4EA72E"/>
                </a:solidFill>
              </a:rPr>
              <a:t>PARALLEL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02920" y="2569464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0"/>
                </a:solidFill>
              </a:rPr>
              <a:t>Parallel organs — parotid (xerostomia), lung (pneumonitis), liver, kidney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80944"/>
            <a:ext cx="8503920" cy="713232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80944"/>
            <a:ext cx="64008" cy="71323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72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Volume at a dose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3099816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F9ED5">
              <a:alpha val="15000"/>
            </a:srgbClr>
          </a:solidFill>
          <a:ln w="12700">
            <a:solidFill>
              <a:srgbClr val="0F9ED5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0998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9ED5"/>
                </a:solidFill>
              </a:rPr>
              <a:t>PARALLEL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02920" y="3374136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0"/>
                </a:solidFill>
              </a:rPr>
              <a:t>Threshold/mixed organs — lung V20, rectum V70 &amp; V50, heart V25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785616"/>
            <a:ext cx="8503920" cy="713232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785616"/>
            <a:ext cx="64008" cy="71323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7705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Dose to a sub-volume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390448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9044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E97132"/>
                </a:solidFill>
              </a:rPr>
              <a:t>MIXED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502920" y="4178808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0"/>
                </a:solidFill>
              </a:rPr>
              <a:t>Dx cc — near-max to a small absolute volume; robust for serial structures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18 / 37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2 · OAR CONSTRAINTS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not absolutes — context shifts them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53312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53312"/>
            <a:ext cx="54864" cy="150876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44752"/>
            <a:ext cx="320040" cy="320040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0392" y="1481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Re-irradiation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Prior dose has spent part of the tolerance budget. Some organs recover partially over time — but stay conservative.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27448" y="1353312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353312"/>
            <a:ext cx="54864" cy="150876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18888" y="1444752"/>
            <a:ext cx="320040" cy="320040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1481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Concurrent systemic therapy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810512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Chemo lowers tolerance — e.g. cisplatin + cochlea, several agents + lung. The constraint tightens.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17520"/>
            <a:ext cx="54864" cy="150876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108960"/>
            <a:ext cx="320040" cy="320040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" y="31455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Patient factors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Age, smoking, diabetes, connective-tissue disease, prior surgery and baseline organ function all move the line.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27448" y="301752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27448" y="3017520"/>
            <a:ext cx="54864" cy="1508760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18888" y="3108960"/>
            <a:ext cx="320040" cy="320040"/>
          </a:xfrm>
          <a:prstGeom prst="ellipse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57800" y="31455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Treatment intent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34747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Radical treatment justifies accepting more risk than palliation. The acceptable trade-off depends on the goal.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4617720"/>
            <a:ext cx="64008" cy="32004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THE PRV  ·  Planning organ-at-risk volume — a margin grown around a serial OAR for set-up and motion uncertainty. Evaluate dose to the PRV, not the bare organ.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19 / 37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971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0A1F33"/>
          </a:solidFill>
          <a:ln w="12700">
            <a:solidFill>
              <a:srgbClr val="0A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73152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85000"/>
                  </a:srgbClr>
                </a:solidFill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1371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E97132"/>
                </a:solidFill>
              </a:rPr>
              <a:t>BLOCK THREE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651760" y="10972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Quality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651760" y="2103120"/>
            <a:ext cx="5486400" cy="45720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2212848"/>
            <a:ext cx="1097280" cy="256032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22311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10 MINUTES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51760" y="260604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Isocentre, beam angles and field arrangement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weighting, wedges, collimation and MLC shaping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spots, dose gradient and integral dose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20 / 37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3 · TECHNICAL QUALITY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quality — what to evaluate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Here the question shifts: not 'how does it work' but 'is it used well in this plan?'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114800" cy="333756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4114800" cy="32004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ISOCENTRE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Centred in the PTV — balances field sizes, keeps the target away from field edges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lung or at a density interface — dosimetrically unstable positions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angles — converge on the target, avoid transiting through OARs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Wedges / FiF — applied where the contour slopes or hot spots emerge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27448" y="1353312"/>
            <a:ext cx="4114800" cy="333756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353312"/>
            <a:ext cx="4114800" cy="32004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37176" y="1371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COLLIMATION &amp; SHAPING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37176" y="17373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MLC conforms to PTV BEV — with a real penumbra margin, not clipped tight to the PTV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location — 107% inside the PTV is fine; in skin or an OAR it is not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units — sanity-check; excess MU adds scatter and integral dose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— prescription point in stable, representative tissue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21 / 37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3 · TECHNICAL QUALITY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red flags — patterns that signal a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Spot one of these — name it, explain the risk, say how to fix it.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8503920" cy="77724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98448"/>
            <a:ext cx="64008" cy="77724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533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841"/>
                </a:solidFill>
              </a:rPr>
              <a:t>Isocentre in lung, air, or at a tissue interface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Risk:  Dosimetrically unstable — dose calculations unreliable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353312"/>
            <a:ext cx="64008" cy="667512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353312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Fix:  Move isocentre into the target or stable tissue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67128"/>
            <a:ext cx="8503920" cy="77724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167128"/>
            <a:ext cx="64008" cy="77724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21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841"/>
                </a:solidFill>
              </a:rPr>
              <a:t>A beam transiting directly through a critical OAR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49631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Risk:  Unnecessary dose to serial organ — myelopathy, blindness, necrosis risk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2221992"/>
            <a:ext cx="64008" cy="667512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221992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Fix:  Re-angle the beam if any workable alternative solves 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035808"/>
            <a:ext cx="8503920" cy="77724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035808"/>
            <a:ext cx="64008" cy="77724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906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841"/>
                </a:solidFill>
              </a:rPr>
              <a:t>Hot spot outside the PTV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3649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Risk:  High dose in skin, bowel, or OAR is unacceptable regardless of magnitude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3090672"/>
            <a:ext cx="64008" cy="667512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090672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Fix:  Adjust weighting, add a field or FiF sub-segment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904488"/>
            <a:ext cx="8503920" cy="77724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904488"/>
            <a:ext cx="64008" cy="77724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59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841"/>
                </a:solidFill>
              </a:rPr>
              <a:t>MLC clipped tight to the PTV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23367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Risk:  No penumbra margin — cold rim on every beam; guaranteed underdosage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3959352"/>
            <a:ext cx="64008" cy="667512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3959352"/>
            <a:ext cx="39319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Fix:  Open MLC to leave a 3–5 mm penumbra margin beyond the BEV PTV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22 / 37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3 · TECHNICAL QUALITY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the dose — weighting, wedges, modulation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7160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71600"/>
            <a:ext cx="54864" cy="150876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ED5"/>
                </a:solidFill>
              </a:rPr>
              <a:t>Beam weighting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10512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The relative dose contribution of each field. Re-weight to pull the hot spot into the target and balance dose — e.g. AP/PA vs the laterals.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27448" y="1371600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27448" y="1371600"/>
            <a:ext cx="54864" cy="150876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132"/>
                </a:solidFill>
              </a:rPr>
              <a:t>Wedges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810512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Physical or dynamic. Tilt the isodoses to compensate for a sloping surface or missing tissue — the classic use is breast tangents.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035808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35808"/>
            <a:ext cx="54864" cy="1508760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27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A72E"/>
                </a:solidFill>
              </a:rPr>
              <a:t>Field-in-field (FiF)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Forward-planned sub-segments that block emerging hot spots. The modern 3DCRT homogenisation tool — routine in breast.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27448" y="3035808"/>
            <a:ext cx="4114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27448" y="3035808"/>
            <a:ext cx="54864" cy="150876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31272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841"/>
                </a:solidFill>
              </a:rPr>
              <a:t>Compensators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3474720"/>
            <a:ext cx="3794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Physical compensators or bolus to manage missing tissue and surface dose where wedges or segments are not enough.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23 / 37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3 · TECHNICAL QUALITY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Collimation &amp; MLC shaping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The MLC and collimator shape each field to the beam's-eye-view of the target. Conform tightly — but never clip the PTV.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54864" cy="16002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44752"/>
            <a:ext cx="320040" cy="320040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1481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MLC conformance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Shape the field to the BEV of the PTV plus a penumbra margin. Too tight clips the target; too loose wastes normal tissue.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27448" y="1353312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27448" y="1353312"/>
            <a:ext cx="54864" cy="16002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888" y="1444752"/>
            <a:ext cx="320040" cy="320040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57800" y="148132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Collimator rotation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64608" y="18288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Rotate to match the field shape to the PTV, minimise the MLC 'staircase', and manage divergence at field junctions.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08960"/>
            <a:ext cx="54864" cy="1600200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200400"/>
            <a:ext cx="320040" cy="320040"/>
          </a:xfrm>
          <a:prstGeom prst="ellipse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" y="32369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Penumbra margin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5844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The MLC leaf edge is not the dose edge. Leave margin so the PTV sits inside the high-dose region, not in the falloff.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27448" y="3108960"/>
            <a:ext cx="411480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27448" y="3108960"/>
            <a:ext cx="54864" cy="1600200"/>
          </a:xfrm>
          <a:prstGeom prst="rect">
            <a:avLst/>
          </a:prstGeom>
          <a:solidFill>
            <a:srgbClr val="8A9AB0"/>
          </a:solidFill>
          <a:ln w="12700">
            <a:solidFill>
              <a:srgbClr val="8A9A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18888" y="3200400"/>
            <a:ext cx="320040" cy="320040"/>
          </a:xfrm>
          <a:prstGeom prst="ellipse">
            <a:avLst/>
          </a:prstGeom>
          <a:solidFill>
            <a:srgbClr val="8A9AB0"/>
          </a:solidFill>
          <a:ln w="12700">
            <a:solidFill>
              <a:srgbClr val="8A9A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57800" y="32369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Tongue-and-groove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64608" y="358444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Slight underdose along leaf sides. Minimised by sensible collimator-angle choice — know it exists.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24 / 37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3 · TECHNICAL QUALITY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spots, dose gradient &amp; integral dose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Three final technical reads — and the first one is the most-missed.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102412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64008" cy="102412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Hot spot — location, not just size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D2% &lt;107% inside the PTV is fine; in skin or an OAR it is not. Location is the primary concern.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441448"/>
            <a:ext cx="8503920" cy="102412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441448"/>
            <a:ext cx="64008" cy="102412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3288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Dose gradient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85292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Dose should fall steeply between the PTV and any adjacent OAR. A shallow gradient = unnecessary OAR exposure.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3557016"/>
            <a:ext cx="8503920" cy="102412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557016"/>
            <a:ext cx="64008" cy="1024128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48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</a:rPr>
              <a:t>Integral dose / MU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96849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Sanity-check the monitor units. Excess MU adds scatter and integral dose — the whole patient receives more radiation.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4590288"/>
            <a:ext cx="8503920" cy="32004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085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F9ED5"/>
                </a:solidFill>
              </a:rPr>
              <a:t>The same hot spot is acceptable inside the PTV and a problem outside it — always check where, not just what.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25 / 37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BRINGING IT TOGETHER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scorecard, revisited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You now have the concepts. Sort them into the three tiers — that sorting is the clinical skill.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24912" cy="192024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724912" cy="6400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4264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04D"/>
                </a:solidFill>
              </a:rPr>
              <a:t>CRITICAL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8056" y="1737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B0"/>
                </a:solidFill>
              </a:rPr>
              <a:t>Plan fails — re-plan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8056" y="20116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Geographic miss of the target  ·  serial OAR over a hard tolerance  ·  hot spot in a critical organ.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325880"/>
            <a:ext cx="2724912" cy="192024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325880"/>
            <a:ext cx="2724912" cy="6400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4264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7132"/>
                </a:solidFill>
              </a:rPr>
              <a:t>MAJOR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55848" y="1737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B0"/>
                </a:solidFill>
              </a:rPr>
              <a:t>Correct it or justify 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55848" y="20116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Parallel-OAR mean over constraint  ·  coverage V95 90–95%  ·  a beam through an avoidable OAR.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35624" y="1325880"/>
            <a:ext cx="2724912" cy="192024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1325880"/>
            <a:ext cx="2724912" cy="64008"/>
          </a:xfrm>
          <a:prstGeom prst="rect">
            <a:avLst/>
          </a:prstGeom>
          <a:solidFill>
            <a:srgbClr val="8A9AB0"/>
          </a:solidFill>
          <a:ln w="12700">
            <a:solidFill>
              <a:srgbClr val="8A9A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4264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9AB0"/>
                </a:solidFill>
              </a:rPr>
              <a:t>MINOR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63640" y="173736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AB0"/>
                </a:solidFill>
              </a:rPr>
              <a:t>Comment — rarely decisive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0116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Slightly high MU  ·  minor inhomogeneity  ·  a non-ideal but workable isocentre.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364992"/>
            <a:ext cx="8503920" cy="13716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364992"/>
            <a:ext cx="64008" cy="137160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438144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0504D"/>
                </a:solidFill>
              </a:rPr>
              <a:t>REJECT ON SIGHT IF…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3685032"/>
            <a:ext cx="347472" cy="347472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75888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87552" y="370332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Cold dose reaching into the CTV — not just the PTV margin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347472" cy="347472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96849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" y="3995928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 critical serial organ exceeds a hard tolerance — cord, brainstem, chiasm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270248"/>
            <a:ext cx="347472" cy="347472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6110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87552" y="4288536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The plan is unsafe or undeliverable as drawn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26 / 37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PUTTING IT TO WORK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evaluation routine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Same sequence, every plan, every time — then the handful of habits that catch the errors checklists miss.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664208" cy="676656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45720" cy="67665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807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73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841"/>
                </a:solidFill>
              </a:rPr>
              <a:t>Prescription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325880"/>
            <a:ext cx="1664208" cy="676656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325880"/>
            <a:ext cx="45720" cy="67665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3807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40280" y="1673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841"/>
                </a:solidFill>
              </a:rPr>
              <a:t>Contours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77640" y="1325880"/>
            <a:ext cx="1664208" cy="676656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77640" y="1325880"/>
            <a:ext cx="45720" cy="67665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138074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69080" y="1673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841"/>
                </a:solidFill>
              </a:rPr>
              <a:t>Beam arrangement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103120"/>
            <a:ext cx="1664208" cy="676656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103120"/>
            <a:ext cx="45720" cy="67665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15798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2450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841"/>
                </a:solidFill>
              </a:rPr>
              <a:t>Isodose — visual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148840" y="2103120"/>
            <a:ext cx="1664208" cy="676656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48840" y="2103120"/>
            <a:ext cx="45720" cy="67665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215798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40280" y="2450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841"/>
                </a:solidFill>
              </a:rPr>
              <a:t>Coverage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77640" y="2103120"/>
            <a:ext cx="1664208" cy="676656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77640" y="2103120"/>
            <a:ext cx="45720" cy="67665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215798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069080" y="2450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841"/>
                </a:solidFill>
              </a:rPr>
              <a:t>Hot / cold spots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2880360"/>
            <a:ext cx="1664208" cy="676656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2880360"/>
            <a:ext cx="45720" cy="67665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9352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</a:rPr>
              <a:t>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1480" y="3227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841"/>
                </a:solidFill>
              </a:rPr>
              <a:t>DVH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148840" y="2880360"/>
            <a:ext cx="1664208" cy="676656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8840" y="2880360"/>
            <a:ext cx="45720" cy="67665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40280" y="29352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</a:rPr>
              <a:t>8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240280" y="3227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841"/>
                </a:solidFill>
              </a:rPr>
              <a:t>Organs at risk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77640" y="2880360"/>
            <a:ext cx="1664208" cy="676656"/>
          </a:xfrm>
          <a:prstGeom prst="rect">
            <a:avLst/>
          </a:prstGeom>
          <a:solidFill>
            <a:srgbClr val="0E2841"/>
          </a:solidFill>
          <a:ln w="6350">
            <a:solidFill>
              <a:srgbClr val="0E284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77640" y="2880360"/>
            <a:ext cx="45720" cy="676656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69080" y="293522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ED5"/>
                </a:solidFill>
              </a:rPr>
              <a:t>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069080" y="32278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Final clinical decision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0" y="1325880"/>
            <a:ext cx="2880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943600" y="1325880"/>
            <a:ext cx="54864" cy="111556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141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132"/>
                </a:solidFill>
              </a:rPr>
              <a:t>Visual review before the DVH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26480" y="169164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841"/>
                </a:solidFill>
              </a:rPr>
              <a:t>Scroll the isodoses on every plane first — the DVH cannot tell you WHERE.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943600" y="2560320"/>
            <a:ext cx="2880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43600" y="2560320"/>
            <a:ext cx="54864" cy="111556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2651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132"/>
                </a:solidFill>
              </a:rPr>
              <a:t>The DVH confirms, never replaces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126480" y="292608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841"/>
                </a:solidFill>
              </a:rPr>
              <a:t>Use it to verify what the images already showed you — not instead of them.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" y="3749040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20040" y="3749040"/>
            <a:ext cx="54864" cy="71323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3803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132"/>
                </a:solidFill>
              </a:rPr>
              <a:t>Fix problems in the right order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40507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841"/>
                </a:solidFill>
              </a:rPr>
              <a:t>Contours → geometry → normalisation → optimisation → fine-tune. Never start with objectives.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4553712"/>
            <a:ext cx="416052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0040" y="4553712"/>
            <a:ext cx="54864" cy="71323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6085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132"/>
                </a:solidFill>
              </a:rPr>
              <a:t>Robustness, not perfection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02920" y="4855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2841"/>
                </a:solidFill>
              </a:rPr>
              <a:t>Ask what happens if the patient shifts or the bladder fills — a slightly less perfect plan can be safer.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27 / 37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F9ED5"/>
                </a:solidFill>
              </a:rPr>
              <a:t>WRAP-UP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takeaways &amp; references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14800" cy="1188720"/>
          </a:xfrm>
          <a:prstGeom prst="rect">
            <a:avLst/>
          </a:prstGeom>
          <a:solidFill>
            <a:srgbClr val="152E4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118872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good plan is a documented compromise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996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0"/>
                </a:solidFill>
              </a:rPr>
              <a:t>Target covered, OARs within tolerance, technically sound, deliverable — and every trade-off articulated.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27448" y="1097280"/>
            <a:ext cx="4114800" cy="1188720"/>
          </a:xfrm>
          <a:prstGeom prst="rect">
            <a:avLst/>
          </a:prstGeom>
          <a:solidFill>
            <a:srgbClr val="152E4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7448" y="1097280"/>
            <a:ext cx="54864" cy="118872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The DVH screens; the slices diagnose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49961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0"/>
                </a:solidFill>
              </a:rPr>
              <a:t>It has no spatial information. Always confirm where the cold and hot regions actually sit.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423160"/>
            <a:ext cx="4114800" cy="1188720"/>
          </a:xfrm>
          <a:prstGeom prst="rect">
            <a:avLst/>
          </a:prstGeom>
          <a:solidFill>
            <a:srgbClr val="152E4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23160"/>
            <a:ext cx="54864" cy="118872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Match the metric to the organ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2549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0"/>
                </a:solidFill>
              </a:rPr>
              <a:t>Architecture — serial or parallel — decides whether you read Dmax or mean dose.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7448" y="2423160"/>
            <a:ext cx="4114800" cy="1188720"/>
          </a:xfrm>
          <a:prstGeom prst="rect">
            <a:avLst/>
          </a:prstGeom>
          <a:solidFill>
            <a:srgbClr val="152E4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27448" y="2423160"/>
            <a:ext cx="54864" cy="118872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Prioritise — not every deviation is equal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2825496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B0"/>
                </a:solidFill>
              </a:rPr>
              <a:t>Three reject-on-sight failures; everything else is graded, justified discussion.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822192"/>
            <a:ext cx="8503920" cy="1051560"/>
          </a:xfrm>
          <a:prstGeom prst="rect">
            <a:avLst/>
          </a:prstGeom>
          <a:solidFill>
            <a:srgbClr val="152E4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7705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REFERENCES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409651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FCB-CHOPS — Weisman et al., Adv Radiat Oncol, 2024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ICRU Reports 50, 62 &amp; 83  ·  QUANTEC — IJROBP 2010;76(3) Suppl  ·  Emami et al. 1991  ·  HyTEC  ·  Khan, Treatment Planning in Radiation Oncology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28 / 37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YOUR TASK TODAY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score card as you review each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The skill we are training is triage — the score card tool structures your thinking so the case review is richer.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2724912" cy="1719072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2724912" cy="475488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89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CRITICAL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" y="160934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Reject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9202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Unsafe dose or missed target.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Needs re-plan.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27832" y="1353312"/>
            <a:ext cx="2724912" cy="1719072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353312"/>
            <a:ext cx="2724912" cy="47548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389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MARGINAL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60934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Comment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Acceptable but improvable.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Flag and discuss.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35624" y="1353312"/>
            <a:ext cx="2724912" cy="1719072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1353312"/>
            <a:ext cx="2724912" cy="475488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3898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PASS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45352" y="160934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Approve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45352" y="1920240"/>
            <a:ext cx="2423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Meets all criteria.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2841"/>
                </a:solidFill>
              </a:rPr>
              <a:t>Record and move 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00400"/>
            <a:ext cx="4754880" cy="1481328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200400"/>
            <a:ext cx="64008" cy="1481328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7355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F9ED5"/>
                </a:solidFill>
              </a:rPr>
              <a:t>IN THE SCORE CARD TOOL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30352" y="349300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Score each parameter: Pass / Marginal / Fail — and add a free-text note for each finding. Your completed scorecard will anchor the case review discussion that follows.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57800" y="3200400"/>
            <a:ext cx="3566160" cy="1481328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57800" y="3200400"/>
            <a:ext cx="64008" cy="1481328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27355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97132"/>
                </a:solidFill>
              </a:rPr>
              <a:t>BEFORE CASE REVIEW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440680" y="34930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E2841"/>
                </a:solidFill>
              </a:rPr>
              <a:t>"What are your top three concerns with this plan?"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40680" y="39136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AB0"/>
                </a:solidFill>
              </a:rPr>
              <a:t>Name your top three concerns before the ideal answer is shown — this separates critical from minor thinking.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29 / 37</a:t>
            </a:r>
            <a:endParaRPr lang="en-US" sz="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73152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85000"/>
                  </a:srgbClr>
                </a:solidFill>
              </a:rPr>
              <a:t>04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3716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E97132"/>
                </a:solidFill>
              </a:rPr>
              <a:t>BLOCK FOUR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651760" y="9144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Reviews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651760" y="1920240"/>
            <a:ext cx="5486400" cy="45720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2029968"/>
            <a:ext cx="1097280" cy="256032"/>
          </a:xfrm>
          <a:prstGeom prst="rect">
            <a:avLst/>
          </a:prstGeom>
          <a:solidFill>
            <a:srgbClr val="E97132">
              <a:alpha val="80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0482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</a:rPr>
              <a:t>90 MINUTES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2478024"/>
            <a:ext cx="347472" cy="34747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4688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90672" y="2514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Case 1: Breast (3 plans)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2935224"/>
            <a:ext cx="347472" cy="34747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9260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90672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Case 2: Gynae — Trade-off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3392424"/>
            <a:ext cx="347472" cy="34747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33832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90672" y="3429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Case 3: Prostate — Trade-off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2478024"/>
            <a:ext cx="347472" cy="34747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24688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99632" y="25146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Case 4: Neuro — Pituitary (2 plans)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2935224"/>
            <a:ext cx="347472" cy="34747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92608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99632" y="2971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Case 5: H&amp;N — Parotid (2 plans)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30 / 37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4 · CASE REVIEWS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Breast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24912" cy="41148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5331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BAD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No Wedges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2724912" cy="27432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0512"/>
            <a:ext cx="2542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iso placement (too deep into lung &amp; heart)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midline — unnecessary contralateral dose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flash applied — under-coverage of superficial breast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normalisation point placement (in lung)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Unacceptable hotspot (&gt;115%) and location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dose shaping; poor homogeneity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exceeding tolerance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4972" y="1325880"/>
            <a:ext cx="2724912" cy="41148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6412" y="135331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ACCEPTABLE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6412" y="1554480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Wedged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4972" y="1737360"/>
            <a:ext cx="2724912" cy="27432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6412" y="1810512"/>
            <a:ext cx="2542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iso placement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midline — contralateral spared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applied (≥2 cm beyond breast tissue)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normalisation point; good coverage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hotspot (&lt;115%) and location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Wedges applied — improved homogeneity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&amp; lung within tolerance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904" y="1325880"/>
            <a:ext cx="2724912" cy="411480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35331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GOOD PLAN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81344" y="1554480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FiF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089904" y="1737360"/>
            <a:ext cx="2724912" cy="27432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1810512"/>
            <a:ext cx="2542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iso placement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midline — contralateral spared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applied (≥2 cm beyond breast tissue)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normalisation point; good coverage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hotspot (&lt;110%) and location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 — selective reduction of hotspots using subfields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&amp; lung within tolerance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31 / 37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4 · CASE REVIEWS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Gynaecology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8503920" cy="41148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TRADE-OFF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4-Field Box (FiF)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8503920" cy="27432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PTV coverage → ✓ good and maintained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Rectum dose → ↑ exceeds tolerance (e.g. V45 / V30)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dose region extends into posterior pelvis (rectum region)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 distribution driven by anterior–posterior beam contribution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53712" y="1847088"/>
            <a:ext cx="18288" cy="2423160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2880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OARs (bladder, bowel) → ✓ within acceptable limits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rectum dose would compromise target coverage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plan prioritises coverage over rectum sparing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way to improve both without introducing a compromise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4617720"/>
            <a:ext cx="64008" cy="32004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Discussion: Is this a clinically acceptable trade-off? What would you change, and what would you sacrifice?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32 / 37</a:t>
            </a:r>
            <a:endParaRPr lang="en-US" sz="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4 · CASE REVIEWS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Prostate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8503920" cy="41148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TRADE-OFF PLAN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B0"/>
                </a:solidFill>
              </a:rPr>
              <a:t>3-Field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8503920" cy="27432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PTV coverage → ✓ good  (CTV D98 ≈ 99.2%, PTV D98 ≈ 96.6%)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Rectum → ↑ exceeds tolerance (V55 ≈ 37.9%, V59 ≈ 32.9%)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Penile bulb mean ≈ 62.8 Gy → ↑ significantly above tolerance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bowel → ✓ mostly within limits, minor focal exceedance (V52)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53712" y="1847088"/>
            <a:ext cx="18288" cy="2423160"/>
          </a:xfrm>
          <a:prstGeom prst="rect">
            <a:avLst/>
          </a:prstGeom>
          <a:solidFill>
            <a:srgbClr val="DDE3EC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28800"/>
            <a:ext cx="4023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Bladder → ✓ well controlled and within all constraints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Femoral heads → ✓ within tolerance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rectum / penile bulb dose would compromise target coverage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prioritises coverage — requires clinical decision, not simple optimisation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4617720"/>
            <a:ext cx="64008" cy="32004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Discussion: Rectum V55 and penile bulb are both above tolerance. What is the clinical priority? Accept, modify, or escalate?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33 / 37</a:t>
            </a:r>
            <a:endParaRPr lang="en-US" sz="7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4 · CASE REVIEWS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4: Neuro — Pituitary Adenoma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4114800" cy="41148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533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ACCEPTABLE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Coplanar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4114800" cy="27432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0512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PTV min = 41.75 Gy → inferior coverage reduced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 chiasm max = 54.9 Gy → high but acceptable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 nerves ~53 Gy max → reasonable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Brainstem max = 52.5 Gy, mean ~11 Gy → acceptable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region undercoverage (88.7%) → physics-driven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major planning errors — clinically deliverable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achievable with non-coplanar arrangement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4114800" cy="41148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533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GOOD PLAN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15544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Non-Coplanar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80560" y="1737360"/>
            <a:ext cx="4114800" cy="27432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10512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PTV min = ~43.9 Gy → improved inferior coverage (↑~2.1 Gy)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 chiasm max ≈ 54.9 Gy → similar, no meaningful change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 nerves → similar; R nerve mean ↓~2 Gy (slight improvement)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Brainstem max ≈ 52.1 Gy, mean ~9.7 Gy → mean ↓~1.6 Gy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region undercoverage (~88.7%) → unchanged, physics-driven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use of geometry to manage anatomical limitation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achieved without compromising other structures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4617720"/>
            <a:ext cx="64008" cy="32004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Key teaching: optic chiasm at 54.9 Gy — marginal. Explicit clinical justification must be documented.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34 / 37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4 · CASE REVIEWS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4 Teaching Points — Pituitary Adenoma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Why the pituitary fossa makes optic structure dose a central planning challenge.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1536192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04D"/>
                </a:solidFill>
              </a:rPr>
              <a:t>Proximity to optic structures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The pituitary fossa sits immediately below the optic chiasm — PTV and chiasm are often adjacent or overlapping. This makes coverage vs chiasm sparing an intrinsic geometric tension.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27448" y="1371600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371600"/>
            <a:ext cx="54864" cy="153619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7132"/>
                </a:solidFill>
              </a:rPr>
              <a:t>Chiasm tolerance: 54 Gy hard limit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8013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Optic chiasm Dmax &lt;54 Gy (QUANTEC). This plan: 54.9 Gy — marginal. Explicit clinical justification and documentation required. Any breach requires senior discussion.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63240"/>
            <a:ext cx="54864" cy="153619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54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ED5"/>
                </a:solidFill>
              </a:rPr>
              <a:t>Non-coplanar fields — why they help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93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Non-coplanar beams spread dose across more of the skull base, reducing the dose contribution from any one direction and improving inferior PTV coverage without worsening OAR dose.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7448" y="3063240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3063240"/>
            <a:ext cx="54864" cy="1536192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154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A72E"/>
                </a:solidFill>
              </a:rPr>
              <a:t>Air cavity undercoverage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3493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Sphenoid air sinus undercoverage (88.7%) is physics-driven — air has near-zero electron density. This is expected and should be documented, not corrected by over-dosing adjacent structures.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35 / 37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4 · CASE REVIEWS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5: H&amp;N — Parotid Tumour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4114800" cy="411480"/>
          </a:xfrm>
          <a:prstGeom prst="rect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533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ACCEPTABLE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5544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4-Field Plan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737360"/>
            <a:ext cx="4114800" cy="27432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0512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coverage (PTV High) mean ≈ 66.0 Gy → ✓ acceptable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Contralateral parotid (L) mean ≈ 3.30 Gy → ↑ higher dose (less sparing)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cord max ≈ 19.9 Gy → ✓ within tolerance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Brainstem max ≈ 18.2 Gy → ✓ within tolerance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cavity mean ≈ 17.2 Gy → ✓ similar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Submandibular gland (R) mean ≈ 40.4 Gy → ↑ higher dose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major planning errors — clinically deliverable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achievable with 3-field arrangement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0" y="1325880"/>
            <a:ext cx="4114800" cy="41148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5331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GOOD PLAN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155448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3-Field Plan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80560" y="1737360"/>
            <a:ext cx="4114800" cy="2743200"/>
          </a:xfrm>
          <a:prstGeom prst="rect">
            <a:avLst/>
          </a:prstGeom>
          <a:solidFill>
            <a:srgbClr val="F0F3F7"/>
          </a:solidFill>
          <a:ln w="6350">
            <a:solidFill>
              <a:srgbClr val="DD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10512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coverage (PTV High) mean ≈ 66.0 Gy → ✓ maintained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Contralateral parotid (L) mean ≈ 1.14 Gy → ↓ improved (~2.2 Gy reduction)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Spinal cord max ≈ 17.8 Gy → ↓ lower (~2 Gy reduction)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Brainstem max ≈ 16.1 Gy → ↓ lower (~2 Gy reduction)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cavity mean ≈ 17.2 Gy → ✓ similar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Submandibular gland (R) mean ≈ 40.0 Gy → ↓ slight improvement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use of geometry to manage anatomical limitation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 achieved without compromising other structures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617720"/>
            <a:ext cx="8503920" cy="32004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4617720"/>
            <a:ext cx="64008" cy="32004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Key teaching: fewer fields can mean better sparing — reducing beams through the contralateral side dramatically reduces parotid and cord dose.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36 / 37</a:t>
            </a:r>
            <a:endParaRPr lang="en-US" sz="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F9ED5"/>
                </a:solidFill>
              </a:rPr>
              <a:t>BLOCK 4 · CASE REVIEWS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320040" y="38404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5 Teaching Points — Parotid Tumour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AB0"/>
                </a:solidFill>
              </a:rPr>
              <a:t>Why parotid cases are a masterclass in balancing coverage and contralateral xerostomia.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153619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ED5"/>
                </a:solidFill>
              </a:rPr>
              <a:t>Contralateral parotid sparing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The contralateral parotid mean &lt;26 Gy target (QUANTEC) is critical for xerostomia prevention. The 3-field plan achieves 1.14 Gy vs 3.30 Gy — a clinically significant difference in long-term QoL.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27448" y="1371600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7448" y="1371600"/>
            <a:ext cx="54864" cy="153619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463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7132"/>
                </a:solidFill>
              </a:rPr>
              <a:t>Fewer fields can mean better sparing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64608" y="180136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The 4-field plan routes beams through the contralateral side. Removing those fields — if target coverage is maintained — is the single most effective change for xerostomia. Don't default to more fields.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63240"/>
            <a:ext cx="54864" cy="1536192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54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A72E"/>
                </a:solidFill>
              </a:rPr>
              <a:t>Target coverage maintained in both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93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Both plans achieve comparable primary PTV mean dose (~66 Gy). The improvement in the 3-field plan is entirely in OAR sparing — not at the cost of coverage.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27448" y="3063240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27448" y="3063240"/>
            <a:ext cx="54864" cy="1536192"/>
          </a:xfrm>
          <a:prstGeom prst="rect">
            <a:avLst/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1546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A72E"/>
                </a:solidFill>
              </a:rPr>
              <a:t>Spinal cord and brainstem also improve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64608" y="3493008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2841"/>
                </a:solidFill>
              </a:rPr>
              <a:t>The 3-field plan also reduces cord max (19.9 → 17.8 Gy) and brainstem max (18.2 → 16.1 Gy). Serial organ dose reduction is a secondary benefit of the geometry change.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52E48"/>
          </a:solidFill>
          <a:ln w="12700">
            <a:solidFill>
              <a:srgbClr val="152E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9011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8A9AB0"/>
                </a:solidFill>
              </a:rPr>
              <a:t>3DCRT PLAN EVALUATION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72400" y="49011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AB0"/>
                </a:solidFill>
              </a:rPr>
              <a:t>37 / 37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3DCRT Plan Evaluation Workshop</dc:title>
  <dc:subject>PptxGenJS Presentation</dc:subject>
  <dc:creator>Tamerone Manasse</dc:creator>
  <cp:lastModifiedBy>Tamerone Manasse</cp:lastModifiedBy>
  <cp:revision>1</cp:revision>
  <dcterms:created xsi:type="dcterms:W3CDTF">2026-06-01T12:42:24Z</dcterms:created>
  <dcterms:modified xsi:type="dcterms:W3CDTF">2026-06-01T12:42:24Z</dcterms:modified>
</cp:coreProperties>
</file>