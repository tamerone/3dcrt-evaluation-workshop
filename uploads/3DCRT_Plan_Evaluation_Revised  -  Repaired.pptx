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91" r:id="rId3"/>
    <p:sldId id="258" r:id="rId4"/>
    <p:sldId id="259" r:id="rId5"/>
    <p:sldId id="302" r:id="rId6"/>
    <p:sldId id="301" r:id="rId7"/>
    <p:sldId id="264" r:id="rId8"/>
    <p:sldId id="265" r:id="rId9"/>
    <p:sldId id="266" r:id="rId10"/>
    <p:sldId id="267" r:id="rId11"/>
    <p:sldId id="268" r:id="rId12"/>
    <p:sldId id="300" r:id="rId13"/>
    <p:sldId id="270" r:id="rId14"/>
    <p:sldId id="271" r:id="rId15"/>
    <p:sldId id="273" r:id="rId16"/>
    <p:sldId id="274" r:id="rId17"/>
    <p:sldId id="275" r:id="rId18"/>
    <p:sldId id="277" r:id="rId19"/>
    <p:sldId id="278" r:id="rId20"/>
    <p:sldId id="280" r:id="rId21"/>
    <p:sldId id="281" r:id="rId22"/>
    <p:sldId id="282" r:id="rId23"/>
    <p:sldId id="283" r:id="rId24"/>
    <p:sldId id="284" r:id="rId25"/>
    <p:sldId id="285" r:id="rId26"/>
    <p:sldId id="287" r:id="rId27"/>
    <p:sldId id="288" r:id="rId28"/>
    <p:sldId id="289" r:id="rId29"/>
    <p:sldId id="298" r:id="rId30"/>
    <p:sldId id="292" r:id="rId31"/>
    <p:sldId id="294" r:id="rId32"/>
    <p:sldId id="293" r:id="rId33"/>
    <p:sldId id="304" r:id="rId34"/>
    <p:sldId id="296" r:id="rId35"/>
    <p:sldId id="303"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1A7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9"/>
    <p:restoredTop sz="64674"/>
  </p:normalViewPr>
  <p:slideViewPr>
    <p:cSldViewPr snapToGrid="0" snapToObjects="1">
      <p:cViewPr varScale="1">
        <p:scale>
          <a:sx n="91" d="100"/>
          <a:sy n="91" d="100"/>
        </p:scale>
        <p:origin x="213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2989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OPEN THE SESSION HERE. Frame the next 30 minutes.</a:t>
            </a:r>
          </a:p>
          <a:p>
            <a:endParaRPr dirty="0"/>
          </a:p>
          <a:p>
            <a:r>
              <a:rPr dirty="0"/>
              <a:t>Say something like: "Over the coming sessions you'll score real 3DCRT plans across five anatomical sites. Before we pick up a scorecard, we need a shared language for what 'good' actually means. That's what this theory module gives you."</a:t>
            </a:r>
          </a:p>
          <a:p>
            <a:endParaRPr dirty="0"/>
          </a:p>
          <a:p>
            <a:r>
              <a:rPr dirty="0"/>
              <a:t>Make the central point early: plan evaluation is not about </a:t>
            </a:r>
            <a:r>
              <a:rPr dirty="0" err="1"/>
              <a:t>memorising</a:t>
            </a:r>
            <a:r>
              <a:rPr dirty="0"/>
              <a:t> numbers. It's a structured, repeatable way of looking at a plan so you reach the same judgement every time — and can defend it. The numbers (V95, QUANTEC constraints, CI) are tools that serve that judgement.</a:t>
            </a:r>
          </a:p>
          <a:p>
            <a:endParaRPr dirty="0"/>
          </a:p>
          <a:p>
            <a:r>
              <a:rPr dirty="0"/>
              <a:t>Housekeeping to mention: the module is 30 minutes, three 10-minute blocks — target coverage, organ-at-risk constraints, and technical quality. As we go, each registrar is building their own evaluation scorecard; we compare it against an 'ideal' scorecard at the end of each block.</a:t>
            </a:r>
          </a:p>
          <a:p>
            <a:endParaRPr dirty="0"/>
          </a:p>
          <a:p>
            <a:r>
              <a:rPr dirty="0"/>
              <a:t>Tone: this is foundational and exam-relevant — FRCR / fellowship plan-evaluation </a:t>
            </a:r>
            <a:r>
              <a:rPr dirty="0" err="1"/>
              <a:t>vivas</a:t>
            </a:r>
            <a:r>
              <a:rPr dirty="0"/>
              <a:t> lean heavily on exactly this material — but it is also day-one practical. Encourage questions throughout rather than saving them.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WALK THE MAP so registrars always know where they are. The module is about 47 minutes across 34 slides, in five segments.</a:t>
            </a:r>
          </a:p>
          <a:p>
            <a:endParaRPr dirty="0"/>
          </a:p>
          <a:p>
            <a:r>
              <a:rPr dirty="0"/>
              <a:t>First — framing and FCB-CHOPS, roughly twelve minutes: the central question, the four-category quality spectrum, the Plan A / Plan B scenario hook, then the FCB-CHOPS checklist and the scorecard task. This segment sets up everything that follows.</a:t>
            </a:r>
          </a:p>
          <a:p>
            <a:endParaRPr dirty="0"/>
          </a:p>
          <a:p>
            <a:r>
              <a:rPr dirty="0"/>
              <a:t>Then the three teaching blocks, ten minutes each — Target Coverage, OAR Constraints, Technical Quality — each posing a single question. These go deep on the dosimetry behind the checklist.</a:t>
            </a:r>
          </a:p>
          <a:p>
            <a:endParaRPr dirty="0"/>
          </a:p>
          <a:p>
            <a:r>
              <a:rPr dirty="0"/>
              <a:t>Finally, about five minutes to consolidate: the scorecard tiers, the repeatable evaluation routine, and the close.</a:t>
            </a:r>
          </a:p>
          <a:p>
            <a:endParaRPr dirty="0"/>
          </a:p>
          <a:p>
            <a:r>
              <a:rPr dirty="0"/>
              <a:t>The six objectives on the left are what you hold them to — read them out; the verbs matter ("apply", "read numbers off", not "know about"). Make the two structures explicit: FCB-CHOPS is the checklist they will use at the workstation; the three blocks are where we build the judgement behind it. The scorecard is built continuously, block by block — the common gap is over-weighting hot spots and under-weighting OAR mean doses.</a:t>
            </a:r>
          </a:p>
          <a:p>
            <a:endParaRPr dirty="0"/>
          </a:p>
          <a:p>
            <a:r>
              <a:rPr dirty="0"/>
              <a:t>Timing discipline: if discussion runs long, compress the worked-example slides, not the concepts. The separate facilitator timing sheet has the segment-by-segment plan and a 30-minute compressed option.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IS THE SPINE OF THE WHOLE COURSE. Spend a minute here.</a:t>
            </a:r>
          </a:p>
          <a:p>
            <a:endParaRPr dirty="0"/>
          </a:p>
          <a:p>
            <a:r>
              <a:rPr dirty="0"/>
              <a:t>The four questions map onto the three blocks plus one more. Coverage = question 1. OAR constraints = question 2. Technical quality = question 3. Question 4 — deliverability and robustness — runs underneath all of them.</a:t>
            </a:r>
          </a:p>
          <a:p>
            <a:endParaRPr dirty="0"/>
          </a:p>
          <a:p>
            <a:r>
              <a:rPr dirty="0"/>
              <a:t>Teach them to ask the questions IN ORDER. Coverage first: a beautifully OAR-sparing plan that misses the </a:t>
            </a:r>
            <a:r>
              <a:rPr dirty="0" err="1"/>
              <a:t>tumour</a:t>
            </a:r>
            <a:r>
              <a:rPr dirty="0"/>
              <a:t> is not a good plan, it is a dangerous one. Only once the target is covered do you ask what it cost the normal tissue. Then you ask whether the plan is technically well constructed. Then — could this actually be delivered, and does it hold up if the patient is 5 mm off or their bladder fills differently tomorrow.</a:t>
            </a:r>
          </a:p>
          <a:p>
            <a:endParaRPr dirty="0"/>
          </a:p>
          <a:p>
            <a:r>
              <a:rPr dirty="0"/>
              <a:t>Hammer the word COMPROMISE. There is almost never a perfect plan. Coverage and sparing pull against each other; that tension is the whole job. A good plan is the best defensible balance, and 'defensible' means you can articulate every compromise you accepted and why.</a:t>
            </a:r>
          </a:p>
          <a:p>
            <a:endParaRPr dirty="0"/>
          </a:p>
          <a:p>
            <a:r>
              <a:rPr dirty="0"/>
              <a:t>Ask the room: "Question 4 — why isn't a plan that looks perfect on screen automatically good?" Draw out answers: 700 MU of modulation the linac handles poorly; a plan that only works if the patient never moves; breath-hold the patient cannot sustain. Robustness is part of quality, not an afterthought.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RESETS WHAT EVALUATION IS FOR. Registrars expect plans to be simply pass or fail. Reality is four categories.</a:t>
            </a:r>
          </a:p>
          <a:p>
            <a:endParaRPr dirty="0"/>
          </a:p>
          <a:p>
            <a:r>
              <a:rPr dirty="0"/>
              <a:t>Clearly bad plans are uncommon and easy — unsafe, a geographic miss, an OAR grossly over tolerance: reject. Genuinely good plans are also clear. The entire skill being trained lives in the MIDDLE TWO categories, and registrars must learn to tell them apart.</a:t>
            </a:r>
          </a:p>
          <a:p>
            <a:endParaRPr dirty="0"/>
          </a:p>
          <a:p>
            <a:r>
              <a:rPr dirty="0"/>
              <a:t>An "acceptable but not optimal" plan meets every constraint on paper — yet a better plan is clearly achievable, and accepting the mediocre one is a quiet failure. A "trade-off" plan is different: competing priorities genuinely pull against each other — tighten coverage and you cost an OAR, spare the OAR and coverage softens — and there is no free improvement, only a judgement call. Confusing the two is the classic registrar error: treating a fixable, lazy plan as an unavoidable trade-off, or </a:t>
            </a:r>
            <a:r>
              <a:rPr dirty="0" err="1"/>
              <a:t>agonising</a:t>
            </a:r>
            <a:r>
              <a:rPr dirty="0"/>
              <a:t> over a true trade-off as if there were a perfect answer.</a:t>
            </a:r>
          </a:p>
          <a:p>
            <a:endParaRPr dirty="0"/>
          </a:p>
          <a:p>
            <a:r>
              <a:rPr dirty="0"/>
              <a:t>THE GUT-CHECK question is the emotional anchor of the whole module — say it slowly. "Would I confidently treat my own family member with this plan?" It cuts straight through the false reassurance of a tidy-looking DVH. And make the follow-up explicit: if the answer is not a clear yes, the task is not vague unease — it is to name precisely what would have to change. That specificity is what separates a clinician from a checklist.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INTRODUCE FCB-CHOPS as the structured checklist that guarantees nothing is missed. It is a published, </a:t>
            </a:r>
            <a:r>
              <a:rPr dirty="0" err="1"/>
              <a:t>recognised</a:t>
            </a:r>
            <a:r>
              <a:rPr dirty="0"/>
              <a:t> acronym (Weisman et al., Advances in Radiation Oncology, 2024) — worth knowing by name.</a:t>
            </a:r>
          </a:p>
          <a:p>
            <a:endParaRPr dirty="0"/>
          </a:p>
          <a:p>
            <a:r>
              <a:rPr dirty="0"/>
              <a:t>Walk the eight steps. Fusion / imaging — is the image registration correct, so target and OARs sit where you think. Contours — are the target and OAR outlines complete and anatomically right; a plan can only ever be as good as its contours. Beam arrangement — is the geometry sensible. Coverage — is the target actually getting the dose. Heterogeneity / hotspots — is the internal dose variation acceptable, no dangerous hot or cold regions. Organs at risk — are the OAR constraints respected. Prescription — is the dose, fractionation and technique correct. Summation — has dose from previous or concurrent courses been accounted for.</a:t>
            </a:r>
          </a:p>
          <a:p>
            <a:endParaRPr dirty="0"/>
          </a:p>
          <a:p>
            <a:r>
              <a:rPr dirty="0"/>
              <a:t>The </a:t>
            </a:r>
            <a:r>
              <a:rPr dirty="0" err="1"/>
              <a:t>colour</a:t>
            </a:r>
            <a:r>
              <a:rPr dirty="0"/>
              <a:t> coding deliberately previews the rest of the module. The orange steps — Fusion, Contours, Beams — are the geometric inputs and technique, which Block 3 covers. The cyan steps — Coverage and Heterogeneity — are Block 1. The green step — Organs at risk — is Block 2. The two dark steps — Prescription and Summation — run across everything and are never "one block".</a:t>
            </a:r>
          </a:p>
          <a:p>
            <a:endParaRPr dirty="0"/>
          </a:p>
          <a:p>
            <a:r>
              <a:rPr dirty="0"/>
              <a:t>Frame the relationship clearly: FCB-CHOPS is the WHAT-TO-CHECK. The three teaching blocks are the HOW-TO-JUDGE what you find. A registrar needs both — a checklist with no judgement misses subtle problems; judgement with no checklist misses whole categories.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145B7-0DD9-BABC-0487-1CE2A509AB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A03EB-95CB-E8EB-9838-B3FAD5D89AC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BD080B9-B750-19AB-479C-BE9966F40163}"/>
              </a:ext>
            </a:extLst>
          </p:cNvPr>
          <p:cNvSpPr>
            <a:spLocks noGrp="1"/>
          </p:cNvSpPr>
          <p:nvPr>
            <p:ph type="body" sz="quarter" idx="3"/>
          </p:nvPr>
        </p:nvSpPr>
        <p:spPr/>
        <p:txBody>
          <a:bodyPr/>
          <a:lstStyle/>
          <a:p>
            <a:r>
              <a:rPr dirty="0"/>
              <a:t>INTRODUCE FCB-CHOPS as the structured checklist that guarantees nothing is missed. It is a published, </a:t>
            </a:r>
            <a:r>
              <a:rPr dirty="0" err="1"/>
              <a:t>recognised</a:t>
            </a:r>
            <a:r>
              <a:rPr dirty="0"/>
              <a:t> acronym (Weisman et al., Advances in Radiation Oncology, 2024) — worth knowing by name.</a:t>
            </a:r>
          </a:p>
          <a:p>
            <a:endParaRPr dirty="0"/>
          </a:p>
          <a:p>
            <a:r>
              <a:rPr dirty="0"/>
              <a:t>Walk the eight steps. Fusion / imaging — is the image registration correct, so target and OARs sit where you think. Contours — are the target and OAR outlines complete and anatomically right; a plan can only ever be as good as its contours. Beam arrangement — is the geometry sensible. Coverage — is the target actually getting the dose. Heterogeneity / hotspots — is the internal dose variation acceptable, no dangerous hot or cold regions. Organs at risk — are the OAR constraints respected. Prescription — is the dose, fractionation and technique correct. Summation — has dose from previous or concurrent courses been accounted for.</a:t>
            </a:r>
          </a:p>
          <a:p>
            <a:endParaRPr dirty="0"/>
          </a:p>
          <a:p>
            <a:r>
              <a:rPr dirty="0"/>
              <a:t>The </a:t>
            </a:r>
            <a:r>
              <a:rPr dirty="0" err="1"/>
              <a:t>colour</a:t>
            </a:r>
            <a:r>
              <a:rPr dirty="0"/>
              <a:t> coding deliberately previews the rest of the module. The orange steps — Fusion, Contours, Beams — are the geometric inputs and technique, which Block 3 covers. The cyan steps — Coverage and Heterogeneity — are Block 1. The green step — Organs at risk — is Block 2. The two dark steps — Prescription and Summation — run across everything and are never "one block".</a:t>
            </a:r>
          </a:p>
          <a:p>
            <a:endParaRPr dirty="0"/>
          </a:p>
          <a:p>
            <a:r>
              <a:rPr dirty="0"/>
              <a:t>Frame the relationship clearly: FCB-CHOPS is the WHAT-TO-CHECK. The three teaching blocks are the HOW-TO-JUDGE what you find. A registrar needs both — a checklist with no judgement misses subtle problems; judgement with no checklist misses whole categories.</a:t>
            </a:r>
          </a:p>
        </p:txBody>
      </p:sp>
      <p:sp>
        <p:nvSpPr>
          <p:cNvPr id="4" name="Slide Number Placeholder 3">
            <a:extLst>
              <a:ext uri="{FF2B5EF4-FFF2-40B4-BE49-F238E27FC236}">
                <a16:creationId xmlns:a16="http://schemas.microsoft.com/office/drawing/2014/main" id="{40DE4574-3979-2E28-3888-8C1FDEE6FF06}"/>
              </a:ext>
            </a:extLst>
          </p:cNvPr>
          <p:cNvSpPr>
            <a:spLocks noGrp="1"/>
          </p:cNvSpPr>
          <p:nvPr>
            <p:ph type="sldNum" sz="quarter" idx="5"/>
          </p:nvPr>
        </p:nvSpPr>
        <p:spPr/>
      </p:sp>
    </p:spTree>
    <p:extLst>
      <p:ext uri="{BB962C8B-B14F-4D97-AF65-F5344CB8AC3E}">
        <p14:creationId xmlns:p14="http://schemas.microsoft.com/office/powerpoint/2010/main" val="3108924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BLOCK 1 — TARGET COVERAGE. Ten minutes.</a:t>
            </a:r>
          </a:p>
          <a:p>
            <a:endParaRPr dirty="0"/>
          </a:p>
          <a:p>
            <a:r>
              <a:rPr dirty="0"/>
              <a:t>Transition line: "We start with question one, because it comes first clinically — does the plan actually treat the disease."</a:t>
            </a:r>
          </a:p>
          <a:p>
            <a:endParaRPr dirty="0"/>
          </a:p>
          <a:p>
            <a:r>
              <a:rPr dirty="0"/>
              <a:t>Preview what is coming: the DVH as the core tool, the handful of coverage numbers worth knowing, the two indices — conformity and homogeneity — and then the judgement question that everything builds to: what is good enough? Coverage is where registrars are usually most comfortable, so move briskly; you want time banked for blocks 2 and 3.</a:t>
            </a:r>
          </a:p>
          <a:p>
            <a:endParaRPr dirty="0"/>
          </a:p>
          <a:p>
            <a:r>
              <a:rPr dirty="0"/>
              <a:t>One framing thought to plant now: coverage is the question with the clearest 'right answer' on paper — yet it is also the one where rigid number-chasing does the most harm, because pushing coverage always costs normal tissue somewhere. Hold that tension; we resolve it on the 'good enough' slide.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QUICK FOR A MIXED ROOM — most will know this, but the evaluation point at the bottom is the one people get wrong, so do not skip it.</a:t>
            </a:r>
          </a:p>
          <a:p>
            <a:endParaRPr dirty="0"/>
          </a:p>
          <a:p>
            <a:r>
              <a:rPr dirty="0"/>
              <a:t>Run the hierarchy: GTV is gross, demonstrable disease — see it, feel it, image it. No demonstrable </a:t>
            </a:r>
            <a:r>
              <a:rPr dirty="0" err="1"/>
              <a:t>tumour</a:t>
            </a:r>
            <a:r>
              <a:rPr dirty="0"/>
              <a:t> (e.g. post-operative) means no GTV. CTV adds the margin for microscopic spread you cannot see but know is there — a clinical, biological judgement. ITV adds internal motion, the classic example being respiratory motion of a lung CTV (ICRU 62). PTV adds set-up uncertainty — patient positioning, machine tolerance — and is a purely geometric construct.</a:t>
            </a:r>
          </a:p>
          <a:p>
            <a:endParaRPr dirty="0"/>
          </a:p>
          <a:p>
            <a:r>
              <a:rPr dirty="0"/>
              <a:t>THE EVALUATION POINT, bottom of the slide: we prescribe to the PTV and we evaluate coverage on the PTV — but the PTV is not a thing in the patient. It is a margin. The clinical aim is the CTV. Why this matters: when you see a PTV V95 of, say, 93%, the underdose is usually at the PTV periphery — which is the uncertainty margin. The CTV may well still be fully covered. So a PTV coverage 'fail' is a prompt to look WHERE the cold region sits, not an automatic re-plan.</a:t>
            </a:r>
          </a:p>
          <a:p>
            <a:endParaRPr dirty="0"/>
          </a:p>
          <a:p>
            <a:r>
              <a:rPr dirty="0"/>
              <a:t>The flip side: a cold spot that reaches into the CTV — into tissue that genuinely </a:t>
            </a:r>
            <a:r>
              <a:rPr dirty="0" err="1"/>
              <a:t>harbours</a:t>
            </a:r>
            <a:r>
              <a:rPr dirty="0"/>
              <a:t> </a:t>
            </a:r>
            <a:r>
              <a:rPr dirty="0" err="1"/>
              <a:t>tumour</a:t>
            </a:r>
            <a:r>
              <a:rPr dirty="0"/>
              <a:t> — is far more serious than the same volume of cold at the PTV edge. The DVH gives you the number; the isodoses on the slices tell you which volume the cold actually lives in. That distinction recurs all module.</a:t>
            </a:r>
          </a:p>
          <a:p>
            <a:endParaRPr dirty="0"/>
          </a:p>
          <a:p>
            <a:r>
              <a:rPr dirty="0"/>
              <a:t>Mention PRV in passing — the OAR equivalent of the PTV — we develop it properly in Block 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DVH IS THE SINGLE MOST IMPORTANT TOOL IN THE MODULE. Make sure everyone can genuinely read one — not just nod along.</a:t>
            </a:r>
          </a:p>
          <a:p>
            <a:endParaRPr dirty="0"/>
          </a:p>
          <a:p>
            <a:r>
              <a:rPr dirty="0"/>
              <a:t>What it is: a cumulative dose-volume histogram takes the entire 3-D dose distribution inside a structure and collapses it to one curve. The x-axis is dose; the y-axis is the percentage (or absolute volume) of the structure. "every point on the curve answers, what volume of this structure receives AT LEAST this dose."</a:t>
            </a:r>
          </a:p>
          <a:p>
            <a:endParaRPr dirty="0"/>
          </a:p>
          <a:p>
            <a:r>
              <a:rPr dirty="0"/>
              <a:t>Read UP from a dose on the x-axis to the curve — that gives a V-metric (a volume at a dose), e.g. V95. Read ACROSS from a volume on the y-axis — that gives a D-metric (a dose at a volume), e.g. D98. Walk the projected diagram: trace the orange V95 construction, then the red D98 construction.</a:t>
            </a:r>
          </a:p>
          <a:p>
            <a:endParaRPr dirty="0"/>
          </a:p>
          <a:p>
            <a:r>
              <a:rPr dirty="0"/>
              <a:t>Curve SHAPES carry meaning before you read a single number. A target curve should sit flat near 100% and then drop almost vertically — flat-then-cliff means the whole target gets close to full dose, i.e. homogeneous coverage. An OAR curve should fall away towards the origin — pulled down and to the left means most of the organ sees little dose. A registrar should be able to glance at a DVH and form an impression in two seconds, then confirm with numbers.</a:t>
            </a:r>
          </a:p>
          <a:p>
            <a:endParaRPr dirty="0"/>
          </a:p>
          <a:p>
            <a:r>
              <a:rPr dirty="0"/>
              <a:t>THE LIMITATION is critical and registrars forget it constantly: the DVH has thrown away all spatial information. It tells you THAT 6% of the PTV is cold; it cannot tell you WHERE. Two plans with identical DVHs can be clinically miles apart — cold dispersed harmlessly at the PTV edge versus cold as one solid block through the </a:t>
            </a:r>
            <a:r>
              <a:rPr dirty="0" err="1"/>
              <a:t>tumour</a:t>
            </a:r>
            <a:r>
              <a:rPr dirty="0"/>
              <a:t> bed. Always, always cross-check the isodose lines on the axial slices. The DVH screens; the slices diagnose.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COVERAGE VOCABULARY. Keep it tight — there are really only a few numbers worth </a:t>
            </a:r>
            <a:r>
              <a:rPr dirty="0" err="1"/>
              <a:t>memorising</a:t>
            </a:r>
            <a:r>
              <a:rPr dirty="0"/>
              <a:t>.</a:t>
            </a:r>
          </a:p>
          <a:p>
            <a:endParaRPr dirty="0"/>
          </a:p>
          <a:p>
            <a:r>
              <a:rPr dirty="0"/>
              <a:t>V95 — the volume of the PTV receiving at least 95% of the prescribed dose. This is the workhorse coverage number. The conventional aim is V95 of the PTV at or above 95%. The '95% of prescription' threshold exists because we accept the dose will not be perfectly uniform; 95% is a pragmatic floor for 'effectively treated'. Some protocols are stricter on the gross disease — V98 or even V100 of the GTV.</a:t>
            </a:r>
          </a:p>
          <a:p>
            <a:endParaRPr dirty="0"/>
          </a:p>
          <a:p>
            <a:r>
              <a:rPr dirty="0"/>
              <a:t>V107 — the volume receiving 107% or more; the hot-spot or high-dose volume. ICRU 83's logic: a near-maximum dose (D2%) above about 107% is a meaningful hot spot. We want the high-dose volume small, and — this is the part registrars miss — we care WHERE it sits. A hot spot inside the PTV is usually fine; the same hot spot in skin or an OAR is not. We return to this in Block 3.</a:t>
            </a:r>
          </a:p>
          <a:p>
            <a:endParaRPr dirty="0"/>
          </a:p>
          <a:p>
            <a:r>
              <a:rPr dirty="0"/>
              <a:t>THE MODERN FRAMING, bottom panel: ICRU 83 actually prefers you quote D-at-volume rather than V-at-dose — D95%, the dose that covers 95% of the PTV, D98% as near-minimum, D2% as near-maximum. The reason is statistical robustness, which is the next slide. In practice you will see both V-metrics and D-metrics on plans, and both are fine.</a:t>
            </a:r>
          </a:p>
          <a:p>
            <a:endParaRPr dirty="0"/>
          </a:p>
          <a:p>
            <a:r>
              <a:rPr dirty="0"/>
              <a:t>The discipline to drill: a coverage number is meaningless without its structure and its dose level. "V95 is 96%" tells me nothing. "V95 of the PTV, at the 95% isodose, is 96%" is a statement I can evaluate. Make them say the full phrase until it is automatic — vague coverage statements are a classic viva failure.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SHORT, HIGH-VALUE SLIDE — it explains a 'why' that registrars rarely have articulated, and it is good viva fodder.</a:t>
            </a:r>
          </a:p>
          <a:p>
            <a:endParaRPr dirty="0"/>
          </a:p>
          <a:p>
            <a:r>
              <a:rPr dirty="0"/>
              <a:t>The three D-statistics: D98% is the dose received by 98% of the volume — effectively the minimum, hence 'near-minimum'. D2% is the dose received by 2% of the volume — effectively the maximum, hence 'near-maximum'. D50% is the dose to half the volume — the median — and it is the denominator of the homogeneity index </a:t>
            </a:r>
            <a:r>
              <a:rPr lang="en-US" dirty="0"/>
              <a:t>which we will discuss later.</a:t>
            </a:r>
            <a:endParaRPr dirty="0"/>
          </a:p>
          <a:p>
            <a:endParaRPr dirty="0"/>
          </a:p>
          <a:p>
            <a:r>
              <a:rPr dirty="0"/>
              <a:t>Why did ICRU 83 move away from plain </a:t>
            </a:r>
            <a:r>
              <a:rPr dirty="0" err="1"/>
              <a:t>Dmin</a:t>
            </a:r>
            <a:r>
              <a:rPr dirty="0"/>
              <a:t> and </a:t>
            </a:r>
            <a:r>
              <a:rPr dirty="0" err="1"/>
              <a:t>Dmax</a:t>
            </a:r>
            <a:r>
              <a:rPr dirty="0"/>
              <a:t>? Because a true minimum or maximum is a single-voxel point dose. One voxel. That value is statistically fragile: change the dose calculation grid from 3 mm to 2 mm and it moves; change CT resolution and it moves; a one-voxel contouring wobble and it moves. So </a:t>
            </a:r>
            <a:r>
              <a:rPr dirty="0" err="1"/>
              <a:t>Dmax</a:t>
            </a:r>
            <a:r>
              <a:rPr dirty="0"/>
              <a:t> is not reproducible — your </a:t>
            </a:r>
            <a:r>
              <a:rPr dirty="0" err="1"/>
              <a:t>Dmax</a:t>
            </a:r>
            <a:r>
              <a:rPr dirty="0"/>
              <a:t> and mine on the same plan can differ.</a:t>
            </a:r>
          </a:p>
          <a:p>
            <a:endParaRPr dirty="0"/>
          </a:p>
          <a:p>
            <a:r>
              <a:rPr dirty="0"/>
              <a:t>D98 and D2 average over a small but real slab of tissue — 2% of the volume — so they are stable. They carry essentially the same clinical meaning (is anywhere getting too little? too much?) without the noise. </a:t>
            </a:r>
            <a:endParaRPr lang="en-US" dirty="0"/>
          </a:p>
          <a:p>
            <a:endParaRPr lang="en-ZA" dirty="0"/>
          </a:p>
          <a:p>
            <a:r>
              <a:rPr lang="en-ZA" dirty="0"/>
              <a:t>We need to ask ourselves is the hotspot clinically significant or is it just a single voxel that can change with the grid size?</a:t>
            </a:r>
            <a:endParaRPr lang="en-US" dirty="0"/>
          </a:p>
          <a:p>
            <a:endParaRPr dirty="0"/>
          </a:p>
          <a:p>
            <a:r>
              <a:rPr dirty="0"/>
              <a:t>Practical aside: this is also why you should not panic at a </a:t>
            </a:r>
            <a:r>
              <a:rPr dirty="0" err="1"/>
              <a:t>Dmax</a:t>
            </a:r>
            <a:r>
              <a:rPr dirty="0"/>
              <a:t> of, say, 109% sitting on one voxel. Look at D2%. If D2% is 104%, the '109%' is a single hot voxel and largely an artefact. The near-max tells you whether there is a real, clinically meaningful hot region.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buNone/>
            </a:pPr>
            <a:r>
              <a:rPr lang="en-US" sz="1200" b="1" dirty="0"/>
              <a:t>CONFORMITY — the core question: does the dose wrap the target, or is it spilling?</a:t>
            </a:r>
          </a:p>
          <a:p>
            <a:pPr>
              <a:buNone/>
            </a:pPr>
            <a:endParaRPr lang="en-US" sz="1200" b="1" dirty="0"/>
          </a:p>
          <a:p>
            <a:pPr>
              <a:buNone/>
            </a:pPr>
            <a:r>
              <a:rPr lang="en-US" sz="1200" dirty="0"/>
              <a:t>The question you want registrars asking at the screen is simple: look at the prescription isodose on each slice — does it hug the target, or does it wander away from it? That visual judgement is the skill. The number is just a shorthand for what the eye can already see.</a:t>
            </a:r>
          </a:p>
          <a:p>
            <a:pPr>
              <a:buNone/>
            </a:pPr>
            <a:endParaRPr lang="en-US" sz="1200" dirty="0"/>
          </a:p>
          <a:p>
            <a:pPr>
              <a:buNone/>
            </a:pPr>
            <a:r>
              <a:rPr lang="en-US" sz="1200" b="1" dirty="0"/>
              <a:t>What a good plan looks like:</a:t>
            </a:r>
            <a:r>
              <a:rPr lang="en-US" sz="1200" dirty="0"/>
              <a:t>  The prescription isodose closely follows the target outline. There may be a small margin of normal tissue included — that is expected — but there are no large bulges out toward a nearby OAR and the target is fully enclosed on every slice.</a:t>
            </a:r>
          </a:p>
          <a:p>
            <a:pPr>
              <a:buNone/>
            </a:pPr>
            <a:endParaRPr lang="en-US" sz="1200" dirty="0"/>
          </a:p>
          <a:p>
            <a:pPr>
              <a:buNone/>
            </a:pPr>
            <a:r>
              <a:rPr lang="en-US" sz="1200" b="1" dirty="0"/>
              <a:t>What a bad plan looks like:</a:t>
            </a:r>
            <a:r>
              <a:rPr lang="en-US" sz="1200" dirty="0"/>
              <a:t>  Either the dose cloud is clearly bigger than the target — irradiating a lot of tissue that doesn't need it — or there are slices where the isodose falls short of the target edge, meaning part of the tumour is getting less than prescription dose. Either is a problem worth flagging.</a:t>
            </a:r>
          </a:p>
          <a:p>
            <a:pPr>
              <a:buNone/>
            </a:pPr>
            <a:endParaRPr lang="en-US" sz="1200" dirty="0"/>
          </a:p>
          <a:p>
            <a:pPr>
              <a:buNone/>
            </a:pPr>
            <a:r>
              <a:rPr lang="en-US" sz="1200" b="1" dirty="0"/>
              <a:t>The trade-off conversation:</a:t>
            </a:r>
            <a:r>
              <a:rPr lang="en-US" sz="1200" dirty="0"/>
              <a:t>  Sometimes you cannot get a tight wrap without pushing dose into a critical structure. That is a legitimate trade-off, not a failure — but the planner and clinician need to have made that decision consciously. A registrar spotting the bulge and asking "was that a deliberate choice?" is exactly the right question.</a:t>
            </a:r>
          </a:p>
          <a:p>
            <a:pPr>
              <a:buNone/>
            </a:pPr>
            <a:endParaRPr lang="en-US" sz="1200" dirty="0"/>
          </a:p>
          <a:p>
            <a:pPr>
              <a:buNone/>
            </a:pPr>
            <a:r>
              <a:rPr lang="en-US" sz="1200" b="1" dirty="0"/>
              <a:t>3DCRT context — reassure them:</a:t>
            </a:r>
            <a:r>
              <a:rPr lang="en-US" sz="1200" dirty="0"/>
              <a:t>  Shaped static beams cannot conform as tightly as VMAT. Some overshoot is inherent to the technique. So a 3DCRT plan will always look slightly looser than an equivalent IMRT or VMAT plan — that is not a fault, it is physics. Judge what you see against what 3DCRT can realistically achieve, not against an IMRT benchmark.</a:t>
            </a:r>
          </a:p>
          <a:p>
            <a:pPr>
              <a:buNone/>
            </a:pPr>
            <a:endParaRPr lang="en-US" sz="1200" dirty="0"/>
          </a:p>
          <a:p>
            <a:pPr>
              <a:buNone/>
            </a:pPr>
            <a:r>
              <a:rPr lang="en-US" sz="1200" b="1" dirty="0"/>
              <a:t>How to fix a conformity problem:</a:t>
            </a:r>
            <a:r>
              <a:rPr lang="en-US" sz="1200" dirty="0"/>
              <a:t>  Tighten field apertures or MLCs to reduce the bulge. Check beam angles — a poorly chosen angle may force the field to include more normal tissue to cover the target. If a specific direction is the problem, consider adding or rotating a beam. These are the conversations to drive in case review.</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HOMOGENEITY — not the shape of the dose but its UNIFORMITY across the target.</a:t>
            </a:r>
          </a:p>
          <a:p>
            <a:endParaRPr dirty="0"/>
          </a:p>
          <a:p>
            <a:r>
              <a:rPr dirty="0"/>
              <a:t>The ICRU 83 homogeneity index: D2% minus D98%, divided by D50%. In words — the spread between the near-maximum and the near-minimum, </a:t>
            </a:r>
            <a:r>
              <a:rPr dirty="0" err="1"/>
              <a:t>normalised</a:t>
            </a:r>
            <a:r>
              <a:rPr dirty="0"/>
              <a:t> to the median. A perfectly uniform target dose would give D2 = D98 and an HI of 0. So lower is flatter is better; an HI under about 0.1 is good. Be aware other definitions float around — </a:t>
            </a:r>
            <a:r>
              <a:rPr dirty="0" err="1"/>
              <a:t>Dmax</a:t>
            </a:r>
            <a:r>
              <a:rPr dirty="0"/>
              <a:t> over prescription, D5 over D95 — so when someone quotes an HI, check which formula. The ICRU 83 version is the one to teach.</a:t>
            </a:r>
          </a:p>
          <a:p>
            <a:endParaRPr dirty="0"/>
          </a:p>
          <a:p>
            <a:r>
              <a:rPr dirty="0"/>
              <a:t>Why uniformity matters clinically, both directions. A hot spot — a region well above prescription — drives normal-tissue toxicity, especially if it lands in or near an OAR. A cold spot — a region below prescription inside the target — is a potential site of local recurrence; that is </a:t>
            </a:r>
            <a:r>
              <a:rPr dirty="0" err="1"/>
              <a:t>tumour</a:t>
            </a:r>
            <a:r>
              <a:rPr dirty="0"/>
              <a:t> being underdosed. An inhomogeneous plan is therefore failing at both ends at once. Point at the diagram: the green profile is flat across the PTV; the red one has a hot core above 107% and cold shoulders dipping under 95% — the same plan is simultaneously too hot and too cold.</a:t>
            </a:r>
          </a:p>
          <a:p>
            <a:endParaRPr dirty="0"/>
          </a:p>
          <a:p>
            <a:r>
              <a:rPr dirty="0"/>
              <a:t>How you fix homogeneity in 3DCRT specifically — and this previews Block 3 — wedges to compensate for sloping patient surface, field-in-field segments to push down hot spots, physical or electronic compensators. These are your 3DCRT modulation tools; we cover them properly later.</a:t>
            </a:r>
          </a:p>
          <a:p>
            <a:endParaRPr dirty="0"/>
          </a:p>
          <a:p>
            <a:r>
              <a:rPr dirty="0"/>
              <a:t>THE EXCEPTION, bottom panel — do not let them over-</a:t>
            </a:r>
            <a:r>
              <a:rPr dirty="0" err="1"/>
              <a:t>generalise</a:t>
            </a:r>
            <a:r>
              <a:rPr dirty="0"/>
              <a:t>. SBRT deliberately runs inhomogeneous. Stereotactic plans often prescribe to a low isodose, the 70 or 80%, leaving a hot core of 120%+ inside the GTV on purpose, exploiting a steep dose fall-off. So 'homogeneous is good' is a conventionally fractionated 3DCRT rule, not a universal law. Always evaluate homogeneity against the intent of the technique.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JUDGEMENT SLIDE OF BLOCK 1 — and the antidote to mechanical number-chasing. Slow down here.</a:t>
            </a:r>
          </a:p>
          <a:p>
            <a:endParaRPr dirty="0"/>
          </a:p>
          <a:p>
            <a:r>
              <a:rPr dirty="0"/>
              <a:t>Registrars arrive wanting a rule: V95 ≥ 95% or fail. Real plan evaluation does not work like that. Coverage targets are negotiated, against four things on this slide.</a:t>
            </a:r>
          </a:p>
          <a:p>
            <a:endParaRPr dirty="0"/>
          </a:p>
          <a:p>
            <a:r>
              <a:rPr dirty="0"/>
              <a:t>Coverage is negotiable against safety. The commonest scenario: the PTV abuts a serial organ at risk — spinal cord, optic chiasm, brainstem. You cannot give the overlap full dose without breaching a hard tolerance. The correct plan deliberately underdoses the sliver of PTV that overlaps the cord. That is not a defective plan; it is a correct clinical decision, and it must be documented. Safety wins over the last few percent of coverage.</a:t>
            </a:r>
          </a:p>
          <a:p>
            <a:endParaRPr dirty="0"/>
          </a:p>
          <a:p>
            <a:r>
              <a:rPr dirty="0"/>
              <a:t>Know where the cold sits — this is slide 6 again, and it is worth repeating because it is so often wrong. A V95 of 93% with the cold dispersed at the PTV periphery may leave the CTV fully covered, because the PTV periphery is the uncertainty margin. The same 93% with the cold as one block reaching into the CTV is a geographic miss. Identical number; different plans. The DVH flags it; the slices tell you which it is.</a:t>
            </a:r>
          </a:p>
          <a:p>
            <a:endParaRPr dirty="0"/>
          </a:p>
          <a:p>
            <a:r>
              <a:rPr dirty="0"/>
              <a:t>Intent sets the bar. A radical, curative plan demands tight coverage — you are trying to </a:t>
            </a:r>
            <a:r>
              <a:rPr dirty="0" err="1"/>
              <a:t>sterilise</a:t>
            </a:r>
            <a:r>
              <a:rPr dirty="0"/>
              <a:t> every </a:t>
            </a:r>
            <a:r>
              <a:rPr dirty="0" err="1"/>
              <a:t>clonogen</a:t>
            </a:r>
            <a:r>
              <a:rPr dirty="0"/>
              <a:t>. A palliative plan for bone pain has a completely different bar; getting adequate dose to the painful site quickly and safely is the goal, and chasing a homogeneity index there wastes everyone's time. Match your standard to the clinical intent.</a:t>
            </a:r>
          </a:p>
          <a:p>
            <a:endParaRPr dirty="0"/>
          </a:p>
          <a:p>
            <a:r>
              <a:rPr dirty="0"/>
              <a:t>Achievable, not ideal. Evaluate the plan against what 3DCRT can realistically achieve for THIS anatomy. A few shaped beams will never match an inverse-planned VMAT distribution around a concave target — and they are not meant to. The question is never 'is this the best conceivable distribution' but 'is this the best defensible plan for this patient with this technique'.</a:t>
            </a:r>
          </a:p>
          <a:p>
            <a:endParaRPr dirty="0"/>
          </a:p>
          <a:p>
            <a:r>
              <a:rPr dirty="0"/>
              <a:t>Close the block: good enough is a clinical judgement, supported by numbers — never replaced by them.</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BLOCK 2 — ORGAN-AT-RISK CONSTRAINTS. Ten minutes.</a:t>
            </a:r>
          </a:p>
          <a:p>
            <a:endParaRPr dirty="0"/>
          </a:p>
          <a:p>
            <a:r>
              <a:rPr dirty="0"/>
              <a:t>Transition: "Block 1 asked whether the plan treats the disease. Block 2 asks what that treatment costs the normal tissue — and, just as importantly, how we KNOW."</a:t>
            </a:r>
          </a:p>
          <a:p>
            <a:endParaRPr dirty="0"/>
          </a:p>
          <a:p>
            <a:r>
              <a:rPr dirty="0"/>
              <a:t>Preview the logic chain, because this block is more conceptual than Block 1 and registrars do better if they see the structure first: organ ARCHITECTURE (serial vs parallel) tells you which DVH metric to read; the EVIDENCE (Emami, then QUANTEC) tells you the threshold for that metric; the DOSE-RESPONSE curve tells you how forgiving or unforgiving that threshold is; and clinical CONTEXT — re-irradiation, chemotherapy, comorbidity — modifies all of it.</a:t>
            </a:r>
          </a:p>
          <a:p>
            <a:endParaRPr dirty="0"/>
          </a:p>
          <a:p>
            <a:r>
              <a:rPr dirty="0"/>
              <a:t>Set the expectation: the goal is not to </a:t>
            </a:r>
            <a:r>
              <a:rPr dirty="0" err="1"/>
              <a:t>memorise</a:t>
            </a:r>
            <a:r>
              <a:rPr dirty="0"/>
              <a:t> a table of numbers. It is to understand WHY a constraint takes the form it does, so that when you meet an unfamiliar organ or an unusual clinical situation you can reason rather than recall. That reasoning is what the block is really teaching.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CONCEPTUAL KEYSTONE OF BLOCK 2. If they leave with one idea from this block, make it this one.</a:t>
            </a:r>
          </a:p>
          <a:p>
            <a:endParaRPr dirty="0"/>
          </a:p>
          <a:p>
            <a:r>
              <a:rPr dirty="0"/>
              <a:t>The functional-subunit model. Picture an organ as built from many small functional subunits, and ask how they are wired together.</a:t>
            </a:r>
          </a:p>
          <a:p>
            <a:endParaRPr dirty="0"/>
          </a:p>
          <a:p>
            <a:r>
              <a:rPr dirty="0"/>
              <a:t>SERIAL organs — subunits in series, like links in a chain or lights in old-style series fairy lights. Function has to pass through every link. Destroy ONE critical subunit and everything downstream fails — the whole chain is broken. The clinical archetype is the spinal cord: a tiny volume taken above tolerance can cause myelopathy, and it does not matter that the rest of the cord had a beautiful low dose. Other serial structures: brainstem, optic nerves and chiasm, bowel, </a:t>
            </a:r>
            <a:r>
              <a:rPr dirty="0" err="1"/>
              <a:t>oesophagus</a:t>
            </a:r>
            <a:r>
              <a:rPr dirty="0"/>
              <a:t>. Because the single worst point is what matters, the governing metric is the MAXIMUM dose — </a:t>
            </a:r>
            <a:r>
              <a:rPr dirty="0" err="1"/>
              <a:t>Dmax</a:t>
            </a:r>
            <a:r>
              <a:rPr dirty="0"/>
              <a:t>, or a near-max to a small absolute volume like D0.03cc or D1cc. Serial organ thinking is 'hard ceiling' thinking.</a:t>
            </a:r>
          </a:p>
          <a:p>
            <a:endParaRPr dirty="0"/>
          </a:p>
          <a:p>
            <a:r>
              <a:rPr dirty="0"/>
              <a:t>PARALLEL organs — subunits independent and redundant, wired side by side. Lose some and the organ keeps working, because the survivors carry the load; the organ only fails when you have destroyed enough of it to fall below a functional reserve. The archetype is lung: ablate a small region and the patient is fine; irradiate a large fraction and you get pneumonitis. Also liver, kidney, parotid. Here the single worst point is almost irrelevant — what matters is HOW MUCH of the organ was hit. So the governing metric is the MEAN dose, or a volume metric — Vx, the volume above a threshold dose. Parallel organ thinking is 'how much' thinking.</a:t>
            </a:r>
          </a:p>
          <a:p>
            <a:endParaRPr dirty="0"/>
          </a:p>
          <a:p>
            <a:r>
              <a:rPr dirty="0"/>
              <a:t>The punchline, and write it on the board: ARCHITECTURE DECIDES THE METRIC. Before you read any number off an OAR's DVH, ask — is this organ serial or parallel? That tells you whether to look at the </a:t>
            </a:r>
            <a:r>
              <a:rPr dirty="0" err="1"/>
              <a:t>Dmax</a:t>
            </a:r>
            <a:r>
              <a:rPr dirty="0"/>
              <a:t> or the mean. Quoting a mean dose for the spinal cord, or a </a:t>
            </a:r>
            <a:r>
              <a:rPr dirty="0" err="1"/>
              <a:t>Dmax</a:t>
            </a:r>
            <a:r>
              <a:rPr dirty="0"/>
              <a:t> for the lung, shows you have not understood the organ.</a:t>
            </a:r>
          </a:p>
          <a:p>
            <a:endParaRPr dirty="0"/>
          </a:p>
          <a:p>
            <a:r>
              <a:rPr dirty="0"/>
              <a:t>One honest caveat: many organs are intermediate. Rectum behaves partly serially, partly in parallel, which is why it carries a whole series of Vx constraints rather than a single number. Heart is similar. Real organs sit on a spectrum — but serial-versus-parallel is the mental model that makes every constraint table make sense.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WHERE THE NUMBERS COME FROM. Registrars quote QUANTEC constantly; few know what it actually is or what it rests on. Fix that.</a:t>
            </a:r>
          </a:p>
          <a:p>
            <a:endParaRPr dirty="0"/>
          </a:p>
          <a:p>
            <a:r>
              <a:rPr dirty="0"/>
              <a:t>Emami, 1991. The first attempt to put normal-tissue tolerance into one systematic table. It introduced the language we still use: TD5/5 — the dose expected to give a 5% complication rate at 5 years — and TD50/5, the dose for a 50% rate at 5 years, tabulated for one-third, two-thirds and whole-organ irradiation. Crucial honest point: Emami was, by necessity, largely expert consensus — the dose-volume data of the modern era simply did not exist in 1991. It was a landmark, and it was a best guess.</a:t>
            </a:r>
          </a:p>
          <a:p>
            <a:endParaRPr dirty="0"/>
          </a:p>
          <a:p>
            <a:r>
              <a:rPr dirty="0"/>
              <a:t>QUANTEC, 2010 — Quantitative Analysis of Normal Tissue Effects in the Clinic, published as a supplement to the Red Journal. This is the step change: organ-by-organ reviews of the actual 3D dose-volume outcome data, each giving constraints tied to a DEFINED endpoint — not just 'lung tolerance' but 'mean lung dose and the risk of symptomatic pneumonitis'. QUANTEC is the everyday working reference and is heavily examined; know a handful of its headline numbers — cord, lung, parotid, rectum.</a:t>
            </a:r>
          </a:p>
          <a:p>
            <a:endParaRPr dirty="0"/>
          </a:p>
          <a:p>
            <a:r>
              <a:rPr dirty="0"/>
              <a:t>Now — protocol-specific constraint sets. RTOG/NRG trial protocols and national protocols each carry their own vetted constraint lists, and </a:t>
            </a:r>
            <a:r>
              <a:rPr dirty="0" err="1"/>
              <a:t>HyTEC</a:t>
            </a:r>
            <a:r>
              <a:rPr dirty="0"/>
              <a:t> does for hypofractionation and SBRT what QUANTEC did for conventional treatment. The practical rule: if a patient is being treated on a named protocol, you evaluate against THAT protocol's constraints, not a generic table.</a:t>
            </a:r>
          </a:p>
          <a:p>
            <a:endParaRPr dirty="0"/>
          </a:p>
          <a:p>
            <a:r>
              <a:rPr dirty="0"/>
              <a:t>THE CAVEAT, bottom panel — this is the one that catches people out. Almost all QUANTEC data come from conventionally fractionated 3DCRT, around 1.8 to 2 Gy per fraction, and the constraints silently assume that schedule. You cannot take a 2 Gy/fraction tolerance number and read it straight onto an SBRT plan delivering 18 Gy in a single fraction — the biology is completely different. The moment fractionation changes, or you are re-irradiating, you have to convert into biologically effective dose or EQD2 to compare like with like. Flag BED/EQD2 as essential background; a dedicated radiobiology session covers the arithmetic.</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PRACTICAL PAYOFF of the serial-versus-parallel slide — turning architecture into the right number to read.</a:t>
            </a:r>
          </a:p>
          <a:p>
            <a:endParaRPr dirty="0"/>
          </a:p>
          <a:p>
            <a:r>
              <a:rPr dirty="0"/>
              <a:t>The workflow, every time: read the constraint as written, identify what TYPE of organ it is, then pull the matching metric off the DVH. Four metric families.</a:t>
            </a:r>
          </a:p>
          <a:p>
            <a:endParaRPr dirty="0"/>
          </a:p>
          <a:p>
            <a:r>
              <a:rPr dirty="0" err="1"/>
              <a:t>Dmax</a:t>
            </a:r>
            <a:r>
              <a:rPr dirty="0"/>
              <a:t> and near-max — D0.03cc, D1cc. For SERIAL organs: spinal cord, brainstem, optic chiasm and nerves. You care about the single worst point, so you read the maximum, or a near-max to a tiny absolute volume. The near-max forms are preferred for the same statistical-stability reason as D2% in Block 1 — a true point </a:t>
            </a:r>
            <a:r>
              <a:rPr dirty="0" err="1"/>
              <a:t>Dmax</a:t>
            </a:r>
            <a:r>
              <a:rPr dirty="0"/>
              <a:t> is one voxel and noisy; D1cc is robust.</a:t>
            </a:r>
          </a:p>
          <a:p>
            <a:endParaRPr dirty="0"/>
          </a:p>
          <a:p>
            <a:r>
              <a:rPr dirty="0"/>
              <a:t>Mean dose. For PARALLEL organs: parotid, where mean dose predicts xerostomia; lung, where mean lung dose predicts pneumonitis; liver; kidney. The mean captures 'how much of the organ was hit', which is exactly what the volume effect makes clinically relevant.</a:t>
            </a:r>
          </a:p>
          <a:p>
            <a:endParaRPr dirty="0"/>
          </a:p>
          <a:p>
            <a:r>
              <a:rPr dirty="0"/>
              <a:t>Volume at a dose — Vx Gy, the volume receiving at least x Gy. For threshold-type and mixed organs: lung V20, rectum V70 and V50, heart V25, small bowel V45. These constraints exist because the complication tracks a specific part of the dose-volume curve — for instance lung pneumonitis tracks both V20 and mean dose, and rectal bleeding tracks the high-dose volume specifically.</a:t>
            </a:r>
          </a:p>
          <a:p>
            <a:endParaRPr dirty="0"/>
          </a:p>
          <a:p>
            <a:r>
              <a:rPr dirty="0"/>
              <a:t>Dose to a sub-volume — Dx cc, the dose to a given absolute volume. Effectively a near-max expressed the other way round, robust for serial structures.</a:t>
            </a:r>
          </a:p>
          <a:p>
            <a:endParaRPr dirty="0"/>
          </a:p>
          <a:p>
            <a:r>
              <a:rPr dirty="0"/>
              <a:t>THE ERROR TO DRILL OUT, top line: do not mismatch the metric to the organ. Quoting a mean dose for the spinal cord is meaningless — a low mean can hide a lethal hot spot. Quoting a </a:t>
            </a:r>
            <a:r>
              <a:rPr dirty="0" err="1"/>
              <a:t>Dmax</a:t>
            </a:r>
            <a:r>
              <a:rPr dirty="0"/>
              <a:t> for the whole lung is meaningless — one hot voxel says nothing about pneumonitis risk. When you read a constraint, the FORM of the metric is telling you how the organ fails. Respect it. Note also absolute versus relative volume — Vx may be a percentage or in cc, and small bowel is the classic one specified in cc; always check the units.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CONTEXT. A constraint table gives a number; the patient in front of you tells you whether that number is right for them. Four modifiers.</a:t>
            </a:r>
          </a:p>
          <a:p>
            <a:endParaRPr dirty="0"/>
          </a:p>
          <a:p>
            <a:r>
              <a:rPr dirty="0"/>
              <a:t>Re-irradiation. If a volume has been irradiated before, part of its tolerance budget is already spent — you cannot start from a clean slate. It is more nuanced than simple subtraction: some organs, the spinal cord being the best-studied, show partial recovery of tolerance over months to years, so the interval matters. But the working principle is conservatism — re-irradiation tolerance is uncertain, the downside is catastrophic, and you reason in BED/EQD2 with the prior course explicitly accounted for.</a:t>
            </a:r>
          </a:p>
          <a:p>
            <a:endParaRPr dirty="0"/>
          </a:p>
          <a:p>
            <a:r>
              <a:rPr dirty="0"/>
              <a:t>Concurrent systemic therapy. Giving chemotherapy at the same time as radiotherapy generally LOWERS normal-tissue tolerance. Concrete examples to give: cisplatin sharply increases cochlear sensitivity, so the cochlea constraint tightens when cisplatin is in the protocol; several agents worsen radiation pneumonitis, tightening the lung constraints. So 'the constraint' depends on what else the patient is receiving.</a:t>
            </a:r>
          </a:p>
          <a:p>
            <a:endParaRPr dirty="0"/>
          </a:p>
          <a:p>
            <a:r>
              <a:rPr dirty="0"/>
              <a:t>Patient factors. Age, smoking, diabetes, connective-tissue disease, previous surgery in the field, and crucially the baseline function of the organ all shift the line. A constraint protecting renal function means something different in a patient with one functioning kidney. A lung constraint means something different in severe COPD. Constraints are population averages; the patient is an individual.</a:t>
            </a:r>
          </a:p>
          <a:p>
            <a:endParaRPr dirty="0"/>
          </a:p>
          <a:p>
            <a:r>
              <a:rPr dirty="0"/>
              <a:t>Treatment intent. The risk you may reasonably accept depends on the goal. For radical, curative treatment you will accept a higher complication probability because the prize is cure. For palliation the entire calculus changes — you will not accept meaningful late-toxicity risk to relieve symptoms that could be managed another way. Same organ, same dose, different acceptability.</a:t>
            </a:r>
          </a:p>
          <a:p>
            <a:endParaRPr dirty="0"/>
          </a:p>
          <a:p>
            <a:r>
              <a:rPr dirty="0"/>
              <a:t>THE PRV, bottom panel. The planning organ-at-risk volume — ICRU's serial-organ analogue of the PTV. Just as the CTV gets a margin to become the PTV, a critical serial OAR gets a margin to become the PRV, accounting for set-up and motion uncertainty. Why it matters for evaluation: if the patient is a few </a:t>
            </a:r>
            <a:r>
              <a:rPr dirty="0" err="1"/>
              <a:t>millimetres</a:t>
            </a:r>
            <a:r>
              <a:rPr dirty="0"/>
              <a:t> off, you do not want a 'hot' region that was sitting safely beside the cord to land ON the cord. So for critical serial structures you check the dose to the PRV, not just the drawn organ — you are asking 'is this still safe if the geometry is slightly wrong tomorrow'. Same robustness instinct as question 4 on the central-question slide.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BLOCK 3 — TECHNICAL QUALITY. Ten minutes.</a:t>
            </a:r>
          </a:p>
          <a:p>
            <a:endParaRPr dirty="0"/>
          </a:p>
          <a:p>
            <a:r>
              <a:rPr dirty="0"/>
              <a:t>Transition: "Blocks 1 and 2 judged the plan by its outcomes — the dose to the target and the dose to the organs. Block 3 looks under the bonnet at HOW the plan was built."</a:t>
            </a:r>
          </a:p>
          <a:p>
            <a:endParaRPr dirty="0"/>
          </a:p>
          <a:p>
            <a:r>
              <a:rPr dirty="0"/>
              <a:t>Frame why this block matters even though the DVH already 'passed'. A plan can hit every coverage and OAR number and still be technically poor — fragile, inelegant, or built in a way that will not survive contact with reality. Technique is also where you most clearly see whether a plan was thoughtfully constructed by a planner or simply churned out. And — pull it forward to the Block 2 example — many coverage and OAR failures are technical problems wearing a DVH disguise; learn to see the cause, not just the symptom.</a:t>
            </a:r>
          </a:p>
          <a:p>
            <a:endParaRPr dirty="0"/>
          </a:p>
          <a:p>
            <a:r>
              <a:rPr dirty="0"/>
              <a:t>Preview: </a:t>
            </a:r>
            <a:r>
              <a:rPr dirty="0" err="1"/>
              <a:t>isocentre</a:t>
            </a:r>
            <a:r>
              <a:rPr dirty="0"/>
              <a:t> placement, then beam angles and field arrangement, then the modulation tools — weighting, wedges, collimation, MLC shaping — then hot spots, dose gradient and integral dose. This is the most 3DCRT-specific block; the concepts are concrete and visual, so lean on the diagrams.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ISOCENTRE PLACEMENT — the foundation the rest of the geometry is built on.</a:t>
            </a:r>
          </a:p>
          <a:p>
            <a:endParaRPr dirty="0"/>
          </a:p>
          <a:p>
            <a:r>
              <a:rPr dirty="0"/>
              <a:t>Definition first, because registrars use the word loosely. The </a:t>
            </a:r>
            <a:r>
              <a:rPr dirty="0" err="1"/>
              <a:t>isocentre</a:t>
            </a:r>
            <a:r>
              <a:rPr dirty="0"/>
              <a:t> is the single fixed point in space where the rotational axes of the linac — gantry, collimator and couch — all intersect. It is the geometric origin for the whole plan: beam angles, field sizes and the set-up are all defined relative to it. Get it wrong and everything downstream inherits the error.</a:t>
            </a:r>
          </a:p>
          <a:p>
            <a:endParaRPr dirty="0"/>
          </a:p>
          <a:p>
            <a:r>
              <a:rPr dirty="0"/>
              <a:t>GOOD placement, left panel. Central within the PTV: this balances the field sizes from opposing beams and, more importantly, keeps the target away from the field edges. A field is only flat and full-dose across its central region; its edge is penumbra — a rapid dose fall-off. A central </a:t>
            </a:r>
            <a:r>
              <a:rPr dirty="0" err="1"/>
              <a:t>isocentre</a:t>
            </a:r>
            <a:r>
              <a:rPr dirty="0"/>
              <a:t> keeps the whole PTV sitting in the flat, reliable part of every beam. Single </a:t>
            </a:r>
            <a:r>
              <a:rPr dirty="0" err="1"/>
              <a:t>isocentre</a:t>
            </a:r>
            <a:r>
              <a:rPr dirty="0"/>
              <a:t> wherever the geometry allows — multi-</a:t>
            </a:r>
            <a:r>
              <a:rPr dirty="0" err="1"/>
              <a:t>isocentre</a:t>
            </a:r>
            <a:r>
              <a:rPr dirty="0"/>
              <a:t> plans add matching problems and verification complexity. And it must be a reproducible, imageable reference point that the set-up and verification imaging can actually find.</a:t>
            </a:r>
          </a:p>
          <a:p>
            <a:endParaRPr dirty="0"/>
          </a:p>
          <a:p>
            <a:r>
              <a:rPr dirty="0"/>
              <a:t>PITFALLS, right panel. Do not place the </a:t>
            </a:r>
            <a:r>
              <a:rPr dirty="0" err="1"/>
              <a:t>isocentre</a:t>
            </a:r>
            <a:r>
              <a:rPr dirty="0"/>
              <a:t> at a tissue interface — a density boundary such as soft-tissue-to-bone or soft-tissue-to-air — because dose calculation is least certain there and a small set-up shift produces a disproportionate </a:t>
            </a:r>
            <a:r>
              <a:rPr dirty="0" err="1"/>
              <a:t>dosimetric</a:t>
            </a:r>
            <a:r>
              <a:rPr dirty="0"/>
              <a:t> change. Worse still is an </a:t>
            </a:r>
            <a:r>
              <a:rPr dirty="0" err="1"/>
              <a:t>isocentre</a:t>
            </a:r>
            <a:r>
              <a:rPr dirty="0"/>
              <a:t> in genuinely low-density tissue such as lung: dosimetrically unstable, and a small positional error moves dose a long way. Avoid placing it off to one side, which forces uneven field sizes and asymmetric penumbra. And avoid a point that is hard to image — if you cannot verify the </a:t>
            </a:r>
            <a:r>
              <a:rPr dirty="0" err="1"/>
              <a:t>isocentre</a:t>
            </a:r>
            <a:r>
              <a:rPr dirty="0"/>
              <a:t> on set-up, you cannot trust the delivery.</a:t>
            </a:r>
          </a:p>
          <a:p>
            <a:endParaRPr dirty="0"/>
          </a:p>
          <a:p>
            <a:r>
              <a:rPr dirty="0"/>
              <a:t>The evaluation takeaway: when you open a plan, one of the first things to check is simply — where is the </a:t>
            </a:r>
            <a:r>
              <a:rPr dirty="0" err="1"/>
              <a:t>isocentre</a:t>
            </a:r>
            <a:r>
              <a:rPr dirty="0"/>
              <a:t>, and is it sensibly central in the PTV and in stable tissue. It is a thirty-second check that tells you a lot about how carefully the plan was built.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FIELD ARRANGEMENT — in 3DCRT this is the planner's primary lever, so spend real time here.</a:t>
            </a:r>
          </a:p>
          <a:p>
            <a:endParaRPr dirty="0"/>
          </a:p>
          <a:p>
            <a:r>
              <a:rPr dirty="0"/>
              <a:t>Unlike VMAT, where an </a:t>
            </a:r>
            <a:r>
              <a:rPr dirty="0" err="1"/>
              <a:t>optimiser</a:t>
            </a:r>
            <a:r>
              <a:rPr dirty="0"/>
              <a:t> sets things, in 3DCRT the planner explicitly chooses how many beams, from what angles, and how they are shaped and weighted. Beam geometry IS the plan. Three principles.</a:t>
            </a:r>
          </a:p>
          <a:p>
            <a:endParaRPr dirty="0"/>
          </a:p>
          <a:p>
            <a:r>
              <a:rPr dirty="0"/>
              <a:t>One — beams converge on the target from angles suited to the anatomy. The classic example, point at the left panel: the four-field box for a pelvic target — anterior, posterior and two opposed laterals. Four beams crossing at the target concentrate dose centrally while spreading the entry dose around the patient. Each beam pays an entrance-dose toll through normal tissue; converging from several directions shares that toll out and piles the useful dose where the beams overlap, on the target.</a:t>
            </a:r>
          </a:p>
          <a:p>
            <a:endParaRPr dirty="0"/>
          </a:p>
          <a:p>
            <a:r>
              <a:rPr dirty="0"/>
              <a:t>Two — avoid organs at risk. A beam should reach the target by the cleanest available route. If a simple change of gantry angle stops a beam ploughing straight through a critical organ, make that change. The right panel is the cautionary case: a lateral beam passing directly through an OAR before it ever reaches the PTV — irradiating that organ for no benefit. That is an avoidable geometry, and spotting it is exactly the kind of technical critique this block trains.</a:t>
            </a:r>
          </a:p>
          <a:p>
            <a:endParaRPr dirty="0"/>
          </a:p>
          <a:p>
            <a:r>
              <a:rPr dirty="0"/>
              <a:t>Three — understand the trade-offs. Opposed pairs — two beams 180 degrees apart — give homogeneous dose along their axis and are the building block of the four-field box. Adding more beams spreads the entrance dose more thinly, lowering skin and per-beam dose, but it irradiates more total tissue to low dose — the 'low-dose bath' enlarges. More beams is not automatically better; it is a trade between entrance dose and low-dose volume.</a:t>
            </a:r>
          </a:p>
          <a:p>
            <a:endParaRPr dirty="0"/>
          </a:p>
          <a:p>
            <a:r>
              <a:rPr dirty="0"/>
              <a:t>Evaluation habit: look at the beam's-eye-view and the angles, and for every beam ask two questions — does it have a sensible reason to come from that direction, and what does it pass through on the way in and on the way out.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MODULATION TOOLKIT — how a 3DCRT planner shapes dose once the beams are placed. Registrars should be able to </a:t>
            </a:r>
            <a:r>
              <a:rPr dirty="0" err="1"/>
              <a:t>recognise</a:t>
            </a:r>
            <a:r>
              <a:rPr dirty="0"/>
              <a:t> each of these on a plan and say why it is there.</a:t>
            </a:r>
          </a:p>
          <a:p>
            <a:endParaRPr dirty="0"/>
          </a:p>
          <a:p>
            <a:r>
              <a:rPr dirty="0"/>
              <a:t>Beam weighting. Each field can be given a different relative dose contribution — its weight, broadly its share of the monitor units. Weighting is how you fine-tune the distribution: shifting weight between the anterior-posterior pair and the laterals in a four-field box moves the high-dose region and lets you pull a hot spot back into the target or lift dose in a cold area. When you see an asymmetric weighting on a plan, it should have a reason — ask what the planner was correcting.</a:t>
            </a:r>
          </a:p>
          <a:p>
            <a:endParaRPr dirty="0"/>
          </a:p>
          <a:p>
            <a:r>
              <a:rPr dirty="0"/>
              <a:t>Wedges — physical wedges in the head, or dynamic 'wedges' produced by moving a jaw during delivery. A wedge tilts the isodose lines across the field. The primary use is to compensate for a sloping or curved patient surface, or for missing tissue, so that the dose stays even underneath. The textbook case is breast tangents: the breast contour falls away markedly, and without wedging you get a hot region where the tissue is thin and a cold region where it is thick. Wedges flatten that out.</a:t>
            </a:r>
          </a:p>
          <a:p>
            <a:endParaRPr dirty="0"/>
          </a:p>
          <a:p>
            <a:r>
              <a:rPr dirty="0"/>
              <a:t>Field-in-field — forward-planned sub-segments added on top of the open fields, each one shaped to block a region where a hot spot is emerging. This is the modern workhorse for 3DCRT </a:t>
            </a:r>
            <a:r>
              <a:rPr dirty="0" err="1"/>
              <a:t>homogenisation</a:t>
            </a:r>
            <a:r>
              <a:rPr dirty="0"/>
              <a:t> and is routine in breast planning. It is sometimes described as 'poor man's IMRT' — forward-planned, planner-controlled modulation rather than inverse-planned. If you see two or three little segments on a breast plan, that is field-in-field doing its job.</a:t>
            </a:r>
          </a:p>
          <a:p>
            <a:endParaRPr dirty="0"/>
          </a:p>
          <a:p>
            <a:r>
              <a:rPr dirty="0"/>
              <a:t>Compensators and bolus — physical compensators, or bolus laid on the skin, to manage missing tissue and to manipulate surface dose when wedges and segments are not sufficient. Bolus in particular is the tool for deliberately raising skin dose where the target is superficial.</a:t>
            </a:r>
          </a:p>
          <a:p>
            <a:endParaRPr dirty="0"/>
          </a:p>
          <a:p>
            <a:r>
              <a:rPr dirty="0"/>
              <a:t>The evaluation point: when a distribution looks good, look at HOW it was achieved. Appropriate wedges and field-in-field on a breast plan are a sign of careful planning. Their absence on a plan with an obvious sloping-contour hot spot is a flag — and that exact case is on the next-but-one slide.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COLLIMATION AND MLC SHAPING — how each individual field is shaped.</a:t>
            </a:r>
          </a:p>
          <a:p>
            <a:endParaRPr dirty="0"/>
          </a:p>
          <a:p>
            <a:r>
              <a:rPr dirty="0"/>
              <a:t>Start with the beam's-eye-view concept: imagine looking out from the radiation source along the beam axis. From that viewpoint the target has a 2-D outline, and the job of the multi-leaf collimator — or, historically, custom blocks — is to shape the field to that outline so the beam treats the target and shields what is around it.</a:t>
            </a:r>
          </a:p>
          <a:p>
            <a:endParaRPr dirty="0"/>
          </a:p>
          <a:p>
            <a:r>
              <a:rPr dirty="0"/>
              <a:t>MLC conformance. Shape the field to the beam's-eye-view of the PTV PLUS a margin. The tension: conform too loosely and you irradiate normal tissue you did not need to; conform too tightly and you clip the PTV — the cause of that cold tail back in the Block 1 worked example. Conformance is a balance, not 'as tight as possible'.</a:t>
            </a:r>
          </a:p>
          <a:p>
            <a:endParaRPr dirty="0"/>
          </a:p>
          <a:p>
            <a:r>
              <a:rPr dirty="0"/>
              <a:t>Collimator rotation. The collimator can be rotated about the beam axis. You rotate it to make the rectangular leaf travel best match the orientation of the PTV — </a:t>
            </a:r>
            <a:r>
              <a:rPr dirty="0" err="1"/>
              <a:t>minimising</a:t>
            </a:r>
            <a:r>
              <a:rPr dirty="0"/>
              <a:t> the stepped 'staircase' the discrete leaves make against a smooth diagonal edge — and to manage beam divergence where one field abuts another at a junction. A sensible collimator angle is a small sign of a carefully built plan.</a:t>
            </a:r>
          </a:p>
          <a:p>
            <a:endParaRPr dirty="0"/>
          </a:p>
          <a:p>
            <a:r>
              <a:rPr dirty="0"/>
              <a:t>Penumbra margin — the single most important practical point here, so dwell on it. The MLC leaf edge is NOT the dose edge. Dose does not stop sharply at the leaf; it falls off gradually across the penumbra. So if you shape the MLC exactly to the PTV outline, the PTV edge ends up sitting in the penumbra — in the falling-off, under-dosed region — and you get an underdosed rim. You must add a margin between the leaf edge and the PTV so the whole PTV sits inside the flat, full-dose part of the field. This is, again, the cold-tail mechanism from Block 1, seen from the technical side.</a:t>
            </a:r>
          </a:p>
          <a:p>
            <a:endParaRPr dirty="0"/>
          </a:p>
          <a:p>
            <a:r>
              <a:rPr dirty="0"/>
              <a:t>Tongue-and-groove — the leaves interlock with a stepped tongue-and-groove edge to stop radiation leaking between them, and a side effect is a thin underdose stripe along the sides of the leaves. You manage it largely through collimator angle choice. For this course, you simply need to know it exists and what causes it — do not over-teach it.</a:t>
            </a:r>
          </a:p>
          <a:p>
            <a:endParaRPr dirty="0"/>
          </a:p>
          <a:p>
            <a:r>
              <a:rPr dirty="0"/>
              <a:t>Evaluation habit: look at the MLC shapes on the beam's-eye-views. Do they conform sensibly to the PTV with a believable penumbra margin — or are they clipped tight to the target outline, which predicts a cold rim you should then go and confirm on the slices.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LAST TECHNICAL CONCEPTS — and the lead point is the single most common evaluation mistake registrars make, so make it land.</a:t>
            </a:r>
          </a:p>
          <a:p>
            <a:endParaRPr dirty="0"/>
          </a:p>
          <a:p>
            <a:r>
              <a:rPr dirty="0"/>
              <a:t>Hot spots — LOCATION, not just size. Registrars instinctively grab the maximum-dose number, see 108%, and worry. Wrong question. The right questions are: how big is the high-dose region — use D2%, the near-max, not a single-voxel </a:t>
            </a:r>
            <a:r>
              <a:rPr dirty="0" err="1"/>
              <a:t>Dmax</a:t>
            </a:r>
            <a:r>
              <a:rPr dirty="0"/>
              <a:t> — and, far more important, WHERE is it. Point at the diagram. A 107-plus-percent hot spot sitting inside the PTV is generally fine — that is target tissue, and a little extra dose to the </a:t>
            </a:r>
            <a:r>
              <a:rPr dirty="0" err="1"/>
              <a:t>tumour</a:t>
            </a:r>
            <a:r>
              <a:rPr dirty="0"/>
              <a:t> is not a problem. The very same hot spot sitting in skin, or in an organ at risk, or in normal tissue outside the PTV, is a real concern — that is healthy tissue being overdosed. So the rule: never report a hot spot by magnitude alone; always pair it with its location. And this is precisely the gap the facilitator notes warn about — registrars over-weight hot spots as a number and under-weight WHERE dose actually lands.</a:t>
            </a:r>
          </a:p>
          <a:p>
            <a:endParaRPr dirty="0"/>
          </a:p>
          <a:p>
            <a:r>
              <a:rPr dirty="0"/>
              <a:t>Dose gradient — how rapidly dose falls off in space. Between the PTV and an adjacent OAR you want a STEEP gradient: full dose on the target, dropping away fast so the </a:t>
            </a:r>
            <a:r>
              <a:rPr dirty="0" err="1"/>
              <a:t>neighbouring</a:t>
            </a:r>
            <a:r>
              <a:rPr dirty="0"/>
              <a:t> organ is spared. A lazy, shallow gradient there means the OAR is sharing the high-dose region. So when a target sits hard against a critical organ, look specifically at the gradient on the slices in that gap — it is where conformity becomes concrete.</a:t>
            </a:r>
          </a:p>
          <a:p>
            <a:endParaRPr dirty="0"/>
          </a:p>
          <a:p>
            <a:r>
              <a:rPr dirty="0"/>
              <a:t>Integral dose and monitor units. Integral dose is, loosely, the total energy deposited in the patient — all the dose, everywhere, not just on the target. You cannot drive it to zero, but you should not inflate it needlessly. Sanity-check the monitor units: an implausibly high MU, or a very low-weighted field dragging MU up for almost no </a:t>
            </a:r>
            <a:r>
              <a:rPr dirty="0" err="1"/>
              <a:t>dosimetric</a:t>
            </a:r>
            <a:r>
              <a:rPr dirty="0"/>
              <a:t> benefit, adds scatter dose throughout the patient and raises integral dose — which carries a second-malignancy consideration, especially in younger patients. A quick MU plausibility check is part of a complete technical evaluation.</a:t>
            </a:r>
          </a:p>
          <a:p>
            <a:endParaRPr dirty="0"/>
          </a:p>
          <a:p>
            <a:r>
              <a:rPr dirty="0"/>
              <a:t>That closes the technical concepts. Next slide pulls it together as a critique exercise.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CONSOLIDATION — bring Block 4's scorecard exercise full circle. This is where the registrars compare their own scorecard against the ideal.</a:t>
            </a:r>
          </a:p>
          <a:p>
            <a:endParaRPr dirty="0"/>
          </a:p>
          <a:p>
            <a:r>
              <a:rPr dirty="0"/>
              <a:t>The message: they now hold all the concepts — coverage, conformity, homogeneity, OAR constraints, serial-versus-parallel, dose-response, technique. A flat list of all of it is not yet a scorecard. The clinical skill is SORTING those concepts into the three tiers. The sorting IS the competence.</a:t>
            </a:r>
          </a:p>
          <a:p>
            <a:endParaRPr dirty="0"/>
          </a:p>
          <a:p>
            <a:r>
              <a:rPr dirty="0"/>
              <a:t>Walk the tiers with concrete examples. CRITICAL — the plan fails, the answer is re-plan, not a footnote: a geographic miss of the target, cold dose reaching into the CTV; a serial OAR over a hard tolerance, cord or brainstem or chiasm; a hot spot sitting in a critical organ. MAJOR — a real consequence that must be corrected or explicitly justified: a parallel-organ mean dose over its constraint, coverage that has slipped to V95 of 90-95%, a beam passing through an OAR that a re-angle could have avoided. MINOR — worth a comment, rarely decisive: slightly high monitor units, minor inhomogeneity, an </a:t>
            </a:r>
            <a:r>
              <a:rPr dirty="0" err="1"/>
              <a:t>isocentre</a:t>
            </a:r>
            <a:r>
              <a:rPr dirty="0"/>
              <a:t> that is not ideal but workable.</a:t>
            </a:r>
          </a:p>
          <a:p>
            <a:endParaRPr dirty="0"/>
          </a:p>
          <a:p>
            <a:r>
              <a:rPr dirty="0"/>
              <a:t>Now spend real time on the right-hand panel — REJECT ON SIGHT. This is the exact anchor question from the start of the module: name the findings that make you reject a plan outright. After the whole module, here is the disciplined answer — three reasons. One, the target will be missed — cold dose reaching into the CTV, not merely softness at the PTV margin. Two, a critical serial organ exceeds a hard tolerance — cord, brainstem, chiasm. Three, the plan is unsafe or simply cannot be delivered as drawn.</a:t>
            </a:r>
          </a:p>
          <a:p>
            <a:endParaRPr dirty="0"/>
          </a:p>
          <a:p>
            <a:r>
              <a:rPr dirty="0"/>
              <a:t>The teaching point underneath: notice how SHORT that list is. Only three things are true reject-on-sight failures. Everything else — every other finding in this module — is graded discussion. Graded discussion does not mean unimportant; it means it is weighed, justified and documented rather than being an automatic fail. Registrars tend to invert this: they treat hot spots and minor inhomogeneity as catastrophes and under-weight the genuine critical failures. A registrar who can name those three, and calmly grade everything else, is evaluating plans like a clinician.</a:t>
            </a:r>
          </a:p>
          <a:p>
            <a:endParaRPr dirty="0"/>
          </a:p>
          <a:p>
            <a:r>
              <a:rPr dirty="0"/>
              <a:t>Close: have them mark up their own scorecard — every line tagged critical, major or minor — and we will compare against the ideal.</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PRACTICAL CONSOLIDATION — this is what registrars actually take to the workstation.</a:t>
            </a:r>
          </a:p>
          <a:p>
            <a:endParaRPr dirty="0"/>
          </a:p>
          <a:p>
            <a:r>
              <a:rPr dirty="0"/>
              <a:t>The left column is the fixed review sequence. Prescription first — always — then contours, beam arrangement, a visual isodose review, coverage, hot and cold spots, then the DVH, then OARs, and finally the decision. The single most important thing about this list is not its content but its FIXEDNESS: using the identical order on every plan is itself an error-reduction tool, because the step you are tempted to skip on a busy day is exactly the step that hides the problem. Note this sequence is simply FCB-CHOPS </a:t>
            </a:r>
            <a:r>
              <a:rPr dirty="0" err="1"/>
              <a:t>reorganised</a:t>
            </a:r>
            <a:r>
              <a:rPr dirty="0"/>
              <a:t> into a workflow — prescription pulled to the front, decision added at the end.</a:t>
            </a:r>
          </a:p>
          <a:p>
            <a:endParaRPr dirty="0"/>
          </a:p>
          <a:p>
            <a:r>
              <a:rPr dirty="0"/>
              <a:t>The right column is four habits that catch what a checklist alone misses. One — look at the plan visually before you open the DVH; the DVH has thrown away all spatial information, so the images must come first. Two — use the DVH to CONFIRM the visual impression, never to replace it; a good-looking DVH over a bad distribution is a trap. Three — when something is wrong, fix it in the correct order: contours, then geometry, then </a:t>
            </a:r>
            <a:r>
              <a:rPr dirty="0" err="1"/>
              <a:t>normalisation</a:t>
            </a:r>
            <a:r>
              <a:rPr dirty="0"/>
              <a:t>, then </a:t>
            </a:r>
            <a:r>
              <a:rPr dirty="0" err="1"/>
              <a:t>optimisation</a:t>
            </a:r>
            <a:r>
              <a:rPr dirty="0"/>
              <a:t>, then fine-tuning. Registrars instinctively jump straight to tweaking </a:t>
            </a:r>
            <a:r>
              <a:rPr dirty="0" err="1"/>
              <a:t>optimiser</a:t>
            </a:r>
            <a:r>
              <a:rPr dirty="0"/>
              <a:t> objectives — that just compensates for an upstream error instead of correcting it. Four — evaluate robustness, not perfection: a plan that still works when the patient is a few </a:t>
            </a:r>
            <a:r>
              <a:rPr dirty="0" err="1"/>
              <a:t>millimetres</a:t>
            </a:r>
            <a:r>
              <a:rPr dirty="0"/>
              <a:t> off, or the bladder fills differently, is genuinely better than a fragile plan that only looks perfect on the planning scan.</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CLOSE THE MODULE. Two minutes — land the four takeaways, point at the references, hand over to the scorecard work.</a:t>
            </a:r>
          </a:p>
          <a:p>
            <a:endParaRPr dirty="0"/>
          </a:p>
          <a:p>
            <a:r>
              <a:rPr dirty="0"/>
              <a:t>Takeaway one — a good plan is a documented COMPROMISE. Not perfect; defensible. The target covered, the organs at risk within tolerance, the plan technically sound and genuinely deliverable — and every trade-off made along the way articulated and recorded. If a registrar leaves with one sentence, this is it.</a:t>
            </a:r>
          </a:p>
          <a:p>
            <a:endParaRPr dirty="0"/>
          </a:p>
          <a:p>
            <a:r>
              <a:rPr dirty="0"/>
              <a:t>Takeaway two — the DVH screens, the slices diagnose. The DVH is the indispensable first tool, but it has thrown away all spatial information. It tells you THAT something is cold or hot, never WHERE. Every real evaluation ends on the axial slices confirming where the dose actually sits. This came up in every single block — make it stick.</a:t>
            </a:r>
          </a:p>
          <a:p>
            <a:endParaRPr dirty="0"/>
          </a:p>
          <a:p>
            <a:r>
              <a:rPr dirty="0"/>
              <a:t>Takeaway three — match the metric to the organ. Before reading any OAR number, ask: serial or parallel? That architecture tells you whether the maximum dose or the mean dose is the number that matters. It is the difference between understanding a constraint and merely reciting it.</a:t>
            </a:r>
          </a:p>
          <a:p>
            <a:endParaRPr dirty="0"/>
          </a:p>
          <a:p>
            <a:r>
              <a:rPr dirty="0"/>
              <a:t>Takeaway four — </a:t>
            </a:r>
            <a:r>
              <a:rPr dirty="0" err="1"/>
              <a:t>prioritise</a:t>
            </a:r>
            <a:r>
              <a:rPr dirty="0"/>
              <a:t>. Not every deviation is equal. Three findings are reject-on-sight; everything else is graded, justified, documented discussion. The triage is the clinical skill the whole module — and the scorecard exercise — has been training.</a:t>
            </a:r>
          </a:p>
          <a:p>
            <a:endParaRPr dirty="0"/>
          </a:p>
          <a:p>
            <a:r>
              <a:rPr dirty="0"/>
              <a:t>References — these are the primary sources behind everything we covered, and they are worth knowing by name for exams as well as for practice. ICRU 50, 62 and 83 for the volume definitions and dose-reporting language. QUANTEC, the 2010 Red Journal supplement, for organ-at-risk dose-volume constraints — the everyday reference. Emami 1991 as the historical origin of tolerance tables. </a:t>
            </a:r>
            <a:r>
              <a:rPr dirty="0" err="1"/>
              <a:t>HyTEC</a:t>
            </a:r>
            <a:r>
              <a:rPr dirty="0"/>
              <a:t> for the hypofractionation and SBRT era. RTOG/NRG and national protocols for site-specific, trial-vetted constraints — always plan to the named protocol. And Khan's Treatment Planning in Radiation Oncology as the standard planning textbook to go deeper.</a:t>
            </a:r>
          </a:p>
          <a:p>
            <a:endParaRPr dirty="0"/>
          </a:p>
          <a:p>
            <a:r>
              <a:rPr dirty="0"/>
              <a:t>Hand-off line: "That is the theory. From here you are scoring real plans — five sites, your own scorecard against the ideal. Everything we have built today is now a tool in your hands." Then move to the site work.</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SET UP THE EXERCISE THAT RUNS THROUGH THE WHOLE COURSE.</a:t>
            </a:r>
          </a:p>
          <a:p>
            <a:endParaRPr dirty="0"/>
          </a:p>
          <a:p>
            <a:r>
              <a:rPr dirty="0"/>
              <a:t>The deliverable is a scorecard — but the learning objective is </a:t>
            </a:r>
            <a:r>
              <a:rPr dirty="0" err="1"/>
              <a:t>prioritisation</a:t>
            </a:r>
            <a:r>
              <a:rPr dirty="0"/>
              <a:t>. Make this explicit: a flat checklist of 30 items treats a 2 mm </a:t>
            </a:r>
            <a:r>
              <a:rPr dirty="0" err="1"/>
              <a:t>isocentre</a:t>
            </a:r>
            <a:r>
              <a:rPr dirty="0"/>
              <a:t> offset the same as a geographic miss of the </a:t>
            </a:r>
            <a:r>
              <a:rPr dirty="0" err="1"/>
              <a:t>tumour</a:t>
            </a:r>
            <a:r>
              <a:rPr dirty="0"/>
              <a:t>. That is useless at the workstation. The clinical skill is triage.</a:t>
            </a:r>
          </a:p>
          <a:p>
            <a:endParaRPr dirty="0"/>
          </a:p>
          <a:p>
            <a:r>
              <a:rPr dirty="0"/>
              <a:t>Three tiers. CRITICAL — the plan fails; it is unsafe or the target is missed; the answer is re-plan, not 'note and proceed'. MAJOR — a real clinical consequence; it must be corrected or there must be an explicit, documented reason it is acceptable. MINOR — suboptimal but not unsafe; worth a comment, rarely changes the decision.</a:t>
            </a:r>
          </a:p>
          <a:p>
            <a:endParaRPr dirty="0"/>
          </a:p>
          <a:p>
            <a:r>
              <a:rPr dirty="0"/>
              <a:t>The scoring scale is deliberately three points — Pass / Marginal / Fail. A two-point pass/fail hides the borderline plans where the real teaching is; a five-point scale invites fence-sitting. Three points force a call while still flagging 'marginal' for discussion. Insist on a free-text box on every scorecard — intent (radical vs palliative), previous radiotherapy, comorbidity and patient-specific trade-offs never fit a tick-box.</a:t>
            </a:r>
          </a:p>
          <a:p>
            <a:endParaRPr dirty="0"/>
          </a:p>
          <a:p>
            <a:r>
              <a:rPr dirty="0"/>
              <a:t>THE FACILITATION MOVE on the right is the most important thing on this slide. Before you ever show an ideal scorecard, give them five quiet minutes and ask for their top three reject-on-sight findings. Starting from the top three — rather than building up from trivia — trains critical-versus-minor judgement from the first second. We return to this exact anchor at the end of the module.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177BD-3F7C-5254-7E63-AC2FBF7DBE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4241D8-C1C4-47D7-D9BE-36383085916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2DC3C9B-ED05-49AF-4AAC-26EA14A66A5A}"/>
              </a:ext>
            </a:extLst>
          </p:cNvPr>
          <p:cNvSpPr>
            <a:spLocks noGrp="1"/>
          </p:cNvSpPr>
          <p:nvPr>
            <p:ph type="body" sz="quarter" idx="3"/>
          </p:nvPr>
        </p:nvSpPr>
        <p:spPr/>
        <p:txBody>
          <a:bodyPr/>
          <a:lstStyle/>
          <a:p>
            <a:r>
              <a:rPr dirty="0"/>
              <a:t>BLOCK 3 — TECHNICAL QUALITY. Ten minutes.</a:t>
            </a:r>
          </a:p>
          <a:p>
            <a:endParaRPr dirty="0"/>
          </a:p>
          <a:p>
            <a:r>
              <a:rPr dirty="0"/>
              <a:t>Transition: "Blocks 1 and 2 judged the plan by its outcomes — the dose to the target and the dose to the organs. Block 3 looks under the bonnet at HOW the plan was built."</a:t>
            </a:r>
          </a:p>
          <a:p>
            <a:endParaRPr dirty="0"/>
          </a:p>
          <a:p>
            <a:r>
              <a:rPr dirty="0"/>
              <a:t>Frame why this block matters even though the DVH already 'passed'. A plan can hit every coverage and OAR number and still be technically poor — fragile, inelegant, or built in a way that will not survive contact with reality. Technique is also where you most clearly see whether a plan was thoughtfully constructed by a planner or simply churned out. And — pull it forward to the Block 2 example — many coverage and OAR failures are technical problems wearing a DVH disguise; learn to see the cause, not just the symptom.</a:t>
            </a:r>
          </a:p>
          <a:p>
            <a:endParaRPr dirty="0"/>
          </a:p>
          <a:p>
            <a:r>
              <a:rPr dirty="0"/>
              <a:t>Preview: </a:t>
            </a:r>
            <a:r>
              <a:rPr dirty="0" err="1"/>
              <a:t>isocentre</a:t>
            </a:r>
            <a:r>
              <a:rPr dirty="0"/>
              <a:t> placement, then beam angles and field arrangement, then the modulation tools — weighting, wedges, collimation, MLC shaping — then hot spots, dose gradient and integral dose. This is the most 3DCRT-specific block; the concepts are concrete and visual, so lean on the diagrams.</a:t>
            </a:r>
          </a:p>
        </p:txBody>
      </p:sp>
      <p:sp>
        <p:nvSpPr>
          <p:cNvPr id="4" name="Slide Number Placeholder 3">
            <a:extLst>
              <a:ext uri="{FF2B5EF4-FFF2-40B4-BE49-F238E27FC236}">
                <a16:creationId xmlns:a16="http://schemas.microsoft.com/office/drawing/2014/main" id="{4D053470-8D72-C454-9544-A042E8ACDAB9}"/>
              </a:ext>
            </a:extLst>
          </p:cNvPr>
          <p:cNvSpPr>
            <a:spLocks noGrp="1"/>
          </p:cNvSpPr>
          <p:nvPr>
            <p:ph type="sldNum" sz="quarter" idx="5"/>
          </p:nvPr>
        </p:nvSpPr>
        <p:spPr/>
      </p:sp>
    </p:spTree>
    <p:extLst>
      <p:ext uri="{BB962C8B-B14F-4D97-AF65-F5344CB8AC3E}">
        <p14:creationId xmlns:p14="http://schemas.microsoft.com/office/powerpoint/2010/main" val="10123866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F5195-DE92-659D-DD1B-AA8C70B78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5929A-4446-43C6-ADAC-B97B9AB5D3F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623BB60-274F-7B19-900B-FFAA6B0438C9}"/>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937B85AD-EE01-4FF2-B328-347781ABA180}"/>
              </a:ext>
            </a:extLst>
          </p:cNvPr>
          <p:cNvSpPr>
            <a:spLocks noGrp="1"/>
          </p:cNvSpPr>
          <p:nvPr>
            <p:ph type="sldNum" sz="quarter" idx="5"/>
          </p:nvPr>
        </p:nvSpPr>
        <p:spPr/>
      </p:sp>
    </p:spTree>
    <p:extLst>
      <p:ext uri="{BB962C8B-B14F-4D97-AF65-F5344CB8AC3E}">
        <p14:creationId xmlns:p14="http://schemas.microsoft.com/office/powerpoint/2010/main" val="299488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9F835-748C-071F-0DA6-25A7C7FAEB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67786-9AF7-CC57-0C92-D7C12469D62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8A7CBAA-A10B-380C-9CA8-27AEA9D2C4E5}"/>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87A7456C-CF00-30CF-04A5-87C6C5CBDD67}"/>
              </a:ext>
            </a:extLst>
          </p:cNvPr>
          <p:cNvSpPr>
            <a:spLocks noGrp="1"/>
          </p:cNvSpPr>
          <p:nvPr>
            <p:ph type="sldNum" sz="quarter" idx="5"/>
          </p:nvPr>
        </p:nvSpPr>
        <p:spPr/>
      </p:sp>
    </p:spTree>
    <p:extLst>
      <p:ext uri="{BB962C8B-B14F-4D97-AF65-F5344CB8AC3E}">
        <p14:creationId xmlns:p14="http://schemas.microsoft.com/office/powerpoint/2010/main" val="1301796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F3AD7-817D-0D4C-1B2D-0D16BADB70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ECAC9A-90B9-2D07-7F76-C78004DEECF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31BA1C9-B650-8BFF-65F9-781FB9488950}"/>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5344AE05-2283-8DA3-2A50-9B5876EA9A2B}"/>
              </a:ext>
            </a:extLst>
          </p:cNvPr>
          <p:cNvSpPr>
            <a:spLocks noGrp="1"/>
          </p:cNvSpPr>
          <p:nvPr>
            <p:ph type="sldNum" sz="quarter" idx="5"/>
          </p:nvPr>
        </p:nvSpPr>
        <p:spPr/>
      </p:sp>
    </p:spTree>
    <p:extLst>
      <p:ext uri="{BB962C8B-B14F-4D97-AF65-F5344CB8AC3E}">
        <p14:creationId xmlns:p14="http://schemas.microsoft.com/office/powerpoint/2010/main" val="32695072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DC163-D2A4-149E-E26F-EB383642C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2F1301-1FF4-FF73-5DD0-CA89BF04B36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CFC6125-1DBD-043A-9431-62413680D483}"/>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55E33737-43C4-9B68-5CD9-7746A0542002}"/>
              </a:ext>
            </a:extLst>
          </p:cNvPr>
          <p:cNvSpPr>
            <a:spLocks noGrp="1"/>
          </p:cNvSpPr>
          <p:nvPr>
            <p:ph type="sldNum" sz="quarter" idx="5"/>
          </p:nvPr>
        </p:nvSpPr>
        <p:spPr/>
      </p:sp>
    </p:spTree>
    <p:extLst>
      <p:ext uri="{BB962C8B-B14F-4D97-AF65-F5344CB8AC3E}">
        <p14:creationId xmlns:p14="http://schemas.microsoft.com/office/powerpoint/2010/main" val="34074919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64304-FF51-CA4A-2E7C-498358D960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BA7C71-EC2B-6D7C-2F7A-14BDE8985A3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DCEC30C-7D23-40D9-A5CF-69A7B1557814}"/>
              </a:ext>
            </a:extLst>
          </p:cNvPr>
          <p:cNvSpPr>
            <a:spLocks noGrp="1"/>
          </p:cNvSpPr>
          <p:nvPr>
            <p:ph type="body" sz="quarter" idx="3"/>
          </p:nvPr>
        </p:nvSpPr>
        <p:spPr/>
        <p:txBody>
          <a:bodyPr/>
          <a:lstStyle/>
          <a:p>
            <a:r>
              <a:rPr lang="en-US" sz="1200" dirty="0">
                <a:solidFill>
                  <a:srgbClr val="5A7480"/>
                </a:solidFill>
              </a:rPr>
              <a:t>(~1.6 Gy improvement</a:t>
            </a:r>
            <a:endParaRPr dirty="0"/>
          </a:p>
        </p:txBody>
      </p:sp>
      <p:sp>
        <p:nvSpPr>
          <p:cNvPr id="4" name="Slide Number Placeholder 3">
            <a:extLst>
              <a:ext uri="{FF2B5EF4-FFF2-40B4-BE49-F238E27FC236}">
                <a16:creationId xmlns:a16="http://schemas.microsoft.com/office/drawing/2014/main" id="{6A5E9C59-1C6C-A918-613B-D9FD99DC76CF}"/>
              </a:ext>
            </a:extLst>
          </p:cNvPr>
          <p:cNvSpPr>
            <a:spLocks noGrp="1"/>
          </p:cNvSpPr>
          <p:nvPr>
            <p:ph type="sldNum" sz="quarter" idx="5"/>
          </p:nvPr>
        </p:nvSpPr>
        <p:spPr/>
      </p:sp>
    </p:spTree>
    <p:extLst>
      <p:ext uri="{BB962C8B-B14F-4D97-AF65-F5344CB8AC3E}">
        <p14:creationId xmlns:p14="http://schemas.microsoft.com/office/powerpoint/2010/main" val="3449012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A9E0"/>
        </a:solidFill>
        <a:effectLst/>
      </p:bgPr>
    </p:bg>
    <p:spTree>
      <p:nvGrpSpPr>
        <p:cNvPr id="1" name=""/>
        <p:cNvGrpSpPr/>
        <p:nvPr/>
      </p:nvGrpSpPr>
      <p:grpSpPr>
        <a:xfrm>
          <a:off x="0" y="0"/>
          <a:ext cx="0" cy="0"/>
          <a:chOff x="0" y="0"/>
          <a:chExt cx="0" cy="0"/>
        </a:xfrm>
      </p:grpSpPr>
      <p:sp>
        <p:nvSpPr>
          <p:cNvPr id="2" name="TextBox 1"/>
          <p:cNvSpPr txBox="1"/>
          <p:nvPr/>
        </p:nvSpPr>
        <p:spPr>
          <a:xfrm>
            <a:off x="868680" y="868680"/>
            <a:ext cx="10058400" cy="365760"/>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9">
                <a:solidFill>
                  <a:srgbClr val="CDEBF8"/>
                </a:solidFill>
                <a:latin typeface="Consolas"/>
              </a:rPr>
              <a:t>RADIATION ONCOLOGY   ·   UCT / GSH REGISTRAR TRAINING</a:t>
            </a:r>
          </a:p>
        </p:txBody>
      </p:sp>
      <p:sp>
        <p:nvSpPr>
          <p:cNvPr id="3" name="TextBox 2"/>
          <p:cNvSpPr txBox="1"/>
          <p:nvPr/>
        </p:nvSpPr>
        <p:spPr>
          <a:xfrm>
            <a:off x="822960" y="1517904"/>
            <a:ext cx="10698480" cy="2377440"/>
          </a:xfrm>
          <a:prstGeom prst="rect">
            <a:avLst/>
          </a:prstGeom>
          <a:noFill/>
        </p:spPr>
        <p:txBody>
          <a:bodyPr wrap="square" lIns="0" tIns="0" rIns="0" bIns="0" anchor="t">
            <a:noAutofit/>
          </a:bodyPr>
          <a:lstStyle/>
          <a:p>
            <a:pPr algn="l">
              <a:lnSpc>
                <a:spcPct val="102000"/>
              </a:lnSpc>
              <a:spcBef>
                <a:spcPts val="0"/>
              </a:spcBef>
              <a:spcAft>
                <a:spcPts val="400"/>
              </a:spcAft>
            </a:pPr>
            <a:r>
              <a:rPr sz="6200" b="1" i="0" dirty="0">
                <a:solidFill>
                  <a:srgbClr val="FFFFFF"/>
                </a:solidFill>
                <a:latin typeface="Georgia"/>
              </a:rPr>
              <a:t>What Makes a Plan</a:t>
            </a:r>
          </a:p>
          <a:p>
            <a:pPr algn="l">
              <a:lnSpc>
                <a:spcPct val="102000"/>
              </a:lnSpc>
              <a:spcBef>
                <a:spcPts val="0"/>
              </a:spcBef>
              <a:spcAft>
                <a:spcPts val="400"/>
              </a:spcAft>
            </a:pPr>
            <a:r>
              <a:rPr sz="6200" b="1" i="1" dirty="0">
                <a:solidFill>
                  <a:srgbClr val="FFDE59"/>
                </a:solidFill>
                <a:latin typeface="Georgia"/>
              </a:rPr>
              <a:t>Good</a:t>
            </a:r>
            <a:r>
              <a:rPr sz="6200" b="1" i="0" dirty="0">
                <a:solidFill>
                  <a:srgbClr val="FFFFFF"/>
                </a:solidFill>
                <a:latin typeface="Georgia"/>
              </a:rPr>
              <a:t>?</a:t>
            </a:r>
          </a:p>
        </p:txBody>
      </p:sp>
      <p:sp>
        <p:nvSpPr>
          <p:cNvPr id="4" name="Rounded Rectangle 3"/>
          <p:cNvSpPr/>
          <p:nvPr/>
        </p:nvSpPr>
        <p:spPr>
          <a:xfrm>
            <a:off x="868680" y="4041648"/>
            <a:ext cx="7040880" cy="1097280"/>
          </a:xfrm>
          <a:prstGeom prst="roundRect">
            <a:avLst>
              <a:gd name="adj" fmla="val 8000"/>
            </a:avLst>
          </a:prstGeom>
          <a:solidFill>
            <a:srgbClr val="00A9E0"/>
          </a:solidFill>
          <a:ln w="2032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2144" y="4187952"/>
            <a:ext cx="6583680" cy="822960"/>
          </a:xfrm>
          <a:prstGeom prst="rect">
            <a:avLst/>
          </a:prstGeom>
          <a:noFill/>
        </p:spPr>
        <p:txBody>
          <a:bodyPr wrap="square" lIns="0" tIns="0" rIns="0" bIns="0" anchor="t">
            <a:noAutofit/>
          </a:bodyPr>
          <a:lstStyle/>
          <a:p>
            <a:pPr algn="l">
              <a:lnSpc>
                <a:spcPct val="118000"/>
              </a:lnSpc>
              <a:spcBef>
                <a:spcPts val="0"/>
              </a:spcBef>
              <a:spcAft>
                <a:spcPts val="300"/>
              </a:spcAft>
            </a:pPr>
            <a:r>
              <a:rPr sz="1700" b="1" i="0" dirty="0">
                <a:solidFill>
                  <a:srgbClr val="FFFFFF"/>
                </a:solidFill>
                <a:latin typeface="Calibri"/>
              </a:rPr>
              <a:t>3DCRT Plan Evaluation Workshop  ·  Theory </a:t>
            </a:r>
            <a:r>
              <a:rPr lang="en-US" sz="1700" b="1" i="0" dirty="0">
                <a:solidFill>
                  <a:srgbClr val="FFFFFF"/>
                </a:solidFill>
                <a:latin typeface="Calibri"/>
              </a:rPr>
              <a:t>&amp; Practical </a:t>
            </a:r>
            <a:r>
              <a:rPr sz="1700" b="1" i="0" dirty="0">
                <a:solidFill>
                  <a:srgbClr val="FFFFFF"/>
                </a:solidFill>
                <a:latin typeface="Calibri"/>
              </a:rPr>
              <a:t>Module</a:t>
            </a:r>
          </a:p>
          <a:p>
            <a:pPr algn="l">
              <a:lnSpc>
                <a:spcPct val="118000"/>
              </a:lnSpc>
              <a:spcBef>
                <a:spcPts val="0"/>
              </a:spcBef>
              <a:spcAft>
                <a:spcPts val="400"/>
              </a:spcAft>
            </a:pPr>
            <a:r>
              <a:rPr sz="1250" b="0" i="1" dirty="0">
                <a:solidFill>
                  <a:srgbClr val="CDEBF8"/>
                </a:solidFill>
                <a:latin typeface="Calibri"/>
              </a:rPr>
              <a:t>From bad, to acceptable, to good </a:t>
            </a:r>
            <a:r>
              <a:rPr lang="en-US" sz="1250" i="1" dirty="0">
                <a:solidFill>
                  <a:srgbClr val="CDEBF8"/>
                </a:solidFill>
                <a:latin typeface="Calibri"/>
              </a:rPr>
              <a:t>- </a:t>
            </a:r>
            <a:r>
              <a:rPr sz="1250" b="0" i="1" dirty="0">
                <a:solidFill>
                  <a:srgbClr val="CDEBF8"/>
                </a:solidFill>
                <a:latin typeface="Calibri"/>
              </a:rPr>
              <a:t>a structured approach</a:t>
            </a:r>
          </a:p>
        </p:txBody>
      </p:sp>
      <p:sp>
        <p:nvSpPr>
          <p:cNvPr id="6" name="TextBox 5"/>
          <p:cNvSpPr txBox="1"/>
          <p:nvPr/>
        </p:nvSpPr>
        <p:spPr>
          <a:xfrm>
            <a:off x="896112" y="5486400"/>
            <a:ext cx="10515600" cy="457200"/>
          </a:xfrm>
          <a:prstGeom prst="rect">
            <a:avLst/>
          </a:prstGeom>
          <a:noFill/>
        </p:spPr>
        <p:txBody>
          <a:bodyPr wrap="square" lIns="0" tIns="0" rIns="0" bIns="0" anchor="t">
            <a:noAutofit/>
          </a:bodyPr>
          <a:lstStyle/>
          <a:p>
            <a:pPr algn="l">
              <a:lnSpc>
                <a:spcPct val="118000"/>
              </a:lnSpc>
              <a:spcBef>
                <a:spcPts val="0"/>
              </a:spcBef>
              <a:spcAft>
                <a:spcPts val="400"/>
              </a:spcAft>
            </a:pPr>
            <a:r>
              <a:rPr sz="1050" b="1" i="0" spc="110" dirty="0">
                <a:solidFill>
                  <a:srgbClr val="CDEBF8"/>
                </a:solidFill>
                <a:latin typeface="Consolas"/>
              </a:rPr>
              <a:t>Presented by Tamerone Manasse    ·    For UCT / GSH Registrars    ·    2026</a:t>
            </a:r>
          </a:p>
        </p:txBody>
      </p:sp>
      <p:sp>
        <p:nvSpPr>
          <p:cNvPr id="7" name="TextBox 6"/>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CDEBF8"/>
                </a:solidFill>
                <a:latin typeface="Consolas"/>
              </a:rPr>
              <a:t>3DCRT PLAN EVALUATION  /  THEORY MODULE</a:t>
            </a:r>
          </a:p>
        </p:txBody>
      </p:sp>
      <p:sp>
        <p:nvSpPr>
          <p:cNvPr id="8" name="TextBox 7"/>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CDEBF8"/>
                </a:solidFill>
                <a:latin typeface="Consolas"/>
              </a:rPr>
              <a:t>01 / 34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F07D2E"/>
                </a:solidFill>
                <a:latin typeface="Consolas"/>
              </a:rPr>
              <a:t>HOW THIS SESSION RUNS</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a:solidFill>
                  <a:srgbClr val="00A9E0"/>
                </a:solidFill>
                <a:latin typeface="Georgia"/>
              </a:rPr>
              <a:t>Framework, three blocks, a scorecard</a:t>
            </a:r>
          </a:p>
        </p:txBody>
      </p:sp>
      <p:sp>
        <p:nvSpPr>
          <p:cNvPr id="4" name="TextBox 3"/>
          <p:cNvSpPr txBox="1"/>
          <p:nvPr/>
        </p:nvSpPr>
        <p:spPr>
          <a:xfrm>
            <a:off x="566928" y="1371600"/>
            <a:ext cx="11064240" cy="329184"/>
          </a:xfrm>
          <a:prstGeom prst="rect">
            <a:avLst/>
          </a:prstGeom>
          <a:noFill/>
        </p:spPr>
        <p:txBody>
          <a:bodyPr wrap="square" lIns="0" tIns="0" rIns="0" bIns="0" anchor="t">
            <a:noAutofit/>
          </a:bodyPr>
          <a:lstStyle/>
          <a:p>
            <a:pPr algn="l">
              <a:lnSpc>
                <a:spcPct val="118000"/>
              </a:lnSpc>
              <a:spcBef>
                <a:spcPts val="0"/>
              </a:spcBef>
              <a:spcAft>
                <a:spcPts val="400"/>
              </a:spcAft>
            </a:pPr>
            <a:r>
              <a:rPr sz="1200" b="0" i="1">
                <a:solidFill>
                  <a:srgbClr val="5A7480"/>
                </a:solidFill>
                <a:latin typeface="Calibri"/>
              </a:rPr>
              <a:t>≈ 25 minutes theory  ·  90 minutes practical  ·  FCB-CHOPS runs throughout</a:t>
            </a:r>
          </a:p>
        </p:txBody>
      </p:sp>
      <p:sp>
        <p:nvSpPr>
          <p:cNvPr id="5" name="Rounded Rectangle 4"/>
          <p:cNvSpPr/>
          <p:nvPr/>
        </p:nvSpPr>
        <p:spPr>
          <a:xfrm>
            <a:off x="566928" y="1783080"/>
            <a:ext cx="4160520" cy="4434840"/>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66928" y="1783080"/>
            <a:ext cx="64008" cy="4434840"/>
          </a:xfrm>
          <a:prstGeom prst="rect">
            <a:avLst/>
          </a:prstGeom>
          <a:solidFill>
            <a:srgbClr val="F07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011680"/>
            <a:ext cx="3657600" cy="365760"/>
          </a:xfrm>
          <a:prstGeom prst="rect">
            <a:avLst/>
          </a:prstGeom>
          <a:noFill/>
        </p:spPr>
        <p:txBody>
          <a:bodyPr wrap="square" lIns="0" tIns="0" rIns="0" bIns="0" anchor="t">
            <a:noAutofit/>
          </a:bodyPr>
          <a:lstStyle/>
          <a:p>
            <a:pPr algn="l">
              <a:lnSpc>
                <a:spcPct val="118000"/>
              </a:lnSpc>
              <a:spcBef>
                <a:spcPts val="0"/>
              </a:spcBef>
              <a:spcAft>
                <a:spcPts val="400"/>
              </a:spcAft>
            </a:pPr>
            <a:r>
              <a:rPr sz="1050" b="1" i="0" spc="160">
                <a:solidFill>
                  <a:srgbClr val="F07D2E"/>
                </a:solidFill>
                <a:latin typeface="Consolas"/>
              </a:rPr>
              <a:t>BY THE END YOU CAN…</a:t>
            </a:r>
          </a:p>
        </p:txBody>
      </p:sp>
      <p:sp>
        <p:nvSpPr>
          <p:cNvPr id="8" name="TextBox 7"/>
          <p:cNvSpPr txBox="1"/>
          <p:nvPr/>
        </p:nvSpPr>
        <p:spPr>
          <a:xfrm>
            <a:off x="868680" y="2414016"/>
            <a:ext cx="3639312" cy="3648455"/>
          </a:xfrm>
          <a:prstGeom prst="rect">
            <a:avLst/>
          </a:prstGeom>
          <a:noFill/>
        </p:spPr>
        <p:txBody>
          <a:bodyPr wrap="square" lIns="0" tIns="0" rIns="0" bIns="0" anchor="t">
            <a:noAutofit/>
          </a:bodyPr>
          <a:lstStyle/>
          <a:p>
            <a:pPr algn="l">
              <a:lnSpc>
                <a:spcPct val="122000"/>
              </a:lnSpc>
              <a:spcBef>
                <a:spcPts val="0"/>
              </a:spcBef>
              <a:spcAft>
                <a:spcPts val="1368"/>
              </a:spcAft>
            </a:pPr>
            <a:r>
              <a:rPr sz="1320" b="1" i="0" dirty="0">
                <a:solidFill>
                  <a:srgbClr val="F07D2E"/>
                </a:solidFill>
                <a:latin typeface="Calibri"/>
              </a:rPr>
              <a:t>▸  </a:t>
            </a:r>
            <a:r>
              <a:rPr sz="1320" b="1" i="0" dirty="0">
                <a:solidFill>
                  <a:srgbClr val="14313C"/>
                </a:solidFill>
                <a:latin typeface="Calibri"/>
              </a:rPr>
              <a:t>Apply FCB-CHOPS </a:t>
            </a:r>
            <a:r>
              <a:rPr sz="1320" b="0" i="0" dirty="0">
                <a:solidFill>
                  <a:srgbClr val="5A7480"/>
                </a:solidFill>
                <a:latin typeface="Calibri"/>
              </a:rPr>
              <a:t>— a complete evaluation checklist</a:t>
            </a:r>
          </a:p>
          <a:p>
            <a:pPr algn="l">
              <a:lnSpc>
                <a:spcPct val="122000"/>
              </a:lnSpc>
              <a:spcBef>
                <a:spcPts val="0"/>
              </a:spcBef>
              <a:spcAft>
                <a:spcPts val="1368"/>
              </a:spcAft>
            </a:pPr>
            <a:r>
              <a:rPr sz="1320" b="1" i="0" dirty="0">
                <a:solidFill>
                  <a:srgbClr val="F07D2E"/>
                </a:solidFill>
                <a:latin typeface="Calibri"/>
              </a:rPr>
              <a:t>▸  </a:t>
            </a:r>
            <a:r>
              <a:rPr sz="1320" b="1" i="0" dirty="0">
                <a:solidFill>
                  <a:srgbClr val="14313C"/>
                </a:solidFill>
                <a:latin typeface="Calibri"/>
              </a:rPr>
              <a:t>Read a DVH </a:t>
            </a:r>
            <a:r>
              <a:rPr sz="1320" b="0" i="0" dirty="0">
                <a:solidFill>
                  <a:srgbClr val="5A7480"/>
                </a:solidFill>
                <a:latin typeface="Calibri"/>
              </a:rPr>
              <a:t>and pull coverage &amp; OAR numbers off it</a:t>
            </a:r>
          </a:p>
          <a:p>
            <a:pPr algn="l">
              <a:lnSpc>
                <a:spcPct val="122000"/>
              </a:lnSpc>
              <a:spcBef>
                <a:spcPts val="0"/>
              </a:spcBef>
              <a:spcAft>
                <a:spcPts val="1368"/>
              </a:spcAft>
            </a:pPr>
            <a:r>
              <a:rPr sz="1320" b="1" i="0" dirty="0">
                <a:solidFill>
                  <a:srgbClr val="F07D2E"/>
                </a:solidFill>
                <a:latin typeface="Calibri"/>
              </a:rPr>
              <a:t>▸  </a:t>
            </a:r>
            <a:r>
              <a:rPr sz="1320" b="1" i="0" dirty="0">
                <a:solidFill>
                  <a:srgbClr val="14313C"/>
                </a:solidFill>
                <a:latin typeface="Calibri"/>
              </a:rPr>
              <a:t>Explain CI &amp; HI </a:t>
            </a:r>
            <a:r>
              <a:rPr sz="1320" b="0" i="0" dirty="0">
                <a:solidFill>
                  <a:srgbClr val="5A7480"/>
                </a:solidFill>
                <a:latin typeface="Calibri"/>
              </a:rPr>
              <a:t>— and what “good enough” means</a:t>
            </a:r>
          </a:p>
          <a:p>
            <a:pPr algn="l">
              <a:lnSpc>
                <a:spcPct val="122000"/>
              </a:lnSpc>
              <a:spcBef>
                <a:spcPts val="0"/>
              </a:spcBef>
              <a:spcAft>
                <a:spcPts val="1368"/>
              </a:spcAft>
            </a:pPr>
            <a:r>
              <a:rPr sz="1320" b="1" i="0" dirty="0">
                <a:solidFill>
                  <a:srgbClr val="F07D2E"/>
                </a:solidFill>
                <a:latin typeface="Calibri"/>
              </a:rPr>
              <a:t>▸  </a:t>
            </a:r>
            <a:r>
              <a:rPr sz="1320" b="1" i="0" dirty="0">
                <a:solidFill>
                  <a:srgbClr val="14313C"/>
                </a:solidFill>
                <a:latin typeface="Calibri"/>
              </a:rPr>
              <a:t>Apply OAR constraints </a:t>
            </a:r>
            <a:r>
              <a:rPr sz="1320" b="0" i="0" dirty="0">
                <a:solidFill>
                  <a:srgbClr val="5A7480"/>
                </a:solidFill>
                <a:latin typeface="Calibri"/>
              </a:rPr>
              <a:t>using serial / parallel logic</a:t>
            </a:r>
          </a:p>
          <a:p>
            <a:pPr algn="l">
              <a:lnSpc>
                <a:spcPct val="122000"/>
              </a:lnSpc>
              <a:spcBef>
                <a:spcPts val="0"/>
              </a:spcBef>
              <a:spcAft>
                <a:spcPts val="1368"/>
              </a:spcAft>
            </a:pPr>
            <a:r>
              <a:rPr sz="1320" b="1" i="0" dirty="0">
                <a:solidFill>
                  <a:srgbClr val="F07D2E"/>
                </a:solidFill>
                <a:latin typeface="Calibri"/>
              </a:rPr>
              <a:t>▸  </a:t>
            </a:r>
            <a:r>
              <a:rPr sz="1320" b="1" i="0" dirty="0">
                <a:solidFill>
                  <a:srgbClr val="14313C"/>
                </a:solidFill>
                <a:latin typeface="Calibri"/>
              </a:rPr>
              <a:t>Judge technical quality </a:t>
            </a:r>
            <a:r>
              <a:rPr sz="1320" b="0" i="0" dirty="0">
                <a:solidFill>
                  <a:srgbClr val="5A7480"/>
                </a:solidFill>
                <a:latin typeface="Calibri"/>
              </a:rPr>
              <a:t>of a 3DCRT plan</a:t>
            </a:r>
          </a:p>
        </p:txBody>
      </p:sp>
      <p:sp>
        <p:nvSpPr>
          <p:cNvPr id="9" name="Rounded Rectangle 8"/>
          <p:cNvSpPr/>
          <p:nvPr/>
        </p:nvSpPr>
        <p:spPr>
          <a:xfrm>
            <a:off x="4956048" y="1783080"/>
            <a:ext cx="6675120" cy="841248"/>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956048" y="1783080"/>
            <a:ext cx="64008" cy="841248"/>
          </a:xfrm>
          <a:prstGeom prst="rect">
            <a:avLst/>
          </a:prstGeom>
          <a:solidFill>
            <a:srgbClr val="143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85232" y="1938528"/>
            <a:ext cx="4114800" cy="365760"/>
          </a:xfrm>
          <a:prstGeom prst="rect">
            <a:avLst/>
          </a:prstGeom>
          <a:noFill/>
        </p:spPr>
        <p:txBody>
          <a:bodyPr wrap="square" lIns="0" tIns="0" rIns="0" bIns="0" anchor="t">
            <a:noAutofit/>
          </a:bodyPr>
          <a:lstStyle/>
          <a:p>
            <a:pPr algn="l">
              <a:lnSpc>
                <a:spcPct val="118000"/>
              </a:lnSpc>
              <a:spcBef>
                <a:spcPts val="0"/>
              </a:spcBef>
              <a:spcAft>
                <a:spcPts val="400"/>
              </a:spcAft>
            </a:pPr>
            <a:r>
              <a:rPr sz="1400" b="1" i="0">
                <a:solidFill>
                  <a:srgbClr val="14313C"/>
                </a:solidFill>
                <a:latin typeface="Georgia"/>
              </a:rPr>
              <a:t>Framing &amp; FCB-CHOPS</a:t>
            </a:r>
          </a:p>
        </p:txBody>
      </p:sp>
      <p:sp>
        <p:nvSpPr>
          <p:cNvPr id="12" name="TextBox 11"/>
          <p:cNvSpPr txBox="1"/>
          <p:nvPr/>
        </p:nvSpPr>
        <p:spPr>
          <a:xfrm>
            <a:off x="5285232" y="2267712"/>
            <a:ext cx="4160520" cy="310896"/>
          </a:xfrm>
          <a:prstGeom prst="rect">
            <a:avLst/>
          </a:prstGeom>
          <a:noFill/>
        </p:spPr>
        <p:txBody>
          <a:bodyPr wrap="square" lIns="0" tIns="0" rIns="0" bIns="0" anchor="t">
            <a:noAutofit/>
          </a:bodyPr>
          <a:lstStyle/>
          <a:p>
            <a:pPr algn="l">
              <a:lnSpc>
                <a:spcPct val="118000"/>
              </a:lnSpc>
              <a:spcBef>
                <a:spcPts val="0"/>
              </a:spcBef>
              <a:spcAft>
                <a:spcPts val="400"/>
              </a:spcAft>
            </a:pPr>
            <a:r>
              <a:rPr sz="1050" b="0" i="1">
                <a:solidFill>
                  <a:srgbClr val="5A7480"/>
                </a:solidFill>
                <a:latin typeface="Calibri"/>
              </a:rPr>
              <a:t>The central question · framework · your task</a:t>
            </a:r>
          </a:p>
        </p:txBody>
      </p:sp>
      <p:sp>
        <p:nvSpPr>
          <p:cNvPr id="13" name="TextBox 12"/>
          <p:cNvSpPr txBox="1"/>
          <p:nvPr/>
        </p:nvSpPr>
        <p:spPr>
          <a:xfrm>
            <a:off x="9509760" y="1929384"/>
            <a:ext cx="2057400" cy="310896"/>
          </a:xfrm>
          <a:prstGeom prst="rect">
            <a:avLst/>
          </a:prstGeom>
          <a:noFill/>
        </p:spPr>
        <p:txBody>
          <a:bodyPr wrap="square" lIns="0" tIns="0" rIns="0" bIns="0" anchor="t">
            <a:noAutofit/>
          </a:bodyPr>
          <a:lstStyle/>
          <a:p>
            <a:pPr algn="r">
              <a:lnSpc>
                <a:spcPct val="118000"/>
              </a:lnSpc>
              <a:spcBef>
                <a:spcPts val="0"/>
              </a:spcBef>
              <a:spcAft>
                <a:spcPts val="400"/>
              </a:spcAft>
            </a:pPr>
            <a:r>
              <a:rPr sz="1150" b="1" i="0">
                <a:solidFill>
                  <a:srgbClr val="14313C"/>
                </a:solidFill>
                <a:latin typeface="Consolas"/>
              </a:rPr>
              <a:t>0:00 – 0:05</a:t>
            </a:r>
          </a:p>
        </p:txBody>
      </p:sp>
      <p:sp>
        <p:nvSpPr>
          <p:cNvPr id="14" name="TextBox 13"/>
          <p:cNvSpPr txBox="1"/>
          <p:nvPr/>
        </p:nvSpPr>
        <p:spPr>
          <a:xfrm>
            <a:off x="9509760" y="2240280"/>
            <a:ext cx="2057400" cy="274320"/>
          </a:xfrm>
          <a:prstGeom prst="rect">
            <a:avLst/>
          </a:prstGeom>
          <a:noFill/>
        </p:spPr>
        <p:txBody>
          <a:bodyPr wrap="square" lIns="0" tIns="0" rIns="0" bIns="0" anchor="t">
            <a:noAutofit/>
          </a:bodyPr>
          <a:lstStyle/>
          <a:p>
            <a:pPr algn="r">
              <a:lnSpc>
                <a:spcPct val="118000"/>
              </a:lnSpc>
              <a:spcBef>
                <a:spcPts val="0"/>
              </a:spcBef>
              <a:spcAft>
                <a:spcPts val="400"/>
              </a:spcAft>
            </a:pPr>
            <a:r>
              <a:rPr sz="800" b="0" i="0" spc="80">
                <a:solidFill>
                  <a:srgbClr val="5A7480"/>
                </a:solidFill>
                <a:latin typeface="Consolas"/>
              </a:rPr>
              <a:t>SLIDES 1–6</a:t>
            </a:r>
          </a:p>
        </p:txBody>
      </p:sp>
      <p:sp>
        <p:nvSpPr>
          <p:cNvPr id="15" name="Rounded Rectangle 14"/>
          <p:cNvSpPr/>
          <p:nvPr/>
        </p:nvSpPr>
        <p:spPr>
          <a:xfrm>
            <a:off x="4956048" y="2670048"/>
            <a:ext cx="6675120" cy="841248"/>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956048" y="2670048"/>
            <a:ext cx="64008" cy="841248"/>
          </a:xfrm>
          <a:prstGeom prst="rect">
            <a:avLst/>
          </a:prstGeom>
          <a:solidFill>
            <a:srgbClr val="00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85232" y="2825496"/>
            <a:ext cx="4114800" cy="365760"/>
          </a:xfrm>
          <a:prstGeom prst="rect">
            <a:avLst/>
          </a:prstGeom>
          <a:noFill/>
        </p:spPr>
        <p:txBody>
          <a:bodyPr wrap="square" lIns="0" tIns="0" rIns="0" bIns="0" anchor="t">
            <a:noAutofit/>
          </a:bodyPr>
          <a:lstStyle/>
          <a:p>
            <a:pPr algn="l">
              <a:lnSpc>
                <a:spcPct val="118000"/>
              </a:lnSpc>
              <a:spcBef>
                <a:spcPts val="0"/>
              </a:spcBef>
              <a:spcAft>
                <a:spcPts val="400"/>
              </a:spcAft>
            </a:pPr>
            <a:r>
              <a:rPr sz="1400" b="1" i="0">
                <a:solidFill>
                  <a:srgbClr val="00A9E0"/>
                </a:solidFill>
                <a:latin typeface="Georgia"/>
              </a:rPr>
              <a:t>Block 1 · Target Coverage</a:t>
            </a:r>
          </a:p>
        </p:txBody>
      </p:sp>
      <p:sp>
        <p:nvSpPr>
          <p:cNvPr id="18" name="TextBox 17"/>
          <p:cNvSpPr txBox="1"/>
          <p:nvPr/>
        </p:nvSpPr>
        <p:spPr>
          <a:xfrm>
            <a:off x="5285232" y="3154680"/>
            <a:ext cx="4160520" cy="310896"/>
          </a:xfrm>
          <a:prstGeom prst="rect">
            <a:avLst/>
          </a:prstGeom>
          <a:noFill/>
        </p:spPr>
        <p:txBody>
          <a:bodyPr wrap="square" lIns="0" tIns="0" rIns="0" bIns="0" anchor="t">
            <a:noAutofit/>
          </a:bodyPr>
          <a:lstStyle/>
          <a:p>
            <a:pPr algn="l">
              <a:lnSpc>
                <a:spcPct val="118000"/>
              </a:lnSpc>
              <a:spcBef>
                <a:spcPts val="0"/>
              </a:spcBef>
              <a:spcAft>
                <a:spcPts val="400"/>
              </a:spcAft>
            </a:pPr>
            <a:r>
              <a:rPr sz="1050" b="0" i="1">
                <a:solidFill>
                  <a:srgbClr val="5A7480"/>
                </a:solidFill>
                <a:latin typeface="Calibri"/>
              </a:rPr>
              <a:t>Is the right volume getting the right dose?</a:t>
            </a:r>
          </a:p>
        </p:txBody>
      </p:sp>
      <p:sp>
        <p:nvSpPr>
          <p:cNvPr id="19" name="TextBox 18"/>
          <p:cNvSpPr txBox="1"/>
          <p:nvPr/>
        </p:nvSpPr>
        <p:spPr>
          <a:xfrm>
            <a:off x="9509760" y="2816352"/>
            <a:ext cx="2057400" cy="310896"/>
          </a:xfrm>
          <a:prstGeom prst="rect">
            <a:avLst/>
          </a:prstGeom>
          <a:noFill/>
        </p:spPr>
        <p:txBody>
          <a:bodyPr wrap="square" lIns="0" tIns="0" rIns="0" bIns="0" anchor="t">
            <a:noAutofit/>
          </a:bodyPr>
          <a:lstStyle/>
          <a:p>
            <a:pPr algn="r">
              <a:lnSpc>
                <a:spcPct val="118000"/>
              </a:lnSpc>
              <a:spcBef>
                <a:spcPts val="0"/>
              </a:spcBef>
              <a:spcAft>
                <a:spcPts val="400"/>
              </a:spcAft>
            </a:pPr>
            <a:r>
              <a:rPr sz="1150" b="1" i="0">
                <a:solidFill>
                  <a:srgbClr val="00A9E0"/>
                </a:solidFill>
                <a:latin typeface="Consolas"/>
              </a:rPr>
              <a:t>0:05 – 0:12</a:t>
            </a:r>
          </a:p>
        </p:txBody>
      </p:sp>
      <p:sp>
        <p:nvSpPr>
          <p:cNvPr id="20" name="TextBox 19"/>
          <p:cNvSpPr txBox="1"/>
          <p:nvPr/>
        </p:nvSpPr>
        <p:spPr>
          <a:xfrm>
            <a:off x="9509760" y="3127248"/>
            <a:ext cx="2057400" cy="274320"/>
          </a:xfrm>
          <a:prstGeom prst="rect">
            <a:avLst/>
          </a:prstGeom>
          <a:noFill/>
        </p:spPr>
        <p:txBody>
          <a:bodyPr wrap="square" lIns="0" tIns="0" rIns="0" bIns="0" anchor="t">
            <a:noAutofit/>
          </a:bodyPr>
          <a:lstStyle/>
          <a:p>
            <a:pPr algn="r">
              <a:lnSpc>
                <a:spcPct val="118000"/>
              </a:lnSpc>
              <a:spcBef>
                <a:spcPts val="0"/>
              </a:spcBef>
              <a:spcAft>
                <a:spcPts val="400"/>
              </a:spcAft>
            </a:pPr>
            <a:r>
              <a:rPr sz="800" b="0" i="0" spc="80">
                <a:solidFill>
                  <a:srgbClr val="5A7480"/>
                </a:solidFill>
                <a:latin typeface="Consolas"/>
              </a:rPr>
              <a:t>SLIDES 7–13</a:t>
            </a:r>
          </a:p>
        </p:txBody>
      </p:sp>
      <p:sp>
        <p:nvSpPr>
          <p:cNvPr id="21" name="Rounded Rectangle 20"/>
          <p:cNvSpPr/>
          <p:nvPr/>
        </p:nvSpPr>
        <p:spPr>
          <a:xfrm>
            <a:off x="4956048" y="3557015"/>
            <a:ext cx="6675120" cy="841248"/>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956048" y="3557015"/>
            <a:ext cx="64008" cy="841248"/>
          </a:xfrm>
          <a:prstGeom prst="rect">
            <a:avLst/>
          </a:prstGeom>
          <a:solidFill>
            <a:srgbClr val="1F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285232" y="3712463"/>
            <a:ext cx="4114800" cy="365760"/>
          </a:xfrm>
          <a:prstGeom prst="rect">
            <a:avLst/>
          </a:prstGeom>
          <a:noFill/>
        </p:spPr>
        <p:txBody>
          <a:bodyPr wrap="square" lIns="0" tIns="0" rIns="0" bIns="0" anchor="t">
            <a:noAutofit/>
          </a:bodyPr>
          <a:lstStyle/>
          <a:p>
            <a:pPr algn="l">
              <a:lnSpc>
                <a:spcPct val="118000"/>
              </a:lnSpc>
              <a:spcBef>
                <a:spcPts val="0"/>
              </a:spcBef>
              <a:spcAft>
                <a:spcPts val="400"/>
              </a:spcAft>
            </a:pPr>
            <a:r>
              <a:rPr sz="1400" b="1" i="0">
                <a:solidFill>
                  <a:srgbClr val="1FA85C"/>
                </a:solidFill>
                <a:latin typeface="Georgia"/>
              </a:rPr>
              <a:t>Block 2 · OAR Constraints</a:t>
            </a:r>
          </a:p>
        </p:txBody>
      </p:sp>
      <p:sp>
        <p:nvSpPr>
          <p:cNvPr id="24" name="TextBox 23"/>
          <p:cNvSpPr txBox="1"/>
          <p:nvPr/>
        </p:nvSpPr>
        <p:spPr>
          <a:xfrm>
            <a:off x="5285232" y="4041648"/>
            <a:ext cx="4160520" cy="310896"/>
          </a:xfrm>
          <a:prstGeom prst="rect">
            <a:avLst/>
          </a:prstGeom>
          <a:noFill/>
        </p:spPr>
        <p:txBody>
          <a:bodyPr wrap="square" lIns="0" tIns="0" rIns="0" bIns="0" anchor="t">
            <a:noAutofit/>
          </a:bodyPr>
          <a:lstStyle/>
          <a:p>
            <a:pPr algn="l">
              <a:lnSpc>
                <a:spcPct val="118000"/>
              </a:lnSpc>
              <a:spcBef>
                <a:spcPts val="0"/>
              </a:spcBef>
              <a:spcAft>
                <a:spcPts val="400"/>
              </a:spcAft>
            </a:pPr>
            <a:r>
              <a:rPr sz="1050" b="0" i="1">
                <a:solidFill>
                  <a:srgbClr val="5A7480"/>
                </a:solidFill>
                <a:latin typeface="Calibri"/>
              </a:rPr>
              <a:t>Is normal tissue safe — and how do we know?</a:t>
            </a:r>
          </a:p>
        </p:txBody>
      </p:sp>
      <p:sp>
        <p:nvSpPr>
          <p:cNvPr id="25" name="TextBox 24"/>
          <p:cNvSpPr txBox="1"/>
          <p:nvPr/>
        </p:nvSpPr>
        <p:spPr>
          <a:xfrm>
            <a:off x="9509760" y="3703320"/>
            <a:ext cx="2057400" cy="310896"/>
          </a:xfrm>
          <a:prstGeom prst="rect">
            <a:avLst/>
          </a:prstGeom>
          <a:noFill/>
        </p:spPr>
        <p:txBody>
          <a:bodyPr wrap="square" lIns="0" tIns="0" rIns="0" bIns="0" anchor="t">
            <a:noAutofit/>
          </a:bodyPr>
          <a:lstStyle/>
          <a:p>
            <a:pPr algn="r">
              <a:lnSpc>
                <a:spcPct val="118000"/>
              </a:lnSpc>
              <a:spcBef>
                <a:spcPts val="0"/>
              </a:spcBef>
              <a:spcAft>
                <a:spcPts val="400"/>
              </a:spcAft>
            </a:pPr>
            <a:r>
              <a:rPr sz="1150" b="1" i="0">
                <a:solidFill>
                  <a:srgbClr val="1FA85C"/>
                </a:solidFill>
                <a:latin typeface="Consolas"/>
              </a:rPr>
              <a:t>0:12 – 0:18</a:t>
            </a:r>
          </a:p>
        </p:txBody>
      </p:sp>
      <p:sp>
        <p:nvSpPr>
          <p:cNvPr id="26" name="TextBox 25"/>
          <p:cNvSpPr txBox="1"/>
          <p:nvPr/>
        </p:nvSpPr>
        <p:spPr>
          <a:xfrm>
            <a:off x="9509760" y="4014215"/>
            <a:ext cx="2057400" cy="274320"/>
          </a:xfrm>
          <a:prstGeom prst="rect">
            <a:avLst/>
          </a:prstGeom>
          <a:noFill/>
        </p:spPr>
        <p:txBody>
          <a:bodyPr wrap="square" lIns="0" tIns="0" rIns="0" bIns="0" anchor="t">
            <a:noAutofit/>
          </a:bodyPr>
          <a:lstStyle/>
          <a:p>
            <a:pPr algn="r">
              <a:lnSpc>
                <a:spcPct val="118000"/>
              </a:lnSpc>
              <a:spcBef>
                <a:spcPts val="0"/>
              </a:spcBef>
              <a:spcAft>
                <a:spcPts val="400"/>
              </a:spcAft>
            </a:pPr>
            <a:r>
              <a:rPr sz="800" b="0" i="0" spc="80">
                <a:solidFill>
                  <a:srgbClr val="5A7480"/>
                </a:solidFill>
                <a:latin typeface="Consolas"/>
              </a:rPr>
              <a:t>SLIDES 14–18</a:t>
            </a:r>
          </a:p>
        </p:txBody>
      </p:sp>
      <p:sp>
        <p:nvSpPr>
          <p:cNvPr id="27" name="Rounded Rectangle 26"/>
          <p:cNvSpPr/>
          <p:nvPr/>
        </p:nvSpPr>
        <p:spPr>
          <a:xfrm>
            <a:off x="4956048" y="4443983"/>
            <a:ext cx="6675120" cy="841248"/>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956048" y="4443983"/>
            <a:ext cx="64008" cy="841248"/>
          </a:xfrm>
          <a:prstGeom prst="rect">
            <a:avLst/>
          </a:prstGeom>
          <a:solidFill>
            <a:srgbClr val="F07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285232" y="4599431"/>
            <a:ext cx="4114800" cy="365760"/>
          </a:xfrm>
          <a:prstGeom prst="rect">
            <a:avLst/>
          </a:prstGeom>
          <a:noFill/>
        </p:spPr>
        <p:txBody>
          <a:bodyPr wrap="square" lIns="0" tIns="0" rIns="0" bIns="0" anchor="t">
            <a:noAutofit/>
          </a:bodyPr>
          <a:lstStyle/>
          <a:p>
            <a:pPr algn="l">
              <a:lnSpc>
                <a:spcPct val="118000"/>
              </a:lnSpc>
              <a:spcBef>
                <a:spcPts val="0"/>
              </a:spcBef>
              <a:spcAft>
                <a:spcPts val="400"/>
              </a:spcAft>
            </a:pPr>
            <a:r>
              <a:rPr sz="1400" b="1" i="0">
                <a:solidFill>
                  <a:srgbClr val="F07D2E"/>
                </a:solidFill>
                <a:latin typeface="Georgia"/>
              </a:rPr>
              <a:t>Block 3 · Technical Quality</a:t>
            </a:r>
          </a:p>
        </p:txBody>
      </p:sp>
      <p:sp>
        <p:nvSpPr>
          <p:cNvPr id="30" name="TextBox 29"/>
          <p:cNvSpPr txBox="1"/>
          <p:nvPr/>
        </p:nvSpPr>
        <p:spPr>
          <a:xfrm>
            <a:off x="5285232" y="4928616"/>
            <a:ext cx="4160520" cy="310896"/>
          </a:xfrm>
          <a:prstGeom prst="rect">
            <a:avLst/>
          </a:prstGeom>
          <a:noFill/>
        </p:spPr>
        <p:txBody>
          <a:bodyPr wrap="square" lIns="0" tIns="0" rIns="0" bIns="0" anchor="t">
            <a:noAutofit/>
          </a:bodyPr>
          <a:lstStyle/>
          <a:p>
            <a:pPr algn="l">
              <a:lnSpc>
                <a:spcPct val="118000"/>
              </a:lnSpc>
              <a:spcBef>
                <a:spcPts val="0"/>
              </a:spcBef>
              <a:spcAft>
                <a:spcPts val="400"/>
              </a:spcAft>
            </a:pPr>
            <a:r>
              <a:rPr sz="1050" b="0" i="1">
                <a:solidFill>
                  <a:srgbClr val="5A7480"/>
                </a:solidFill>
                <a:latin typeface="Calibri"/>
              </a:rPr>
              <a:t>Is the plan well built and deliverable?</a:t>
            </a:r>
          </a:p>
        </p:txBody>
      </p:sp>
      <p:sp>
        <p:nvSpPr>
          <p:cNvPr id="31" name="TextBox 30"/>
          <p:cNvSpPr txBox="1"/>
          <p:nvPr/>
        </p:nvSpPr>
        <p:spPr>
          <a:xfrm>
            <a:off x="9509760" y="4590288"/>
            <a:ext cx="2057400" cy="310896"/>
          </a:xfrm>
          <a:prstGeom prst="rect">
            <a:avLst/>
          </a:prstGeom>
          <a:noFill/>
        </p:spPr>
        <p:txBody>
          <a:bodyPr wrap="square" lIns="0" tIns="0" rIns="0" bIns="0" anchor="t">
            <a:noAutofit/>
          </a:bodyPr>
          <a:lstStyle/>
          <a:p>
            <a:pPr algn="r">
              <a:lnSpc>
                <a:spcPct val="118000"/>
              </a:lnSpc>
              <a:spcBef>
                <a:spcPts val="0"/>
              </a:spcBef>
              <a:spcAft>
                <a:spcPts val="400"/>
              </a:spcAft>
            </a:pPr>
            <a:r>
              <a:rPr sz="1150" b="1" i="0">
                <a:solidFill>
                  <a:srgbClr val="F07D2E"/>
                </a:solidFill>
                <a:latin typeface="Consolas"/>
              </a:rPr>
              <a:t>0:18 – 0:23</a:t>
            </a:r>
          </a:p>
        </p:txBody>
      </p:sp>
      <p:sp>
        <p:nvSpPr>
          <p:cNvPr id="32" name="TextBox 31"/>
          <p:cNvSpPr txBox="1"/>
          <p:nvPr/>
        </p:nvSpPr>
        <p:spPr>
          <a:xfrm>
            <a:off x="9509760" y="4901183"/>
            <a:ext cx="2057400" cy="274320"/>
          </a:xfrm>
          <a:prstGeom prst="rect">
            <a:avLst/>
          </a:prstGeom>
          <a:noFill/>
        </p:spPr>
        <p:txBody>
          <a:bodyPr wrap="square" lIns="0" tIns="0" rIns="0" bIns="0" anchor="t">
            <a:noAutofit/>
          </a:bodyPr>
          <a:lstStyle/>
          <a:p>
            <a:pPr algn="r">
              <a:lnSpc>
                <a:spcPct val="118000"/>
              </a:lnSpc>
              <a:spcBef>
                <a:spcPts val="0"/>
              </a:spcBef>
              <a:spcAft>
                <a:spcPts val="400"/>
              </a:spcAft>
            </a:pPr>
            <a:r>
              <a:rPr sz="800" b="0" i="0" spc="80">
                <a:solidFill>
                  <a:srgbClr val="5A7480"/>
                </a:solidFill>
                <a:latin typeface="Consolas"/>
              </a:rPr>
              <a:t>SLIDES 19–24</a:t>
            </a:r>
          </a:p>
        </p:txBody>
      </p:sp>
      <p:sp>
        <p:nvSpPr>
          <p:cNvPr id="33" name="Rounded Rectangle 32"/>
          <p:cNvSpPr/>
          <p:nvPr/>
        </p:nvSpPr>
        <p:spPr>
          <a:xfrm>
            <a:off x="4956048" y="5330951"/>
            <a:ext cx="6675120" cy="841248"/>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956048" y="5330951"/>
            <a:ext cx="64008" cy="841248"/>
          </a:xfrm>
          <a:prstGeom prst="rect">
            <a:avLst/>
          </a:prstGeom>
          <a:solidFill>
            <a:srgbClr val="143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285232" y="5486399"/>
            <a:ext cx="4114800" cy="365760"/>
          </a:xfrm>
          <a:prstGeom prst="rect">
            <a:avLst/>
          </a:prstGeom>
          <a:noFill/>
        </p:spPr>
        <p:txBody>
          <a:bodyPr wrap="square" lIns="0" tIns="0" rIns="0" bIns="0" anchor="t">
            <a:noAutofit/>
          </a:bodyPr>
          <a:lstStyle/>
          <a:p>
            <a:pPr algn="l">
              <a:lnSpc>
                <a:spcPct val="118000"/>
              </a:lnSpc>
              <a:spcBef>
                <a:spcPts val="0"/>
              </a:spcBef>
              <a:spcAft>
                <a:spcPts val="400"/>
              </a:spcAft>
            </a:pPr>
            <a:r>
              <a:rPr sz="1400" b="1" i="0">
                <a:solidFill>
                  <a:srgbClr val="14313C"/>
                </a:solidFill>
                <a:latin typeface="Georgia"/>
              </a:rPr>
              <a:t>Consolidate &amp; routine</a:t>
            </a:r>
          </a:p>
        </p:txBody>
      </p:sp>
      <p:sp>
        <p:nvSpPr>
          <p:cNvPr id="36" name="TextBox 35"/>
          <p:cNvSpPr txBox="1"/>
          <p:nvPr/>
        </p:nvSpPr>
        <p:spPr>
          <a:xfrm>
            <a:off x="5285232" y="5815583"/>
            <a:ext cx="4160520" cy="310896"/>
          </a:xfrm>
          <a:prstGeom prst="rect">
            <a:avLst/>
          </a:prstGeom>
          <a:noFill/>
        </p:spPr>
        <p:txBody>
          <a:bodyPr wrap="square" lIns="0" tIns="0" rIns="0" bIns="0" anchor="t">
            <a:noAutofit/>
          </a:bodyPr>
          <a:lstStyle/>
          <a:p>
            <a:pPr algn="l">
              <a:lnSpc>
                <a:spcPct val="118000"/>
              </a:lnSpc>
              <a:spcBef>
                <a:spcPts val="0"/>
              </a:spcBef>
              <a:spcAft>
                <a:spcPts val="400"/>
              </a:spcAft>
            </a:pPr>
            <a:r>
              <a:rPr sz="1050" b="0" i="1">
                <a:solidFill>
                  <a:srgbClr val="5A7480"/>
                </a:solidFill>
                <a:latin typeface="Calibri"/>
              </a:rPr>
              <a:t>Scorecard tiers · evaluation routine · close</a:t>
            </a:r>
          </a:p>
        </p:txBody>
      </p:sp>
      <p:sp>
        <p:nvSpPr>
          <p:cNvPr id="37" name="TextBox 36"/>
          <p:cNvSpPr txBox="1"/>
          <p:nvPr/>
        </p:nvSpPr>
        <p:spPr>
          <a:xfrm>
            <a:off x="9509760" y="5477255"/>
            <a:ext cx="2057400" cy="310896"/>
          </a:xfrm>
          <a:prstGeom prst="rect">
            <a:avLst/>
          </a:prstGeom>
          <a:noFill/>
        </p:spPr>
        <p:txBody>
          <a:bodyPr wrap="square" lIns="0" tIns="0" rIns="0" bIns="0" anchor="t">
            <a:noAutofit/>
          </a:bodyPr>
          <a:lstStyle/>
          <a:p>
            <a:pPr algn="r">
              <a:lnSpc>
                <a:spcPct val="118000"/>
              </a:lnSpc>
              <a:spcBef>
                <a:spcPts val="0"/>
              </a:spcBef>
              <a:spcAft>
                <a:spcPts val="400"/>
              </a:spcAft>
            </a:pPr>
            <a:r>
              <a:rPr sz="1150" b="1" i="0">
                <a:solidFill>
                  <a:srgbClr val="14313C"/>
                </a:solidFill>
                <a:latin typeface="Consolas"/>
              </a:rPr>
              <a:t>0:23 – 0:25</a:t>
            </a:r>
          </a:p>
        </p:txBody>
      </p:sp>
      <p:sp>
        <p:nvSpPr>
          <p:cNvPr id="38" name="TextBox 37"/>
          <p:cNvSpPr txBox="1"/>
          <p:nvPr/>
        </p:nvSpPr>
        <p:spPr>
          <a:xfrm>
            <a:off x="9509760" y="5788151"/>
            <a:ext cx="2057400" cy="274320"/>
          </a:xfrm>
          <a:prstGeom prst="rect">
            <a:avLst/>
          </a:prstGeom>
          <a:noFill/>
        </p:spPr>
        <p:txBody>
          <a:bodyPr wrap="square" lIns="0" tIns="0" rIns="0" bIns="0" anchor="t">
            <a:noAutofit/>
          </a:bodyPr>
          <a:lstStyle/>
          <a:p>
            <a:pPr algn="r">
              <a:lnSpc>
                <a:spcPct val="118000"/>
              </a:lnSpc>
              <a:spcBef>
                <a:spcPts val="0"/>
              </a:spcBef>
              <a:spcAft>
                <a:spcPts val="400"/>
              </a:spcAft>
            </a:pPr>
            <a:r>
              <a:rPr sz="800" b="0" i="0" spc="80">
                <a:solidFill>
                  <a:srgbClr val="5A7480"/>
                </a:solidFill>
                <a:latin typeface="Consolas"/>
              </a:rPr>
              <a:t>SLIDES 25–27</a:t>
            </a:r>
          </a:p>
        </p:txBody>
      </p:sp>
      <p:sp>
        <p:nvSpPr>
          <p:cNvPr id="39" name="TextBox 38"/>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40" name="TextBox 39"/>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02 / 34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F07D2E"/>
                </a:solidFill>
                <a:latin typeface="Consolas"/>
              </a:rPr>
              <a:t>THE CENTRAL QUESTION</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a:solidFill>
                  <a:srgbClr val="00A9E0"/>
                </a:solidFill>
                <a:latin typeface="Georgia"/>
              </a:rPr>
              <a:t>A good plan answers four questions</a:t>
            </a:r>
          </a:p>
        </p:txBody>
      </p:sp>
      <p:sp>
        <p:nvSpPr>
          <p:cNvPr id="4" name="TextBox 3"/>
          <p:cNvSpPr txBox="1"/>
          <p:nvPr/>
        </p:nvSpPr>
        <p:spPr>
          <a:xfrm>
            <a:off x="566928" y="1591056"/>
            <a:ext cx="10972800" cy="457200"/>
          </a:xfrm>
          <a:prstGeom prst="rect">
            <a:avLst/>
          </a:prstGeom>
          <a:noFill/>
        </p:spPr>
        <p:txBody>
          <a:bodyPr wrap="square" lIns="0" tIns="0" rIns="0" bIns="0" anchor="t">
            <a:noAutofit/>
          </a:bodyPr>
          <a:lstStyle/>
          <a:p>
            <a:pPr algn="l">
              <a:lnSpc>
                <a:spcPct val="118000"/>
              </a:lnSpc>
              <a:spcBef>
                <a:spcPts val="0"/>
              </a:spcBef>
              <a:spcAft>
                <a:spcPts val="400"/>
              </a:spcAft>
            </a:pPr>
            <a:r>
              <a:rPr sz="1350" b="0" i="1" dirty="0">
                <a:solidFill>
                  <a:srgbClr val="5A7480"/>
                </a:solidFill>
                <a:latin typeface="Calibri"/>
              </a:rPr>
              <a:t>Run every plan past these four lenses, in order. A plan is never “perfect” </a:t>
            </a:r>
            <a:r>
              <a:rPr lang="en-US" sz="1350" b="0" i="1" dirty="0">
                <a:solidFill>
                  <a:srgbClr val="5A7480"/>
                </a:solidFill>
                <a:latin typeface="Calibri"/>
              </a:rPr>
              <a:t>-</a:t>
            </a:r>
            <a:r>
              <a:rPr sz="1350" b="0" i="1" dirty="0">
                <a:solidFill>
                  <a:srgbClr val="5A7480"/>
                </a:solidFill>
                <a:latin typeface="Calibri"/>
              </a:rPr>
              <a:t> it is the best defensible compromise.</a:t>
            </a:r>
          </a:p>
        </p:txBody>
      </p:sp>
      <p:sp>
        <p:nvSpPr>
          <p:cNvPr id="5" name="Rounded Rectangle 4"/>
          <p:cNvSpPr/>
          <p:nvPr/>
        </p:nvSpPr>
        <p:spPr>
          <a:xfrm>
            <a:off x="566928" y="2212848"/>
            <a:ext cx="5458968" cy="1975104"/>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77824" y="2505456"/>
            <a:ext cx="566928" cy="566928"/>
          </a:xfrm>
          <a:prstGeom prst="ellipse">
            <a:avLst/>
          </a:prstGeom>
          <a:solidFill>
            <a:srgbClr val="E2EFF4"/>
          </a:solidFill>
          <a:ln w="19050">
            <a:solidFill>
              <a:srgbClr val="00A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77824" y="2505456"/>
            <a:ext cx="566928" cy="566928"/>
          </a:xfrm>
          <a:prstGeom prst="rect">
            <a:avLst/>
          </a:prstGeom>
          <a:noFill/>
        </p:spPr>
        <p:txBody>
          <a:bodyPr wrap="square" lIns="0" tIns="0" rIns="0" bIns="0" anchor="ctr">
            <a:noAutofit/>
          </a:bodyPr>
          <a:lstStyle/>
          <a:p>
            <a:pPr algn="ctr">
              <a:lnSpc>
                <a:spcPct val="118000"/>
              </a:lnSpc>
              <a:spcBef>
                <a:spcPts val="0"/>
              </a:spcBef>
              <a:spcAft>
                <a:spcPts val="400"/>
              </a:spcAft>
            </a:pPr>
            <a:r>
              <a:rPr sz="1800" b="1" i="0">
                <a:solidFill>
                  <a:srgbClr val="00A9E0"/>
                </a:solidFill>
                <a:latin typeface="Georgia"/>
              </a:rPr>
              <a:t>01</a:t>
            </a:r>
          </a:p>
        </p:txBody>
      </p:sp>
      <p:sp>
        <p:nvSpPr>
          <p:cNvPr id="8" name="TextBox 7"/>
          <p:cNvSpPr txBox="1"/>
          <p:nvPr/>
        </p:nvSpPr>
        <p:spPr>
          <a:xfrm>
            <a:off x="1627631" y="2523744"/>
            <a:ext cx="4160520" cy="502920"/>
          </a:xfrm>
          <a:prstGeom prst="rect">
            <a:avLst/>
          </a:prstGeom>
          <a:noFill/>
        </p:spPr>
        <p:txBody>
          <a:bodyPr wrap="square" lIns="0" tIns="0" rIns="0" bIns="0" anchor="t">
            <a:noAutofit/>
          </a:bodyPr>
          <a:lstStyle/>
          <a:p>
            <a:pPr algn="l">
              <a:lnSpc>
                <a:spcPct val="105000"/>
              </a:lnSpc>
              <a:spcBef>
                <a:spcPts val="0"/>
              </a:spcBef>
              <a:spcAft>
                <a:spcPts val="400"/>
              </a:spcAft>
            </a:pPr>
            <a:r>
              <a:rPr sz="1650" b="1" i="0">
                <a:solidFill>
                  <a:srgbClr val="14313C"/>
                </a:solidFill>
                <a:latin typeface="Georgia"/>
              </a:rPr>
              <a:t>Does it treat the target?</a:t>
            </a:r>
          </a:p>
        </p:txBody>
      </p:sp>
      <p:sp>
        <p:nvSpPr>
          <p:cNvPr id="9" name="TextBox 8"/>
          <p:cNvSpPr txBox="1"/>
          <p:nvPr/>
        </p:nvSpPr>
        <p:spPr>
          <a:xfrm>
            <a:off x="1627631" y="3081528"/>
            <a:ext cx="4206240" cy="1005840"/>
          </a:xfrm>
          <a:prstGeom prst="rect">
            <a:avLst/>
          </a:prstGeom>
          <a:noFill/>
        </p:spPr>
        <p:txBody>
          <a:bodyPr wrap="square" lIns="0" tIns="0" rIns="0" bIns="0" anchor="t">
            <a:noAutofit/>
          </a:bodyPr>
          <a:lstStyle/>
          <a:p>
            <a:pPr algn="l">
              <a:lnSpc>
                <a:spcPct val="126000"/>
              </a:lnSpc>
              <a:spcBef>
                <a:spcPts val="0"/>
              </a:spcBef>
              <a:spcAft>
                <a:spcPts val="400"/>
              </a:spcAft>
            </a:pPr>
            <a:r>
              <a:rPr sz="1270" b="0" i="0" dirty="0">
                <a:solidFill>
                  <a:srgbClr val="5A7480"/>
                </a:solidFill>
                <a:latin typeface="Calibri"/>
              </a:rPr>
              <a:t>Adequate dose to the whole target volume — no geographic miss, no cold spot where </a:t>
            </a:r>
            <a:r>
              <a:rPr sz="1270" b="0" i="0" dirty="0" err="1">
                <a:solidFill>
                  <a:srgbClr val="5A7480"/>
                </a:solidFill>
                <a:latin typeface="Calibri"/>
              </a:rPr>
              <a:t>tumour</a:t>
            </a:r>
            <a:r>
              <a:rPr sz="1270" b="0" i="0" dirty="0">
                <a:solidFill>
                  <a:srgbClr val="5A7480"/>
                </a:solidFill>
                <a:latin typeface="Calibri"/>
              </a:rPr>
              <a:t> lives.</a:t>
            </a:r>
          </a:p>
        </p:txBody>
      </p:sp>
      <p:sp>
        <p:nvSpPr>
          <p:cNvPr id="10" name="Rounded Rectangle 9"/>
          <p:cNvSpPr/>
          <p:nvPr/>
        </p:nvSpPr>
        <p:spPr>
          <a:xfrm>
            <a:off x="6163056" y="2212848"/>
            <a:ext cx="5458968" cy="1975104"/>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73952" y="2505456"/>
            <a:ext cx="566928" cy="566928"/>
          </a:xfrm>
          <a:prstGeom prst="ellipse">
            <a:avLst/>
          </a:prstGeom>
          <a:solidFill>
            <a:srgbClr val="E2EFF4"/>
          </a:solidFill>
          <a:ln w="19050">
            <a:solidFill>
              <a:srgbClr val="1FA8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73952" y="2505456"/>
            <a:ext cx="566928" cy="566928"/>
          </a:xfrm>
          <a:prstGeom prst="rect">
            <a:avLst/>
          </a:prstGeom>
          <a:noFill/>
        </p:spPr>
        <p:txBody>
          <a:bodyPr wrap="square" lIns="0" tIns="0" rIns="0" bIns="0" anchor="ctr">
            <a:noAutofit/>
          </a:bodyPr>
          <a:lstStyle/>
          <a:p>
            <a:pPr algn="ctr">
              <a:lnSpc>
                <a:spcPct val="118000"/>
              </a:lnSpc>
              <a:spcBef>
                <a:spcPts val="0"/>
              </a:spcBef>
              <a:spcAft>
                <a:spcPts val="400"/>
              </a:spcAft>
            </a:pPr>
            <a:r>
              <a:rPr sz="1800" b="1" i="0">
                <a:solidFill>
                  <a:srgbClr val="1FA85C"/>
                </a:solidFill>
                <a:latin typeface="Georgia"/>
              </a:rPr>
              <a:t>02</a:t>
            </a:r>
          </a:p>
        </p:txBody>
      </p:sp>
      <p:sp>
        <p:nvSpPr>
          <p:cNvPr id="13" name="TextBox 12"/>
          <p:cNvSpPr txBox="1"/>
          <p:nvPr/>
        </p:nvSpPr>
        <p:spPr>
          <a:xfrm>
            <a:off x="7223760" y="2523744"/>
            <a:ext cx="4160520" cy="502920"/>
          </a:xfrm>
          <a:prstGeom prst="rect">
            <a:avLst/>
          </a:prstGeom>
          <a:noFill/>
        </p:spPr>
        <p:txBody>
          <a:bodyPr wrap="square" lIns="0" tIns="0" rIns="0" bIns="0" anchor="t">
            <a:noAutofit/>
          </a:bodyPr>
          <a:lstStyle/>
          <a:p>
            <a:pPr algn="l">
              <a:lnSpc>
                <a:spcPct val="105000"/>
              </a:lnSpc>
              <a:spcBef>
                <a:spcPts val="0"/>
              </a:spcBef>
              <a:spcAft>
                <a:spcPts val="400"/>
              </a:spcAft>
            </a:pPr>
            <a:r>
              <a:rPr sz="1650" b="1" i="0">
                <a:solidFill>
                  <a:srgbClr val="14313C"/>
                </a:solidFill>
                <a:latin typeface="Georgia"/>
              </a:rPr>
              <a:t>Does it spare normal tissue?</a:t>
            </a:r>
          </a:p>
        </p:txBody>
      </p:sp>
      <p:sp>
        <p:nvSpPr>
          <p:cNvPr id="14" name="TextBox 13"/>
          <p:cNvSpPr txBox="1"/>
          <p:nvPr/>
        </p:nvSpPr>
        <p:spPr>
          <a:xfrm>
            <a:off x="7223760" y="3081528"/>
            <a:ext cx="4206240" cy="1005840"/>
          </a:xfrm>
          <a:prstGeom prst="rect">
            <a:avLst/>
          </a:prstGeom>
          <a:noFill/>
        </p:spPr>
        <p:txBody>
          <a:bodyPr wrap="square" lIns="0" tIns="0" rIns="0" bIns="0" anchor="t">
            <a:noAutofit/>
          </a:bodyPr>
          <a:lstStyle/>
          <a:p>
            <a:pPr algn="l">
              <a:lnSpc>
                <a:spcPct val="126000"/>
              </a:lnSpc>
              <a:spcBef>
                <a:spcPts val="0"/>
              </a:spcBef>
              <a:spcAft>
                <a:spcPts val="400"/>
              </a:spcAft>
            </a:pPr>
            <a:r>
              <a:rPr sz="1270" b="0" i="0">
                <a:solidFill>
                  <a:srgbClr val="5A7480"/>
                </a:solidFill>
                <a:latin typeface="Calibri"/>
              </a:rPr>
              <a:t>Every organ at risk within tolerance — judged against the right dose-volume metric for that organ.</a:t>
            </a:r>
          </a:p>
        </p:txBody>
      </p:sp>
      <p:sp>
        <p:nvSpPr>
          <p:cNvPr id="15" name="Rounded Rectangle 14"/>
          <p:cNvSpPr/>
          <p:nvPr/>
        </p:nvSpPr>
        <p:spPr>
          <a:xfrm>
            <a:off x="566928" y="4334256"/>
            <a:ext cx="5458968" cy="1975104"/>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77824" y="4626864"/>
            <a:ext cx="566928" cy="566928"/>
          </a:xfrm>
          <a:prstGeom prst="ellipse">
            <a:avLst/>
          </a:prstGeom>
          <a:solidFill>
            <a:srgbClr val="E2EFF4"/>
          </a:solidFill>
          <a:ln w="19050">
            <a:solidFill>
              <a:srgbClr val="F07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77824" y="4626864"/>
            <a:ext cx="566928" cy="566928"/>
          </a:xfrm>
          <a:prstGeom prst="rect">
            <a:avLst/>
          </a:prstGeom>
          <a:noFill/>
        </p:spPr>
        <p:txBody>
          <a:bodyPr wrap="square" lIns="0" tIns="0" rIns="0" bIns="0" anchor="ctr">
            <a:noAutofit/>
          </a:bodyPr>
          <a:lstStyle/>
          <a:p>
            <a:pPr algn="ctr">
              <a:lnSpc>
                <a:spcPct val="118000"/>
              </a:lnSpc>
              <a:spcBef>
                <a:spcPts val="0"/>
              </a:spcBef>
              <a:spcAft>
                <a:spcPts val="400"/>
              </a:spcAft>
            </a:pPr>
            <a:r>
              <a:rPr sz="1800" b="1" i="0">
                <a:solidFill>
                  <a:srgbClr val="F07D2E"/>
                </a:solidFill>
                <a:latin typeface="Georgia"/>
              </a:rPr>
              <a:t>03</a:t>
            </a:r>
          </a:p>
        </p:txBody>
      </p:sp>
      <p:sp>
        <p:nvSpPr>
          <p:cNvPr id="18" name="TextBox 17"/>
          <p:cNvSpPr txBox="1"/>
          <p:nvPr/>
        </p:nvSpPr>
        <p:spPr>
          <a:xfrm>
            <a:off x="1627631" y="4645152"/>
            <a:ext cx="4160520" cy="502920"/>
          </a:xfrm>
          <a:prstGeom prst="rect">
            <a:avLst/>
          </a:prstGeom>
          <a:noFill/>
        </p:spPr>
        <p:txBody>
          <a:bodyPr wrap="square" lIns="0" tIns="0" rIns="0" bIns="0" anchor="t">
            <a:noAutofit/>
          </a:bodyPr>
          <a:lstStyle/>
          <a:p>
            <a:pPr algn="l">
              <a:lnSpc>
                <a:spcPct val="105000"/>
              </a:lnSpc>
              <a:spcBef>
                <a:spcPts val="0"/>
              </a:spcBef>
              <a:spcAft>
                <a:spcPts val="400"/>
              </a:spcAft>
            </a:pPr>
            <a:r>
              <a:rPr sz="1650" b="1" i="0">
                <a:solidFill>
                  <a:srgbClr val="14313C"/>
                </a:solidFill>
                <a:latin typeface="Georgia"/>
              </a:rPr>
              <a:t>Is it technically sound?</a:t>
            </a:r>
          </a:p>
        </p:txBody>
      </p:sp>
      <p:sp>
        <p:nvSpPr>
          <p:cNvPr id="19" name="TextBox 18"/>
          <p:cNvSpPr txBox="1"/>
          <p:nvPr/>
        </p:nvSpPr>
        <p:spPr>
          <a:xfrm>
            <a:off x="1627631" y="5202936"/>
            <a:ext cx="4206240" cy="1005840"/>
          </a:xfrm>
          <a:prstGeom prst="rect">
            <a:avLst/>
          </a:prstGeom>
          <a:noFill/>
        </p:spPr>
        <p:txBody>
          <a:bodyPr wrap="square" lIns="0" tIns="0" rIns="0" bIns="0" anchor="t">
            <a:noAutofit/>
          </a:bodyPr>
          <a:lstStyle/>
          <a:p>
            <a:pPr algn="l">
              <a:lnSpc>
                <a:spcPct val="126000"/>
              </a:lnSpc>
              <a:spcBef>
                <a:spcPts val="0"/>
              </a:spcBef>
              <a:spcAft>
                <a:spcPts val="400"/>
              </a:spcAft>
            </a:pPr>
            <a:r>
              <a:rPr sz="1270" b="0" i="0">
                <a:solidFill>
                  <a:srgbClr val="5A7480"/>
                </a:solidFill>
                <a:latin typeface="Calibri"/>
              </a:rPr>
              <a:t>Sensible isocentre, beam angles, weighting and shaping — the plan is built, not just generated.</a:t>
            </a:r>
          </a:p>
        </p:txBody>
      </p:sp>
      <p:sp>
        <p:nvSpPr>
          <p:cNvPr id="20" name="Rounded Rectangle 19"/>
          <p:cNvSpPr/>
          <p:nvPr/>
        </p:nvSpPr>
        <p:spPr>
          <a:xfrm>
            <a:off x="6163056" y="4334256"/>
            <a:ext cx="5458968" cy="1975104"/>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73952" y="4626864"/>
            <a:ext cx="566928" cy="566928"/>
          </a:xfrm>
          <a:prstGeom prst="ellipse">
            <a:avLst/>
          </a:prstGeom>
          <a:solidFill>
            <a:srgbClr val="E2EFF4"/>
          </a:solidFill>
          <a:ln w="19050">
            <a:solidFill>
              <a:srgbClr val="DA3B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73952" y="4626864"/>
            <a:ext cx="566928" cy="566928"/>
          </a:xfrm>
          <a:prstGeom prst="rect">
            <a:avLst/>
          </a:prstGeom>
          <a:noFill/>
        </p:spPr>
        <p:txBody>
          <a:bodyPr wrap="square" lIns="0" tIns="0" rIns="0" bIns="0" anchor="ctr">
            <a:noAutofit/>
          </a:bodyPr>
          <a:lstStyle/>
          <a:p>
            <a:pPr algn="ctr">
              <a:lnSpc>
                <a:spcPct val="118000"/>
              </a:lnSpc>
              <a:spcBef>
                <a:spcPts val="0"/>
              </a:spcBef>
              <a:spcAft>
                <a:spcPts val="400"/>
              </a:spcAft>
            </a:pPr>
            <a:r>
              <a:rPr sz="1800" b="1" i="0">
                <a:solidFill>
                  <a:srgbClr val="DA3B40"/>
                </a:solidFill>
                <a:latin typeface="Georgia"/>
              </a:rPr>
              <a:t>04</a:t>
            </a:r>
          </a:p>
        </p:txBody>
      </p:sp>
      <p:sp>
        <p:nvSpPr>
          <p:cNvPr id="23" name="TextBox 22"/>
          <p:cNvSpPr txBox="1"/>
          <p:nvPr/>
        </p:nvSpPr>
        <p:spPr>
          <a:xfrm>
            <a:off x="7223760" y="4645152"/>
            <a:ext cx="4160520" cy="502920"/>
          </a:xfrm>
          <a:prstGeom prst="rect">
            <a:avLst/>
          </a:prstGeom>
          <a:noFill/>
        </p:spPr>
        <p:txBody>
          <a:bodyPr wrap="square" lIns="0" tIns="0" rIns="0" bIns="0" anchor="t">
            <a:noAutofit/>
          </a:bodyPr>
          <a:lstStyle/>
          <a:p>
            <a:pPr algn="l">
              <a:lnSpc>
                <a:spcPct val="105000"/>
              </a:lnSpc>
              <a:spcBef>
                <a:spcPts val="0"/>
              </a:spcBef>
              <a:spcAft>
                <a:spcPts val="400"/>
              </a:spcAft>
            </a:pPr>
            <a:r>
              <a:rPr sz="1650" b="1" i="0">
                <a:solidFill>
                  <a:srgbClr val="14313C"/>
                </a:solidFill>
                <a:latin typeface="Georgia"/>
              </a:rPr>
              <a:t>Is it deliverable &amp; robust?</a:t>
            </a:r>
          </a:p>
        </p:txBody>
      </p:sp>
      <p:sp>
        <p:nvSpPr>
          <p:cNvPr id="24" name="TextBox 23"/>
          <p:cNvSpPr txBox="1"/>
          <p:nvPr/>
        </p:nvSpPr>
        <p:spPr>
          <a:xfrm>
            <a:off x="7223760" y="5202936"/>
            <a:ext cx="4206240" cy="1005840"/>
          </a:xfrm>
          <a:prstGeom prst="rect">
            <a:avLst/>
          </a:prstGeom>
          <a:noFill/>
        </p:spPr>
        <p:txBody>
          <a:bodyPr wrap="square" lIns="0" tIns="0" rIns="0" bIns="0" anchor="t">
            <a:noAutofit/>
          </a:bodyPr>
          <a:lstStyle/>
          <a:p>
            <a:pPr algn="l">
              <a:lnSpc>
                <a:spcPct val="126000"/>
              </a:lnSpc>
              <a:spcBef>
                <a:spcPts val="0"/>
              </a:spcBef>
              <a:spcAft>
                <a:spcPts val="400"/>
              </a:spcAft>
            </a:pPr>
            <a:r>
              <a:rPr sz="1270" b="0" i="0">
                <a:solidFill>
                  <a:srgbClr val="5A7480"/>
                </a:solidFill>
                <a:latin typeface="Calibri"/>
              </a:rPr>
              <a:t>Achievable on the machine, and stable to realistic setup and anatomy variation. Undeliverable ≠ good.</a:t>
            </a:r>
          </a:p>
        </p:txBody>
      </p:sp>
      <p:sp>
        <p:nvSpPr>
          <p:cNvPr id="25" name="TextBox 24"/>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26" name="TextBox 25"/>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03 / 34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00A9E0"/>
                </a:solidFill>
                <a:latin typeface="Consolas"/>
              </a:rPr>
              <a:t>THE REALITY OF PLAN EVALUATION</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dirty="0">
                <a:solidFill>
                  <a:srgbClr val="00A9E0"/>
                </a:solidFill>
                <a:latin typeface="Georgia"/>
              </a:rPr>
              <a:t>Bad, acceptable, trade-off </a:t>
            </a:r>
            <a:r>
              <a:rPr lang="en-US" sz="2900" b="1" i="0" dirty="0">
                <a:solidFill>
                  <a:srgbClr val="00A9E0"/>
                </a:solidFill>
                <a:latin typeface="Georgia"/>
              </a:rPr>
              <a:t>- </a:t>
            </a:r>
            <a:r>
              <a:rPr sz="2900" b="1" i="0" dirty="0">
                <a:solidFill>
                  <a:srgbClr val="00A9E0"/>
                </a:solidFill>
                <a:latin typeface="Georgia"/>
              </a:rPr>
              <a:t>or good?</a:t>
            </a:r>
          </a:p>
        </p:txBody>
      </p:sp>
      <p:sp>
        <p:nvSpPr>
          <p:cNvPr id="4" name="TextBox 3"/>
          <p:cNvSpPr txBox="1"/>
          <p:nvPr/>
        </p:nvSpPr>
        <p:spPr>
          <a:xfrm>
            <a:off x="566928" y="1572768"/>
            <a:ext cx="11064240" cy="457200"/>
          </a:xfrm>
          <a:prstGeom prst="rect">
            <a:avLst/>
          </a:prstGeom>
          <a:noFill/>
        </p:spPr>
        <p:txBody>
          <a:bodyPr wrap="square" lIns="0" tIns="0" rIns="0" bIns="0" anchor="t">
            <a:noAutofit/>
          </a:bodyPr>
          <a:lstStyle/>
          <a:p>
            <a:pPr algn="l">
              <a:lnSpc>
                <a:spcPct val="118000"/>
              </a:lnSpc>
              <a:spcBef>
                <a:spcPts val="0"/>
              </a:spcBef>
              <a:spcAft>
                <a:spcPts val="400"/>
              </a:spcAft>
            </a:pPr>
            <a:r>
              <a:rPr sz="1340" b="0" i="1" dirty="0">
                <a:solidFill>
                  <a:srgbClr val="5A7480"/>
                </a:solidFill>
                <a:latin typeface="Calibri"/>
              </a:rPr>
              <a:t>Few plans are clearly bad. The hard </a:t>
            </a:r>
            <a:r>
              <a:rPr lang="en-US" sz="1340" b="0" i="1" dirty="0">
                <a:solidFill>
                  <a:srgbClr val="5A7480"/>
                </a:solidFill>
                <a:latin typeface="Calibri"/>
              </a:rPr>
              <a:t>-</a:t>
            </a:r>
            <a:r>
              <a:rPr sz="1340" b="0" i="1" dirty="0">
                <a:solidFill>
                  <a:srgbClr val="5A7480"/>
                </a:solidFill>
                <a:latin typeface="Calibri"/>
              </a:rPr>
              <a:t> and teachable </a:t>
            </a:r>
            <a:r>
              <a:rPr lang="en-US" sz="1340" b="0" i="1" dirty="0">
                <a:solidFill>
                  <a:srgbClr val="5A7480"/>
                </a:solidFill>
                <a:latin typeface="Calibri"/>
              </a:rPr>
              <a:t>-</a:t>
            </a:r>
            <a:r>
              <a:rPr sz="1340" b="0" i="1" dirty="0">
                <a:solidFill>
                  <a:srgbClr val="5A7480"/>
                </a:solidFill>
                <a:latin typeface="Calibri"/>
              </a:rPr>
              <a:t> judgement lives in the middle two categories.</a:t>
            </a:r>
          </a:p>
        </p:txBody>
      </p:sp>
      <p:sp>
        <p:nvSpPr>
          <p:cNvPr id="5" name="Rounded Rectangle 4"/>
          <p:cNvSpPr/>
          <p:nvPr/>
        </p:nvSpPr>
        <p:spPr>
          <a:xfrm>
            <a:off x="566928" y="2212848"/>
            <a:ext cx="2670048" cy="1874519"/>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66928" y="2212848"/>
            <a:ext cx="2670048" cy="73152"/>
          </a:xfrm>
          <a:prstGeom prst="rect">
            <a:avLst/>
          </a:prstGeom>
          <a:solidFill>
            <a:srgbClr val="DA3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2432304"/>
            <a:ext cx="2286000" cy="365760"/>
          </a:xfrm>
          <a:prstGeom prst="rect">
            <a:avLst/>
          </a:prstGeom>
          <a:noFill/>
        </p:spPr>
        <p:txBody>
          <a:bodyPr wrap="square" lIns="0" tIns="0" rIns="0" bIns="0" anchor="t">
            <a:noAutofit/>
          </a:bodyPr>
          <a:lstStyle/>
          <a:p>
            <a:pPr algn="l">
              <a:lnSpc>
                <a:spcPct val="118000"/>
              </a:lnSpc>
              <a:spcBef>
                <a:spcPts val="0"/>
              </a:spcBef>
              <a:spcAft>
                <a:spcPts val="400"/>
              </a:spcAft>
            </a:pPr>
            <a:r>
              <a:rPr sz="1100" b="1" i="0" spc="120">
                <a:solidFill>
                  <a:srgbClr val="DA3B40"/>
                </a:solidFill>
                <a:latin typeface="Consolas"/>
              </a:rPr>
              <a:t>CLEARLY BAD</a:t>
            </a:r>
          </a:p>
        </p:txBody>
      </p:sp>
      <p:sp>
        <p:nvSpPr>
          <p:cNvPr id="8" name="TextBox 7"/>
          <p:cNvSpPr txBox="1"/>
          <p:nvPr/>
        </p:nvSpPr>
        <p:spPr>
          <a:xfrm>
            <a:off x="804672" y="2779776"/>
            <a:ext cx="2249424" cy="1188720"/>
          </a:xfrm>
          <a:prstGeom prst="rect">
            <a:avLst/>
          </a:prstGeom>
          <a:noFill/>
        </p:spPr>
        <p:txBody>
          <a:bodyPr wrap="square" lIns="0" tIns="0" rIns="0" bIns="0" anchor="t">
            <a:noAutofit/>
          </a:bodyPr>
          <a:lstStyle/>
          <a:p>
            <a:pPr algn="l">
              <a:lnSpc>
                <a:spcPct val="130000"/>
              </a:lnSpc>
              <a:spcBef>
                <a:spcPts val="0"/>
              </a:spcBef>
              <a:spcAft>
                <a:spcPts val="400"/>
              </a:spcAft>
            </a:pPr>
            <a:r>
              <a:rPr sz="1200" b="0" i="0">
                <a:solidFill>
                  <a:srgbClr val="5A7480"/>
                </a:solidFill>
                <a:latin typeface="Calibri"/>
              </a:rPr>
              <a:t>Unsafe or unacceptable. Easy to spot, easy to reject.</a:t>
            </a:r>
          </a:p>
        </p:txBody>
      </p:sp>
      <p:sp>
        <p:nvSpPr>
          <p:cNvPr id="9" name="Rounded Rectangle 8"/>
          <p:cNvSpPr/>
          <p:nvPr/>
        </p:nvSpPr>
        <p:spPr>
          <a:xfrm>
            <a:off x="3355848" y="2212848"/>
            <a:ext cx="2670048" cy="1874519"/>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355848" y="2212848"/>
            <a:ext cx="2670048" cy="73152"/>
          </a:xfrm>
          <a:prstGeom prst="rect">
            <a:avLst/>
          </a:prstGeom>
          <a:solidFill>
            <a:srgbClr val="F07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93591" y="2432304"/>
            <a:ext cx="2286000" cy="365760"/>
          </a:xfrm>
          <a:prstGeom prst="rect">
            <a:avLst/>
          </a:prstGeom>
          <a:noFill/>
        </p:spPr>
        <p:txBody>
          <a:bodyPr wrap="square" lIns="0" tIns="0" rIns="0" bIns="0" anchor="t">
            <a:noAutofit/>
          </a:bodyPr>
          <a:lstStyle/>
          <a:p>
            <a:pPr algn="l">
              <a:lnSpc>
                <a:spcPct val="118000"/>
              </a:lnSpc>
              <a:spcBef>
                <a:spcPts val="0"/>
              </a:spcBef>
              <a:spcAft>
                <a:spcPts val="400"/>
              </a:spcAft>
            </a:pPr>
            <a:r>
              <a:rPr sz="1100" b="1" i="0" spc="120">
                <a:solidFill>
                  <a:srgbClr val="F07D2E"/>
                </a:solidFill>
                <a:latin typeface="Consolas"/>
              </a:rPr>
              <a:t>ACCEPTABLE</a:t>
            </a:r>
          </a:p>
        </p:txBody>
      </p:sp>
      <p:sp>
        <p:nvSpPr>
          <p:cNvPr id="12" name="TextBox 11"/>
          <p:cNvSpPr txBox="1"/>
          <p:nvPr/>
        </p:nvSpPr>
        <p:spPr>
          <a:xfrm>
            <a:off x="3593591" y="2779776"/>
            <a:ext cx="2249424" cy="1188720"/>
          </a:xfrm>
          <a:prstGeom prst="rect">
            <a:avLst/>
          </a:prstGeom>
          <a:noFill/>
        </p:spPr>
        <p:txBody>
          <a:bodyPr wrap="square" lIns="0" tIns="0" rIns="0" bIns="0" anchor="t">
            <a:noAutofit/>
          </a:bodyPr>
          <a:lstStyle/>
          <a:p>
            <a:pPr algn="l">
              <a:lnSpc>
                <a:spcPct val="130000"/>
              </a:lnSpc>
              <a:spcBef>
                <a:spcPts val="0"/>
              </a:spcBef>
              <a:spcAft>
                <a:spcPts val="400"/>
              </a:spcAft>
            </a:pPr>
            <a:r>
              <a:rPr sz="1200" b="0" i="0">
                <a:solidFill>
                  <a:srgbClr val="5A7480"/>
                </a:solidFill>
                <a:latin typeface="Calibri"/>
              </a:rPr>
              <a:t>Passes constraints — but a better plan is clearly achievable.</a:t>
            </a:r>
          </a:p>
        </p:txBody>
      </p:sp>
      <p:sp>
        <p:nvSpPr>
          <p:cNvPr id="13" name="Rounded Rectangle 12"/>
          <p:cNvSpPr/>
          <p:nvPr/>
        </p:nvSpPr>
        <p:spPr>
          <a:xfrm>
            <a:off x="6144768" y="2212848"/>
            <a:ext cx="2670048" cy="1874519"/>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44768" y="2212848"/>
            <a:ext cx="2670048" cy="73152"/>
          </a:xfrm>
          <a:prstGeom prst="rect">
            <a:avLst/>
          </a:prstGeom>
          <a:solidFill>
            <a:srgbClr val="00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82512" y="2432304"/>
            <a:ext cx="2286000" cy="365760"/>
          </a:xfrm>
          <a:prstGeom prst="rect">
            <a:avLst/>
          </a:prstGeom>
          <a:noFill/>
        </p:spPr>
        <p:txBody>
          <a:bodyPr wrap="square" lIns="0" tIns="0" rIns="0" bIns="0" anchor="t">
            <a:noAutofit/>
          </a:bodyPr>
          <a:lstStyle/>
          <a:p>
            <a:pPr algn="l">
              <a:lnSpc>
                <a:spcPct val="118000"/>
              </a:lnSpc>
              <a:spcBef>
                <a:spcPts val="0"/>
              </a:spcBef>
              <a:spcAft>
                <a:spcPts val="400"/>
              </a:spcAft>
            </a:pPr>
            <a:r>
              <a:rPr sz="1100" b="1" i="0" spc="120">
                <a:solidFill>
                  <a:srgbClr val="00A9E0"/>
                </a:solidFill>
                <a:latin typeface="Consolas"/>
              </a:rPr>
              <a:t>TRADE-OFF</a:t>
            </a:r>
          </a:p>
        </p:txBody>
      </p:sp>
      <p:sp>
        <p:nvSpPr>
          <p:cNvPr id="16" name="TextBox 15"/>
          <p:cNvSpPr txBox="1"/>
          <p:nvPr/>
        </p:nvSpPr>
        <p:spPr>
          <a:xfrm>
            <a:off x="6382512" y="2779776"/>
            <a:ext cx="2249424" cy="1188720"/>
          </a:xfrm>
          <a:prstGeom prst="rect">
            <a:avLst/>
          </a:prstGeom>
          <a:noFill/>
        </p:spPr>
        <p:txBody>
          <a:bodyPr wrap="square" lIns="0" tIns="0" rIns="0" bIns="0" anchor="t">
            <a:noAutofit/>
          </a:bodyPr>
          <a:lstStyle/>
          <a:p>
            <a:pPr algn="l">
              <a:lnSpc>
                <a:spcPct val="130000"/>
              </a:lnSpc>
              <a:spcBef>
                <a:spcPts val="0"/>
              </a:spcBef>
              <a:spcAft>
                <a:spcPts val="400"/>
              </a:spcAft>
            </a:pPr>
            <a:r>
              <a:rPr sz="1200" b="0" i="0">
                <a:solidFill>
                  <a:srgbClr val="5A7480"/>
                </a:solidFill>
                <a:latin typeface="Calibri"/>
              </a:rPr>
              <a:t>Competing priorities pull against each other. Needs judgement.</a:t>
            </a:r>
          </a:p>
        </p:txBody>
      </p:sp>
      <p:sp>
        <p:nvSpPr>
          <p:cNvPr id="17" name="Rounded Rectangle 16"/>
          <p:cNvSpPr/>
          <p:nvPr/>
        </p:nvSpPr>
        <p:spPr>
          <a:xfrm>
            <a:off x="8933688" y="2212848"/>
            <a:ext cx="2670048" cy="1874519"/>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933688" y="2212848"/>
            <a:ext cx="2670048" cy="73152"/>
          </a:xfrm>
          <a:prstGeom prst="rect">
            <a:avLst/>
          </a:prstGeom>
          <a:solidFill>
            <a:srgbClr val="1F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71432" y="2432304"/>
            <a:ext cx="2286000" cy="365760"/>
          </a:xfrm>
          <a:prstGeom prst="rect">
            <a:avLst/>
          </a:prstGeom>
          <a:noFill/>
        </p:spPr>
        <p:txBody>
          <a:bodyPr wrap="square" lIns="0" tIns="0" rIns="0" bIns="0" anchor="t">
            <a:noAutofit/>
          </a:bodyPr>
          <a:lstStyle/>
          <a:p>
            <a:pPr algn="l">
              <a:lnSpc>
                <a:spcPct val="118000"/>
              </a:lnSpc>
              <a:spcBef>
                <a:spcPts val="0"/>
              </a:spcBef>
              <a:spcAft>
                <a:spcPts val="400"/>
              </a:spcAft>
            </a:pPr>
            <a:r>
              <a:rPr sz="1100" b="1" i="0" spc="120">
                <a:solidFill>
                  <a:srgbClr val="1FA85C"/>
                </a:solidFill>
                <a:latin typeface="Consolas"/>
              </a:rPr>
              <a:t>GOOD</a:t>
            </a:r>
          </a:p>
        </p:txBody>
      </p:sp>
      <p:sp>
        <p:nvSpPr>
          <p:cNvPr id="20" name="TextBox 19"/>
          <p:cNvSpPr txBox="1"/>
          <p:nvPr/>
        </p:nvSpPr>
        <p:spPr>
          <a:xfrm>
            <a:off x="9171432" y="2779776"/>
            <a:ext cx="2249424" cy="1188720"/>
          </a:xfrm>
          <a:prstGeom prst="rect">
            <a:avLst/>
          </a:prstGeom>
          <a:noFill/>
        </p:spPr>
        <p:txBody>
          <a:bodyPr wrap="square" lIns="0" tIns="0" rIns="0" bIns="0" anchor="t">
            <a:noAutofit/>
          </a:bodyPr>
          <a:lstStyle/>
          <a:p>
            <a:pPr algn="l">
              <a:lnSpc>
                <a:spcPct val="130000"/>
              </a:lnSpc>
              <a:spcBef>
                <a:spcPts val="0"/>
              </a:spcBef>
              <a:spcAft>
                <a:spcPts val="400"/>
              </a:spcAft>
            </a:pPr>
            <a:r>
              <a:rPr sz="1200" b="0" i="0">
                <a:solidFill>
                  <a:srgbClr val="5A7480"/>
                </a:solidFill>
                <a:latin typeface="Calibri"/>
              </a:rPr>
              <a:t>Balanced, robust and clinically appropriate.</a:t>
            </a:r>
          </a:p>
        </p:txBody>
      </p:sp>
      <p:sp>
        <p:nvSpPr>
          <p:cNvPr id="21" name="Rounded Rectangle 20"/>
          <p:cNvSpPr/>
          <p:nvPr/>
        </p:nvSpPr>
        <p:spPr>
          <a:xfrm>
            <a:off x="566928" y="4334256"/>
            <a:ext cx="11036808" cy="1783080"/>
          </a:xfrm>
          <a:prstGeom prst="roundRect">
            <a:avLst>
              <a:gd name="adj" fmla="val 5000"/>
            </a:avLst>
          </a:prstGeom>
          <a:solidFill>
            <a:srgbClr val="00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572000"/>
            <a:ext cx="10424160" cy="365760"/>
          </a:xfrm>
          <a:prstGeom prst="rect">
            <a:avLst/>
          </a:prstGeom>
          <a:noFill/>
        </p:spPr>
        <p:txBody>
          <a:bodyPr wrap="square" lIns="0" tIns="0" rIns="0" bIns="0" anchor="t">
            <a:noAutofit/>
          </a:bodyPr>
          <a:lstStyle/>
          <a:p>
            <a:pPr algn="l">
              <a:lnSpc>
                <a:spcPct val="118000"/>
              </a:lnSpc>
              <a:spcBef>
                <a:spcPts val="0"/>
              </a:spcBef>
              <a:spcAft>
                <a:spcPts val="400"/>
              </a:spcAft>
            </a:pPr>
            <a:r>
              <a:rPr sz="1100" b="1" i="0" spc="200">
                <a:solidFill>
                  <a:srgbClr val="CDEBF8"/>
                </a:solidFill>
                <a:latin typeface="Consolas"/>
              </a:rPr>
              <a:t>THE GUT-CHECK</a:t>
            </a:r>
          </a:p>
        </p:txBody>
      </p:sp>
      <p:sp>
        <p:nvSpPr>
          <p:cNvPr id="23" name="TextBox 22"/>
          <p:cNvSpPr txBox="1"/>
          <p:nvPr/>
        </p:nvSpPr>
        <p:spPr>
          <a:xfrm>
            <a:off x="914400" y="4956048"/>
            <a:ext cx="10515600" cy="548640"/>
          </a:xfrm>
          <a:prstGeom prst="rect">
            <a:avLst/>
          </a:prstGeom>
          <a:noFill/>
        </p:spPr>
        <p:txBody>
          <a:bodyPr wrap="square" lIns="0" tIns="0" rIns="0" bIns="0" anchor="t">
            <a:noAutofit/>
          </a:bodyPr>
          <a:lstStyle/>
          <a:p>
            <a:pPr algn="l">
              <a:lnSpc>
                <a:spcPct val="118000"/>
              </a:lnSpc>
              <a:spcBef>
                <a:spcPts val="0"/>
              </a:spcBef>
              <a:spcAft>
                <a:spcPts val="400"/>
              </a:spcAft>
            </a:pPr>
            <a:r>
              <a:rPr sz="2000" b="1" i="1">
                <a:solidFill>
                  <a:srgbClr val="FFFFFF"/>
                </a:solidFill>
                <a:latin typeface="Georgia"/>
              </a:rPr>
              <a:t>“Would I confidently treat my own family member with this plan?”</a:t>
            </a:r>
          </a:p>
        </p:txBody>
      </p:sp>
      <p:sp>
        <p:nvSpPr>
          <p:cNvPr id="24" name="TextBox 23"/>
          <p:cNvSpPr txBox="1"/>
          <p:nvPr/>
        </p:nvSpPr>
        <p:spPr>
          <a:xfrm>
            <a:off x="914400" y="5632704"/>
            <a:ext cx="10515600" cy="365760"/>
          </a:xfrm>
          <a:prstGeom prst="rect">
            <a:avLst/>
          </a:prstGeom>
          <a:noFill/>
        </p:spPr>
        <p:txBody>
          <a:bodyPr wrap="square" lIns="0" tIns="0" rIns="0" bIns="0" anchor="t">
            <a:noAutofit/>
          </a:bodyPr>
          <a:lstStyle/>
          <a:p>
            <a:pPr algn="l">
              <a:lnSpc>
                <a:spcPct val="118000"/>
              </a:lnSpc>
              <a:spcBef>
                <a:spcPts val="0"/>
              </a:spcBef>
              <a:spcAft>
                <a:spcPts val="400"/>
              </a:spcAft>
            </a:pPr>
            <a:r>
              <a:rPr sz="1250" b="0" i="0" dirty="0">
                <a:solidFill>
                  <a:srgbClr val="CDEBF8"/>
                </a:solidFill>
                <a:latin typeface="Calibri"/>
              </a:rPr>
              <a:t>If the answer is not a clear yes </a:t>
            </a:r>
            <a:r>
              <a:rPr lang="en-US" sz="1250" b="0" i="0" dirty="0">
                <a:solidFill>
                  <a:srgbClr val="CDEBF8"/>
                </a:solidFill>
                <a:latin typeface="Calibri"/>
              </a:rPr>
              <a:t>-</a:t>
            </a:r>
            <a:r>
              <a:rPr sz="1250" b="0" i="0" dirty="0">
                <a:solidFill>
                  <a:srgbClr val="CDEBF8"/>
                </a:solidFill>
                <a:latin typeface="Calibri"/>
              </a:rPr>
              <a:t> name exactly what would have to change.</a:t>
            </a:r>
          </a:p>
        </p:txBody>
      </p:sp>
      <p:sp>
        <p:nvSpPr>
          <p:cNvPr id="25" name="TextBox 24"/>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26" name="TextBox 25"/>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04 / 34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00A9E0"/>
                </a:solidFill>
                <a:latin typeface="Consolas"/>
              </a:rPr>
              <a:t>A SYSTEMATIC FRAMEWORK</a:t>
            </a:r>
          </a:p>
        </p:txBody>
      </p:sp>
      <p:sp>
        <p:nvSpPr>
          <p:cNvPr id="3" name="TextBox 2"/>
          <p:cNvSpPr txBox="1"/>
          <p:nvPr/>
        </p:nvSpPr>
        <p:spPr>
          <a:xfrm>
            <a:off x="292608" y="738022"/>
            <a:ext cx="11064240" cy="1051560"/>
          </a:xfrm>
          <a:prstGeom prst="rect">
            <a:avLst/>
          </a:prstGeom>
          <a:noFill/>
        </p:spPr>
        <p:txBody>
          <a:bodyPr wrap="square" lIns="0" tIns="0" rIns="0" bIns="0" anchor="t">
            <a:noAutofit/>
          </a:bodyPr>
          <a:lstStyle/>
          <a:p>
            <a:pPr>
              <a:lnSpc>
                <a:spcPct val="106000"/>
              </a:lnSpc>
              <a:spcAft>
                <a:spcPts val="400"/>
              </a:spcAft>
            </a:pPr>
            <a:r>
              <a:rPr lang="en-US" sz="3200" b="1" dirty="0">
                <a:solidFill>
                  <a:srgbClr val="5271FF"/>
                </a:solidFill>
                <a:latin typeface="Georgia" panose="02040502050405020303" pitchFamily="18" charset="0"/>
                <a:ea typeface="Arial"/>
                <a:cs typeface="Arial"/>
                <a:sym typeface="Arial"/>
              </a:rPr>
              <a:t>F</a:t>
            </a:r>
            <a:r>
              <a:rPr lang="en-US" sz="3200" b="1" dirty="0">
                <a:solidFill>
                  <a:srgbClr val="8C52FF"/>
                </a:solidFill>
                <a:latin typeface="Georgia" panose="02040502050405020303" pitchFamily="18" charset="0"/>
                <a:ea typeface="Arial"/>
                <a:cs typeface="Arial"/>
                <a:sym typeface="Arial"/>
              </a:rPr>
              <a:t>C</a:t>
            </a:r>
            <a:r>
              <a:rPr lang="en-US" sz="3200" b="1" dirty="0">
                <a:solidFill>
                  <a:srgbClr val="CB6CE6"/>
                </a:solidFill>
                <a:latin typeface="Georgia" panose="02040502050405020303" pitchFamily="18" charset="0"/>
                <a:ea typeface="Arial"/>
                <a:cs typeface="Arial"/>
                <a:sym typeface="Arial"/>
              </a:rPr>
              <a:t>B</a:t>
            </a:r>
            <a:r>
              <a:rPr lang="en-US" sz="3200" b="1" dirty="0">
                <a:solidFill>
                  <a:srgbClr val="000000"/>
                </a:solidFill>
                <a:latin typeface="Georgia" panose="02040502050405020303" pitchFamily="18" charset="0"/>
                <a:ea typeface="Arial"/>
                <a:cs typeface="Arial"/>
                <a:sym typeface="Arial"/>
              </a:rPr>
              <a:t>-</a:t>
            </a:r>
            <a:r>
              <a:rPr lang="en-US" sz="3200" b="1" dirty="0">
                <a:solidFill>
                  <a:srgbClr val="FF66C4"/>
                </a:solidFill>
                <a:latin typeface="Georgia" panose="02040502050405020303" pitchFamily="18" charset="0"/>
                <a:ea typeface="Arial"/>
                <a:cs typeface="Arial"/>
                <a:sym typeface="Arial"/>
              </a:rPr>
              <a:t>C</a:t>
            </a:r>
            <a:r>
              <a:rPr lang="en-US" sz="3200" b="1" dirty="0">
                <a:solidFill>
                  <a:srgbClr val="FF5757"/>
                </a:solidFill>
                <a:latin typeface="Georgia" panose="02040502050405020303" pitchFamily="18" charset="0"/>
                <a:ea typeface="Arial"/>
                <a:cs typeface="Arial"/>
                <a:sym typeface="Arial"/>
              </a:rPr>
              <a:t>H</a:t>
            </a:r>
            <a:r>
              <a:rPr lang="en-US" sz="3200" b="1" dirty="0">
                <a:solidFill>
                  <a:srgbClr val="FF914D"/>
                </a:solidFill>
                <a:latin typeface="Georgia" panose="02040502050405020303" pitchFamily="18" charset="0"/>
                <a:ea typeface="Arial"/>
                <a:cs typeface="Arial"/>
                <a:sym typeface="Arial"/>
              </a:rPr>
              <a:t>O</a:t>
            </a:r>
            <a:r>
              <a:rPr lang="en-US" sz="3200" b="1" dirty="0">
                <a:solidFill>
                  <a:srgbClr val="FFDE59"/>
                </a:solidFill>
                <a:latin typeface="Georgia" panose="02040502050405020303" pitchFamily="18" charset="0"/>
                <a:ea typeface="Arial"/>
                <a:cs typeface="Arial"/>
                <a:sym typeface="Arial"/>
              </a:rPr>
              <a:t>P</a:t>
            </a:r>
            <a:r>
              <a:rPr lang="en-US" sz="3200" b="1" dirty="0">
                <a:solidFill>
                  <a:srgbClr val="99E17A"/>
                </a:solidFill>
                <a:latin typeface="Georgia" panose="02040502050405020303" pitchFamily="18" charset="0"/>
                <a:ea typeface="Arial"/>
                <a:cs typeface="Arial"/>
                <a:sym typeface="Arial"/>
              </a:rPr>
              <a:t>S</a:t>
            </a:r>
            <a:r>
              <a:rPr lang="en-US" sz="3200" dirty="0">
                <a:solidFill>
                  <a:srgbClr val="99E17A"/>
                </a:solidFill>
                <a:latin typeface="Georgia" panose="02040502050405020303" pitchFamily="18" charset="0"/>
                <a:ea typeface="Arial"/>
                <a:cs typeface="Arial"/>
                <a:sym typeface="Arial"/>
              </a:rPr>
              <a:t> </a:t>
            </a:r>
            <a:r>
              <a:rPr lang="en-US" sz="2900" b="1" i="0" dirty="0">
                <a:solidFill>
                  <a:srgbClr val="00A9E0"/>
                </a:solidFill>
                <a:latin typeface="Georgia"/>
              </a:rPr>
              <a:t>-</a:t>
            </a:r>
            <a:r>
              <a:rPr sz="2900" b="1" i="0" dirty="0">
                <a:solidFill>
                  <a:srgbClr val="00A9E0"/>
                </a:solidFill>
                <a:latin typeface="Georgia"/>
              </a:rPr>
              <a:t> a checklist for every plan</a:t>
            </a:r>
          </a:p>
        </p:txBody>
      </p:sp>
      <p:sp>
        <p:nvSpPr>
          <p:cNvPr id="4" name="TextBox 3"/>
          <p:cNvSpPr txBox="1"/>
          <p:nvPr/>
        </p:nvSpPr>
        <p:spPr>
          <a:xfrm>
            <a:off x="566928" y="1572768"/>
            <a:ext cx="11064240" cy="457200"/>
          </a:xfrm>
          <a:prstGeom prst="rect">
            <a:avLst/>
          </a:prstGeom>
          <a:noFill/>
        </p:spPr>
        <p:txBody>
          <a:bodyPr wrap="square" lIns="0" tIns="0" rIns="0" bIns="0" anchor="t">
            <a:noAutofit/>
          </a:bodyPr>
          <a:lstStyle/>
          <a:p>
            <a:pPr algn="l">
              <a:lnSpc>
                <a:spcPct val="118000"/>
              </a:lnSpc>
              <a:spcBef>
                <a:spcPts val="0"/>
              </a:spcBef>
              <a:spcAft>
                <a:spcPts val="400"/>
              </a:spcAft>
            </a:pPr>
            <a:r>
              <a:rPr sz="1300" b="0" i="1" dirty="0">
                <a:solidFill>
                  <a:srgbClr val="5A7480"/>
                </a:solidFill>
                <a:latin typeface="Calibri"/>
              </a:rPr>
              <a:t>Eight checkpoints so no critical step is missed. </a:t>
            </a:r>
          </a:p>
        </p:txBody>
      </p:sp>
      <p:sp>
        <p:nvSpPr>
          <p:cNvPr id="45" name="TextBox 44"/>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46" name="TextBox 45"/>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dirty="0">
                <a:solidFill>
                  <a:srgbClr val="96AAB4"/>
                </a:solidFill>
                <a:latin typeface="Consolas"/>
              </a:rPr>
              <a:t>0</a:t>
            </a:r>
            <a:r>
              <a:rPr lang="en-US" sz="850" b="0" i="0" spc="150" dirty="0">
                <a:solidFill>
                  <a:srgbClr val="96AAB4"/>
                </a:solidFill>
                <a:latin typeface="Consolas"/>
              </a:rPr>
              <a:t>5</a:t>
            </a:r>
            <a:r>
              <a:rPr sz="850" b="0" i="0" spc="150" dirty="0">
                <a:solidFill>
                  <a:srgbClr val="96AAB4"/>
                </a:solidFill>
                <a:latin typeface="Consolas"/>
              </a:rPr>
              <a:t> / 34</a:t>
            </a:r>
          </a:p>
        </p:txBody>
      </p:sp>
      <p:sp>
        <p:nvSpPr>
          <p:cNvPr id="53" name="Freeform 4">
            <a:extLst>
              <a:ext uri="{FF2B5EF4-FFF2-40B4-BE49-F238E27FC236}">
                <a16:creationId xmlns:a16="http://schemas.microsoft.com/office/drawing/2014/main" id="{4BE91A72-459F-028F-15B6-87903B17D7CC}"/>
              </a:ext>
            </a:extLst>
          </p:cNvPr>
          <p:cNvSpPr/>
          <p:nvPr/>
        </p:nvSpPr>
        <p:spPr>
          <a:xfrm>
            <a:off x="6792204" y="3909393"/>
            <a:ext cx="5094442" cy="1977045"/>
          </a:xfrm>
          <a:custGeom>
            <a:avLst/>
            <a:gdLst/>
            <a:ahLst/>
            <a:cxnLst/>
            <a:rect l="l" t="t" r="r" b="b"/>
            <a:pathLst>
              <a:path w="5931836" h="2158529">
                <a:moveTo>
                  <a:pt x="0" y="0"/>
                </a:moveTo>
                <a:lnTo>
                  <a:pt x="5931836" y="0"/>
                </a:lnTo>
                <a:lnTo>
                  <a:pt x="5931836" y="2158529"/>
                </a:lnTo>
                <a:lnTo>
                  <a:pt x="0" y="2158529"/>
                </a:lnTo>
                <a:lnTo>
                  <a:pt x="0" y="0"/>
                </a:lnTo>
                <a:close/>
              </a:path>
            </a:pathLst>
          </a:custGeom>
          <a:blipFill>
            <a:blip r:embed="rId3"/>
            <a:stretch>
              <a:fillRect/>
            </a:stretch>
          </a:blipFill>
        </p:spPr>
        <p:txBody>
          <a:bodyPr/>
          <a:lstStyle/>
          <a:p>
            <a:endParaRPr lang="en-US"/>
          </a:p>
        </p:txBody>
      </p:sp>
      <p:sp>
        <p:nvSpPr>
          <p:cNvPr id="54" name="Freeform 5">
            <a:extLst>
              <a:ext uri="{FF2B5EF4-FFF2-40B4-BE49-F238E27FC236}">
                <a16:creationId xmlns:a16="http://schemas.microsoft.com/office/drawing/2014/main" id="{BB3BEE2E-5B78-E1E1-9B28-313FB9AAEA27}"/>
              </a:ext>
            </a:extLst>
          </p:cNvPr>
          <p:cNvSpPr/>
          <p:nvPr/>
        </p:nvSpPr>
        <p:spPr>
          <a:xfrm>
            <a:off x="6823772" y="1941033"/>
            <a:ext cx="5117213" cy="1108403"/>
          </a:xfrm>
          <a:custGeom>
            <a:avLst/>
            <a:gdLst/>
            <a:ahLst/>
            <a:cxnLst/>
            <a:rect l="l" t="t" r="r" b="b"/>
            <a:pathLst>
              <a:path w="5931836" h="1318186">
                <a:moveTo>
                  <a:pt x="0" y="0"/>
                </a:moveTo>
                <a:lnTo>
                  <a:pt x="5931836" y="0"/>
                </a:lnTo>
                <a:lnTo>
                  <a:pt x="5931836" y="1318186"/>
                </a:lnTo>
                <a:lnTo>
                  <a:pt x="0" y="1318186"/>
                </a:lnTo>
                <a:lnTo>
                  <a:pt x="0" y="0"/>
                </a:lnTo>
                <a:close/>
              </a:path>
            </a:pathLst>
          </a:custGeom>
          <a:blipFill>
            <a:blip r:embed="rId4"/>
            <a:stretch>
              <a:fillRect/>
            </a:stretch>
          </a:blipFill>
        </p:spPr>
        <p:txBody>
          <a:bodyPr/>
          <a:lstStyle/>
          <a:p>
            <a:endParaRPr lang="en-US"/>
          </a:p>
        </p:txBody>
      </p:sp>
      <p:grpSp>
        <p:nvGrpSpPr>
          <p:cNvPr id="97" name="Group 3">
            <a:extLst>
              <a:ext uri="{FF2B5EF4-FFF2-40B4-BE49-F238E27FC236}">
                <a16:creationId xmlns:a16="http://schemas.microsoft.com/office/drawing/2014/main" id="{862B28A4-CA14-4871-3586-15FB604916F6}"/>
              </a:ext>
            </a:extLst>
          </p:cNvPr>
          <p:cNvGrpSpPr/>
          <p:nvPr/>
        </p:nvGrpSpPr>
        <p:grpSpPr>
          <a:xfrm>
            <a:off x="305354" y="1973961"/>
            <a:ext cx="2738999" cy="4346055"/>
            <a:chOff x="0" y="0"/>
            <a:chExt cx="3651999" cy="5794740"/>
          </a:xfrm>
        </p:grpSpPr>
        <p:grpSp>
          <p:nvGrpSpPr>
            <p:cNvPr id="98" name="Group 4">
              <a:extLst>
                <a:ext uri="{FF2B5EF4-FFF2-40B4-BE49-F238E27FC236}">
                  <a16:creationId xmlns:a16="http://schemas.microsoft.com/office/drawing/2014/main" id="{A718748C-1B4C-51AE-26B0-C45532000CD4}"/>
                </a:ext>
              </a:extLst>
            </p:cNvPr>
            <p:cNvGrpSpPr/>
            <p:nvPr/>
          </p:nvGrpSpPr>
          <p:grpSpPr>
            <a:xfrm rot="5400000">
              <a:off x="-104018" y="104018"/>
              <a:ext cx="832445" cy="624408"/>
              <a:chOff x="0" y="0"/>
              <a:chExt cx="812800" cy="609673"/>
            </a:xfrm>
          </p:grpSpPr>
          <p:sp>
            <p:nvSpPr>
              <p:cNvPr id="136" name="Freeform 5">
                <a:extLst>
                  <a:ext uri="{FF2B5EF4-FFF2-40B4-BE49-F238E27FC236}">
                    <a16:creationId xmlns:a16="http://schemas.microsoft.com/office/drawing/2014/main" id="{977A9B29-CC1A-9E6D-FD8E-9383BBC0AF9B}"/>
                  </a:ext>
                </a:extLst>
              </p:cNvPr>
              <p:cNvSpPr/>
              <p:nvPr/>
            </p:nvSpPr>
            <p:spPr>
              <a:xfrm>
                <a:off x="0" y="0"/>
                <a:ext cx="812800" cy="609673"/>
              </a:xfrm>
              <a:custGeom>
                <a:avLst/>
                <a:gdLst/>
                <a:ahLst/>
                <a:cxnLst/>
                <a:rect l="l" t="t" r="r" b="b"/>
                <a:pathLst>
                  <a:path w="812800" h="609673">
                    <a:moveTo>
                      <a:pt x="0" y="0"/>
                    </a:moveTo>
                    <a:lnTo>
                      <a:pt x="609600" y="0"/>
                    </a:lnTo>
                    <a:lnTo>
                      <a:pt x="812800" y="304836"/>
                    </a:lnTo>
                    <a:lnTo>
                      <a:pt x="609600" y="609673"/>
                    </a:lnTo>
                    <a:lnTo>
                      <a:pt x="0" y="609673"/>
                    </a:lnTo>
                    <a:lnTo>
                      <a:pt x="203200" y="304836"/>
                    </a:lnTo>
                    <a:lnTo>
                      <a:pt x="0" y="0"/>
                    </a:lnTo>
                    <a:close/>
                  </a:path>
                </a:pathLst>
              </a:custGeom>
              <a:solidFill>
                <a:srgbClr val="5271FF"/>
              </a:solidFill>
            </p:spPr>
            <p:txBody>
              <a:bodyPr/>
              <a:lstStyle/>
              <a:p>
                <a:endParaRPr lang="en-US"/>
              </a:p>
            </p:txBody>
          </p:sp>
          <p:sp>
            <p:nvSpPr>
              <p:cNvPr id="137" name="TextBox 6">
                <a:extLst>
                  <a:ext uri="{FF2B5EF4-FFF2-40B4-BE49-F238E27FC236}">
                    <a16:creationId xmlns:a16="http://schemas.microsoft.com/office/drawing/2014/main" id="{776D6FC3-F5ED-F46A-9EA1-655599F7A169}"/>
                  </a:ext>
                </a:extLst>
              </p:cNvPr>
              <p:cNvSpPr txBox="1"/>
              <p:nvPr/>
            </p:nvSpPr>
            <p:spPr>
              <a:xfrm>
                <a:off x="177800" y="-38100"/>
                <a:ext cx="558800" cy="647773"/>
              </a:xfrm>
              <a:prstGeom prst="rect">
                <a:avLst/>
              </a:prstGeom>
            </p:spPr>
            <p:txBody>
              <a:bodyPr lIns="15625" tIns="15625" rIns="15625" bIns="15625" rtlCol="0" anchor="ctr"/>
              <a:lstStyle/>
              <a:p>
                <a:pPr algn="ctr">
                  <a:lnSpc>
                    <a:spcPts val="2239"/>
                  </a:lnSpc>
                </a:pPr>
                <a:endParaRPr/>
              </a:p>
            </p:txBody>
          </p:sp>
        </p:grpSp>
        <p:sp>
          <p:nvSpPr>
            <p:cNvPr id="99" name="TextBox 7">
              <a:extLst>
                <a:ext uri="{FF2B5EF4-FFF2-40B4-BE49-F238E27FC236}">
                  <a16:creationId xmlns:a16="http://schemas.microsoft.com/office/drawing/2014/main" id="{D58C17DE-DA5F-69A7-58C7-AEE5E9CB2C02}"/>
                </a:ext>
              </a:extLst>
            </p:cNvPr>
            <p:cNvSpPr txBox="1"/>
            <p:nvPr/>
          </p:nvSpPr>
          <p:spPr>
            <a:xfrm>
              <a:off x="198154" y="320943"/>
              <a:ext cx="228101" cy="311127"/>
            </a:xfrm>
            <a:prstGeom prst="rect">
              <a:avLst/>
            </a:prstGeom>
          </p:spPr>
          <p:txBody>
            <a:bodyPr lIns="0" tIns="0" rIns="0" bIns="0" rtlCol="0" anchor="t">
              <a:spAutoFit/>
            </a:bodyPr>
            <a:lstStyle/>
            <a:p>
              <a:pPr algn="ctr">
                <a:lnSpc>
                  <a:spcPts val="1845"/>
                </a:lnSpc>
                <a:spcBef>
                  <a:spcPct val="0"/>
                </a:spcBef>
              </a:pPr>
              <a:r>
                <a:rPr lang="en-US" sz="1537" b="1" spc="15" dirty="0">
                  <a:solidFill>
                    <a:srgbClr val="FEFEFE"/>
                  </a:solidFill>
                  <a:latin typeface="Raleway Bold"/>
                  <a:ea typeface="Raleway Bold"/>
                  <a:cs typeface="Raleway Bold"/>
                  <a:sym typeface="Raleway Bold"/>
                </a:rPr>
                <a:t>F</a:t>
              </a:r>
            </a:p>
          </p:txBody>
        </p:sp>
        <p:grpSp>
          <p:nvGrpSpPr>
            <p:cNvPr id="100" name="Group 8">
              <a:extLst>
                <a:ext uri="{FF2B5EF4-FFF2-40B4-BE49-F238E27FC236}">
                  <a16:creationId xmlns:a16="http://schemas.microsoft.com/office/drawing/2014/main" id="{552CD2B4-FA3B-A4E5-A85B-D409A03F2BE8}"/>
                </a:ext>
              </a:extLst>
            </p:cNvPr>
            <p:cNvGrpSpPr/>
            <p:nvPr/>
          </p:nvGrpSpPr>
          <p:grpSpPr>
            <a:xfrm rot="5400000">
              <a:off x="-104018" y="811457"/>
              <a:ext cx="832445" cy="624408"/>
              <a:chOff x="0" y="0"/>
              <a:chExt cx="812800" cy="609673"/>
            </a:xfrm>
          </p:grpSpPr>
          <p:sp>
            <p:nvSpPr>
              <p:cNvPr id="134" name="Freeform 9">
                <a:extLst>
                  <a:ext uri="{FF2B5EF4-FFF2-40B4-BE49-F238E27FC236}">
                    <a16:creationId xmlns:a16="http://schemas.microsoft.com/office/drawing/2014/main" id="{D0A028C4-AE1A-0833-2B7F-4A262D5E57ED}"/>
                  </a:ext>
                </a:extLst>
              </p:cNvPr>
              <p:cNvSpPr/>
              <p:nvPr/>
            </p:nvSpPr>
            <p:spPr>
              <a:xfrm>
                <a:off x="0" y="0"/>
                <a:ext cx="812800" cy="609673"/>
              </a:xfrm>
              <a:custGeom>
                <a:avLst/>
                <a:gdLst/>
                <a:ahLst/>
                <a:cxnLst/>
                <a:rect l="l" t="t" r="r" b="b"/>
                <a:pathLst>
                  <a:path w="812800" h="609673">
                    <a:moveTo>
                      <a:pt x="0" y="0"/>
                    </a:moveTo>
                    <a:lnTo>
                      <a:pt x="609600" y="0"/>
                    </a:lnTo>
                    <a:lnTo>
                      <a:pt x="812800" y="304836"/>
                    </a:lnTo>
                    <a:lnTo>
                      <a:pt x="609600" y="609673"/>
                    </a:lnTo>
                    <a:lnTo>
                      <a:pt x="0" y="609673"/>
                    </a:lnTo>
                    <a:lnTo>
                      <a:pt x="203200" y="304836"/>
                    </a:lnTo>
                    <a:lnTo>
                      <a:pt x="0" y="0"/>
                    </a:lnTo>
                    <a:close/>
                  </a:path>
                </a:pathLst>
              </a:custGeom>
              <a:solidFill>
                <a:srgbClr val="8C52FF"/>
              </a:solidFill>
            </p:spPr>
            <p:txBody>
              <a:bodyPr/>
              <a:lstStyle/>
              <a:p>
                <a:endParaRPr lang="en-US"/>
              </a:p>
            </p:txBody>
          </p:sp>
          <p:sp>
            <p:nvSpPr>
              <p:cNvPr id="135" name="TextBox 10">
                <a:extLst>
                  <a:ext uri="{FF2B5EF4-FFF2-40B4-BE49-F238E27FC236}">
                    <a16:creationId xmlns:a16="http://schemas.microsoft.com/office/drawing/2014/main" id="{8CB0671A-BDFF-0F70-49AF-8C4EA0A9F84D}"/>
                  </a:ext>
                </a:extLst>
              </p:cNvPr>
              <p:cNvSpPr txBox="1"/>
              <p:nvPr/>
            </p:nvSpPr>
            <p:spPr>
              <a:xfrm>
                <a:off x="177800" y="-38100"/>
                <a:ext cx="558800" cy="647773"/>
              </a:xfrm>
              <a:prstGeom prst="rect">
                <a:avLst/>
              </a:prstGeom>
            </p:spPr>
            <p:txBody>
              <a:bodyPr lIns="15625" tIns="15625" rIns="15625" bIns="15625" rtlCol="0" anchor="ctr"/>
              <a:lstStyle/>
              <a:p>
                <a:pPr algn="ctr">
                  <a:lnSpc>
                    <a:spcPts val="2239"/>
                  </a:lnSpc>
                </a:pPr>
                <a:endParaRPr/>
              </a:p>
            </p:txBody>
          </p:sp>
        </p:grpSp>
        <p:sp>
          <p:nvSpPr>
            <p:cNvPr id="101" name="TextBox 11">
              <a:extLst>
                <a:ext uri="{FF2B5EF4-FFF2-40B4-BE49-F238E27FC236}">
                  <a16:creationId xmlns:a16="http://schemas.microsoft.com/office/drawing/2014/main" id="{90DEB971-1802-9CF6-6335-50201016B7E4}"/>
                </a:ext>
              </a:extLst>
            </p:cNvPr>
            <p:cNvSpPr txBox="1"/>
            <p:nvPr/>
          </p:nvSpPr>
          <p:spPr>
            <a:xfrm>
              <a:off x="198154" y="995224"/>
              <a:ext cx="228101" cy="321692"/>
            </a:xfrm>
            <a:prstGeom prst="rect">
              <a:avLst/>
            </a:prstGeom>
          </p:spPr>
          <p:txBody>
            <a:bodyPr lIns="0" tIns="0" rIns="0" bIns="0" rtlCol="0" anchor="t">
              <a:spAutoFit/>
            </a:bodyPr>
            <a:lstStyle/>
            <a:p>
              <a:pPr algn="ctr">
                <a:lnSpc>
                  <a:spcPts val="1845"/>
                </a:lnSpc>
                <a:spcBef>
                  <a:spcPct val="0"/>
                </a:spcBef>
              </a:pPr>
              <a:r>
                <a:rPr lang="en-US" sz="1537" b="1" spc="15">
                  <a:solidFill>
                    <a:srgbClr val="FEFEFE"/>
                  </a:solidFill>
                  <a:latin typeface="Raleway Bold"/>
                  <a:ea typeface="Raleway Bold"/>
                  <a:cs typeface="Raleway Bold"/>
                  <a:sym typeface="Raleway Bold"/>
                </a:rPr>
                <a:t>C</a:t>
              </a:r>
            </a:p>
          </p:txBody>
        </p:sp>
        <p:grpSp>
          <p:nvGrpSpPr>
            <p:cNvPr id="102" name="Group 12">
              <a:extLst>
                <a:ext uri="{FF2B5EF4-FFF2-40B4-BE49-F238E27FC236}">
                  <a16:creationId xmlns:a16="http://schemas.microsoft.com/office/drawing/2014/main" id="{D1D0BB22-4077-7D2C-2479-34D96727D80F}"/>
                </a:ext>
              </a:extLst>
            </p:cNvPr>
            <p:cNvGrpSpPr/>
            <p:nvPr/>
          </p:nvGrpSpPr>
          <p:grpSpPr>
            <a:xfrm rot="5400000">
              <a:off x="-104018" y="1521171"/>
              <a:ext cx="832445" cy="624408"/>
              <a:chOff x="0" y="0"/>
              <a:chExt cx="812800" cy="609673"/>
            </a:xfrm>
          </p:grpSpPr>
          <p:sp>
            <p:nvSpPr>
              <p:cNvPr id="132" name="Freeform 13">
                <a:extLst>
                  <a:ext uri="{FF2B5EF4-FFF2-40B4-BE49-F238E27FC236}">
                    <a16:creationId xmlns:a16="http://schemas.microsoft.com/office/drawing/2014/main" id="{89E2711C-D0B0-ED58-4889-E0F4B757D9EF}"/>
                  </a:ext>
                </a:extLst>
              </p:cNvPr>
              <p:cNvSpPr/>
              <p:nvPr/>
            </p:nvSpPr>
            <p:spPr>
              <a:xfrm>
                <a:off x="0" y="0"/>
                <a:ext cx="812800" cy="609673"/>
              </a:xfrm>
              <a:custGeom>
                <a:avLst/>
                <a:gdLst/>
                <a:ahLst/>
                <a:cxnLst/>
                <a:rect l="l" t="t" r="r" b="b"/>
                <a:pathLst>
                  <a:path w="812800" h="609673">
                    <a:moveTo>
                      <a:pt x="0" y="0"/>
                    </a:moveTo>
                    <a:lnTo>
                      <a:pt x="609600" y="0"/>
                    </a:lnTo>
                    <a:lnTo>
                      <a:pt x="812800" y="304836"/>
                    </a:lnTo>
                    <a:lnTo>
                      <a:pt x="609600" y="609673"/>
                    </a:lnTo>
                    <a:lnTo>
                      <a:pt x="0" y="609673"/>
                    </a:lnTo>
                    <a:lnTo>
                      <a:pt x="203200" y="304836"/>
                    </a:lnTo>
                    <a:lnTo>
                      <a:pt x="0" y="0"/>
                    </a:lnTo>
                    <a:close/>
                  </a:path>
                </a:pathLst>
              </a:custGeom>
              <a:solidFill>
                <a:srgbClr val="CB6CE6"/>
              </a:solidFill>
            </p:spPr>
            <p:txBody>
              <a:bodyPr/>
              <a:lstStyle/>
              <a:p>
                <a:endParaRPr lang="en-US"/>
              </a:p>
            </p:txBody>
          </p:sp>
          <p:sp>
            <p:nvSpPr>
              <p:cNvPr id="133" name="TextBox 14">
                <a:extLst>
                  <a:ext uri="{FF2B5EF4-FFF2-40B4-BE49-F238E27FC236}">
                    <a16:creationId xmlns:a16="http://schemas.microsoft.com/office/drawing/2014/main" id="{309275CA-FFBA-B683-54AA-9FF6E2D29477}"/>
                  </a:ext>
                </a:extLst>
              </p:cNvPr>
              <p:cNvSpPr txBox="1"/>
              <p:nvPr/>
            </p:nvSpPr>
            <p:spPr>
              <a:xfrm>
                <a:off x="177800" y="-38100"/>
                <a:ext cx="558800" cy="647773"/>
              </a:xfrm>
              <a:prstGeom prst="rect">
                <a:avLst/>
              </a:prstGeom>
            </p:spPr>
            <p:txBody>
              <a:bodyPr lIns="15625" tIns="15625" rIns="15625" bIns="15625" rtlCol="0" anchor="ctr"/>
              <a:lstStyle/>
              <a:p>
                <a:pPr algn="ctr">
                  <a:lnSpc>
                    <a:spcPts val="2239"/>
                  </a:lnSpc>
                </a:pPr>
                <a:endParaRPr/>
              </a:p>
            </p:txBody>
          </p:sp>
        </p:grpSp>
        <p:sp>
          <p:nvSpPr>
            <p:cNvPr id="103" name="TextBox 15">
              <a:extLst>
                <a:ext uri="{FF2B5EF4-FFF2-40B4-BE49-F238E27FC236}">
                  <a16:creationId xmlns:a16="http://schemas.microsoft.com/office/drawing/2014/main" id="{119992DD-90F8-78C3-19F5-52CBAA0F0F40}"/>
                </a:ext>
              </a:extLst>
            </p:cNvPr>
            <p:cNvSpPr txBox="1"/>
            <p:nvPr/>
          </p:nvSpPr>
          <p:spPr>
            <a:xfrm>
              <a:off x="192813" y="1667767"/>
              <a:ext cx="233442" cy="321692"/>
            </a:xfrm>
            <a:prstGeom prst="rect">
              <a:avLst/>
            </a:prstGeom>
          </p:spPr>
          <p:txBody>
            <a:bodyPr lIns="0" tIns="0" rIns="0" bIns="0" rtlCol="0" anchor="t">
              <a:spAutoFit/>
            </a:bodyPr>
            <a:lstStyle/>
            <a:p>
              <a:pPr algn="ctr">
                <a:lnSpc>
                  <a:spcPts val="1845"/>
                </a:lnSpc>
                <a:spcBef>
                  <a:spcPct val="0"/>
                </a:spcBef>
              </a:pPr>
              <a:r>
                <a:rPr lang="en-US" sz="1537" b="1" spc="15">
                  <a:solidFill>
                    <a:srgbClr val="FEFEFE"/>
                  </a:solidFill>
                  <a:latin typeface="Raleway Bold"/>
                  <a:ea typeface="Raleway Bold"/>
                  <a:cs typeface="Raleway Bold"/>
                  <a:sym typeface="Raleway Bold"/>
                </a:rPr>
                <a:t>B</a:t>
              </a:r>
            </a:p>
          </p:txBody>
        </p:sp>
        <p:grpSp>
          <p:nvGrpSpPr>
            <p:cNvPr id="104" name="Group 16">
              <a:extLst>
                <a:ext uri="{FF2B5EF4-FFF2-40B4-BE49-F238E27FC236}">
                  <a16:creationId xmlns:a16="http://schemas.microsoft.com/office/drawing/2014/main" id="{4BEC2228-D681-ED15-C72F-097A0E496721}"/>
                </a:ext>
              </a:extLst>
            </p:cNvPr>
            <p:cNvGrpSpPr/>
            <p:nvPr/>
          </p:nvGrpSpPr>
          <p:grpSpPr>
            <a:xfrm rot="5400000">
              <a:off x="-104018" y="2233036"/>
              <a:ext cx="832445" cy="624408"/>
              <a:chOff x="0" y="0"/>
              <a:chExt cx="812800" cy="609673"/>
            </a:xfrm>
          </p:grpSpPr>
          <p:sp>
            <p:nvSpPr>
              <p:cNvPr id="130" name="Freeform 17">
                <a:extLst>
                  <a:ext uri="{FF2B5EF4-FFF2-40B4-BE49-F238E27FC236}">
                    <a16:creationId xmlns:a16="http://schemas.microsoft.com/office/drawing/2014/main" id="{F3BBF0EB-DE94-B098-A80B-48E2481FF943}"/>
                  </a:ext>
                </a:extLst>
              </p:cNvPr>
              <p:cNvSpPr/>
              <p:nvPr/>
            </p:nvSpPr>
            <p:spPr>
              <a:xfrm>
                <a:off x="0" y="0"/>
                <a:ext cx="812800" cy="609673"/>
              </a:xfrm>
              <a:custGeom>
                <a:avLst/>
                <a:gdLst/>
                <a:ahLst/>
                <a:cxnLst/>
                <a:rect l="l" t="t" r="r" b="b"/>
                <a:pathLst>
                  <a:path w="812800" h="609673">
                    <a:moveTo>
                      <a:pt x="0" y="0"/>
                    </a:moveTo>
                    <a:lnTo>
                      <a:pt x="609600" y="0"/>
                    </a:lnTo>
                    <a:lnTo>
                      <a:pt x="812800" y="304836"/>
                    </a:lnTo>
                    <a:lnTo>
                      <a:pt x="609600" y="609673"/>
                    </a:lnTo>
                    <a:lnTo>
                      <a:pt x="0" y="609673"/>
                    </a:lnTo>
                    <a:lnTo>
                      <a:pt x="203200" y="304836"/>
                    </a:lnTo>
                    <a:lnTo>
                      <a:pt x="0" y="0"/>
                    </a:lnTo>
                    <a:close/>
                  </a:path>
                </a:pathLst>
              </a:custGeom>
              <a:solidFill>
                <a:srgbClr val="FF66C4"/>
              </a:solidFill>
            </p:spPr>
            <p:txBody>
              <a:bodyPr/>
              <a:lstStyle/>
              <a:p>
                <a:endParaRPr lang="en-US"/>
              </a:p>
            </p:txBody>
          </p:sp>
          <p:sp>
            <p:nvSpPr>
              <p:cNvPr id="131" name="TextBox 18">
                <a:extLst>
                  <a:ext uri="{FF2B5EF4-FFF2-40B4-BE49-F238E27FC236}">
                    <a16:creationId xmlns:a16="http://schemas.microsoft.com/office/drawing/2014/main" id="{BA23DE46-1C58-5EE5-9BB4-D168ACED20FF}"/>
                  </a:ext>
                </a:extLst>
              </p:cNvPr>
              <p:cNvSpPr txBox="1"/>
              <p:nvPr/>
            </p:nvSpPr>
            <p:spPr>
              <a:xfrm>
                <a:off x="177800" y="-38100"/>
                <a:ext cx="558800" cy="647773"/>
              </a:xfrm>
              <a:prstGeom prst="rect">
                <a:avLst/>
              </a:prstGeom>
            </p:spPr>
            <p:txBody>
              <a:bodyPr lIns="15625" tIns="15625" rIns="15625" bIns="15625" rtlCol="0" anchor="ctr"/>
              <a:lstStyle/>
              <a:p>
                <a:pPr algn="ctr">
                  <a:lnSpc>
                    <a:spcPts val="2239"/>
                  </a:lnSpc>
                </a:pPr>
                <a:endParaRPr/>
              </a:p>
            </p:txBody>
          </p:sp>
        </p:grpSp>
        <p:sp>
          <p:nvSpPr>
            <p:cNvPr id="105" name="TextBox 19">
              <a:extLst>
                <a:ext uri="{FF2B5EF4-FFF2-40B4-BE49-F238E27FC236}">
                  <a16:creationId xmlns:a16="http://schemas.microsoft.com/office/drawing/2014/main" id="{60095755-D5BB-C20C-7689-B1EA7FFE6B45}"/>
                </a:ext>
              </a:extLst>
            </p:cNvPr>
            <p:cNvSpPr txBox="1"/>
            <p:nvPr/>
          </p:nvSpPr>
          <p:spPr>
            <a:xfrm>
              <a:off x="192813" y="2379632"/>
              <a:ext cx="233442" cy="321692"/>
            </a:xfrm>
            <a:prstGeom prst="rect">
              <a:avLst/>
            </a:prstGeom>
          </p:spPr>
          <p:txBody>
            <a:bodyPr lIns="0" tIns="0" rIns="0" bIns="0" rtlCol="0" anchor="t">
              <a:spAutoFit/>
            </a:bodyPr>
            <a:lstStyle/>
            <a:p>
              <a:pPr algn="ctr">
                <a:lnSpc>
                  <a:spcPts val="1845"/>
                </a:lnSpc>
                <a:spcBef>
                  <a:spcPct val="0"/>
                </a:spcBef>
              </a:pPr>
              <a:r>
                <a:rPr lang="en-US" sz="1537" b="1" spc="15">
                  <a:solidFill>
                    <a:srgbClr val="FEFEFE"/>
                  </a:solidFill>
                  <a:latin typeface="Raleway Bold"/>
                  <a:ea typeface="Raleway Bold"/>
                  <a:cs typeface="Raleway Bold"/>
                  <a:sym typeface="Raleway Bold"/>
                </a:rPr>
                <a:t>C</a:t>
              </a:r>
            </a:p>
          </p:txBody>
        </p:sp>
        <p:grpSp>
          <p:nvGrpSpPr>
            <p:cNvPr id="106" name="Group 20">
              <a:extLst>
                <a:ext uri="{FF2B5EF4-FFF2-40B4-BE49-F238E27FC236}">
                  <a16:creationId xmlns:a16="http://schemas.microsoft.com/office/drawing/2014/main" id="{B8F39BBE-27B8-FC5D-0F29-671DF8EF320E}"/>
                </a:ext>
              </a:extLst>
            </p:cNvPr>
            <p:cNvGrpSpPr/>
            <p:nvPr/>
          </p:nvGrpSpPr>
          <p:grpSpPr>
            <a:xfrm rot="5400000">
              <a:off x="-104018" y="2942508"/>
              <a:ext cx="832445" cy="624408"/>
              <a:chOff x="0" y="0"/>
              <a:chExt cx="812800" cy="609673"/>
            </a:xfrm>
          </p:grpSpPr>
          <p:sp>
            <p:nvSpPr>
              <p:cNvPr id="128" name="Freeform 21">
                <a:extLst>
                  <a:ext uri="{FF2B5EF4-FFF2-40B4-BE49-F238E27FC236}">
                    <a16:creationId xmlns:a16="http://schemas.microsoft.com/office/drawing/2014/main" id="{1EEA298F-0067-28F9-04C8-1280DEA109D7}"/>
                  </a:ext>
                </a:extLst>
              </p:cNvPr>
              <p:cNvSpPr/>
              <p:nvPr/>
            </p:nvSpPr>
            <p:spPr>
              <a:xfrm>
                <a:off x="0" y="0"/>
                <a:ext cx="812800" cy="609673"/>
              </a:xfrm>
              <a:custGeom>
                <a:avLst/>
                <a:gdLst/>
                <a:ahLst/>
                <a:cxnLst/>
                <a:rect l="l" t="t" r="r" b="b"/>
                <a:pathLst>
                  <a:path w="812800" h="609673">
                    <a:moveTo>
                      <a:pt x="0" y="0"/>
                    </a:moveTo>
                    <a:lnTo>
                      <a:pt x="609600" y="0"/>
                    </a:lnTo>
                    <a:lnTo>
                      <a:pt x="812800" y="304836"/>
                    </a:lnTo>
                    <a:lnTo>
                      <a:pt x="609600" y="609673"/>
                    </a:lnTo>
                    <a:lnTo>
                      <a:pt x="0" y="609673"/>
                    </a:lnTo>
                    <a:lnTo>
                      <a:pt x="203200" y="304836"/>
                    </a:lnTo>
                    <a:lnTo>
                      <a:pt x="0" y="0"/>
                    </a:lnTo>
                    <a:close/>
                  </a:path>
                </a:pathLst>
              </a:custGeom>
              <a:solidFill>
                <a:srgbClr val="FF5757"/>
              </a:solidFill>
            </p:spPr>
            <p:txBody>
              <a:bodyPr/>
              <a:lstStyle/>
              <a:p>
                <a:endParaRPr lang="en-US"/>
              </a:p>
            </p:txBody>
          </p:sp>
          <p:sp>
            <p:nvSpPr>
              <p:cNvPr id="129" name="TextBox 22">
                <a:extLst>
                  <a:ext uri="{FF2B5EF4-FFF2-40B4-BE49-F238E27FC236}">
                    <a16:creationId xmlns:a16="http://schemas.microsoft.com/office/drawing/2014/main" id="{DC0F1476-A85E-7118-C690-F91AD6767994}"/>
                  </a:ext>
                </a:extLst>
              </p:cNvPr>
              <p:cNvSpPr txBox="1"/>
              <p:nvPr/>
            </p:nvSpPr>
            <p:spPr>
              <a:xfrm>
                <a:off x="177800" y="-38100"/>
                <a:ext cx="558800" cy="647773"/>
              </a:xfrm>
              <a:prstGeom prst="rect">
                <a:avLst/>
              </a:prstGeom>
            </p:spPr>
            <p:txBody>
              <a:bodyPr lIns="15625" tIns="15625" rIns="15625" bIns="15625" rtlCol="0" anchor="ctr"/>
              <a:lstStyle/>
              <a:p>
                <a:pPr algn="ctr">
                  <a:lnSpc>
                    <a:spcPts val="2239"/>
                  </a:lnSpc>
                </a:pPr>
                <a:endParaRPr/>
              </a:p>
            </p:txBody>
          </p:sp>
        </p:grpSp>
        <p:sp>
          <p:nvSpPr>
            <p:cNvPr id="107" name="TextBox 23">
              <a:extLst>
                <a:ext uri="{FF2B5EF4-FFF2-40B4-BE49-F238E27FC236}">
                  <a16:creationId xmlns:a16="http://schemas.microsoft.com/office/drawing/2014/main" id="{2204F2A3-B934-CA40-B59D-7EEE074EB870}"/>
                </a:ext>
              </a:extLst>
            </p:cNvPr>
            <p:cNvSpPr txBox="1"/>
            <p:nvPr/>
          </p:nvSpPr>
          <p:spPr>
            <a:xfrm>
              <a:off x="198154" y="3089104"/>
              <a:ext cx="228101" cy="321692"/>
            </a:xfrm>
            <a:prstGeom prst="rect">
              <a:avLst/>
            </a:prstGeom>
          </p:spPr>
          <p:txBody>
            <a:bodyPr lIns="0" tIns="0" rIns="0" bIns="0" rtlCol="0" anchor="t">
              <a:spAutoFit/>
            </a:bodyPr>
            <a:lstStyle/>
            <a:p>
              <a:pPr algn="ctr">
                <a:lnSpc>
                  <a:spcPts val="1845"/>
                </a:lnSpc>
                <a:spcBef>
                  <a:spcPct val="0"/>
                </a:spcBef>
              </a:pPr>
              <a:r>
                <a:rPr lang="en-US" sz="1537" b="1" spc="15">
                  <a:solidFill>
                    <a:srgbClr val="FEFEFE"/>
                  </a:solidFill>
                  <a:latin typeface="Raleway Bold"/>
                  <a:ea typeface="Raleway Bold"/>
                  <a:cs typeface="Raleway Bold"/>
                  <a:sym typeface="Raleway Bold"/>
                </a:rPr>
                <a:t>H</a:t>
              </a:r>
            </a:p>
          </p:txBody>
        </p:sp>
        <p:grpSp>
          <p:nvGrpSpPr>
            <p:cNvPr id="108" name="Group 24">
              <a:extLst>
                <a:ext uri="{FF2B5EF4-FFF2-40B4-BE49-F238E27FC236}">
                  <a16:creationId xmlns:a16="http://schemas.microsoft.com/office/drawing/2014/main" id="{A4641146-A239-4F0D-6AAF-A4EB3414289B}"/>
                </a:ext>
              </a:extLst>
            </p:cNvPr>
            <p:cNvGrpSpPr/>
            <p:nvPr/>
          </p:nvGrpSpPr>
          <p:grpSpPr>
            <a:xfrm rot="5400000">
              <a:off x="-104018" y="3653865"/>
              <a:ext cx="832445" cy="624408"/>
              <a:chOff x="0" y="0"/>
              <a:chExt cx="812800" cy="609673"/>
            </a:xfrm>
          </p:grpSpPr>
          <p:sp>
            <p:nvSpPr>
              <p:cNvPr id="126" name="Freeform 25">
                <a:extLst>
                  <a:ext uri="{FF2B5EF4-FFF2-40B4-BE49-F238E27FC236}">
                    <a16:creationId xmlns:a16="http://schemas.microsoft.com/office/drawing/2014/main" id="{0DA51B2C-C470-A210-B265-383F19C3DBBE}"/>
                  </a:ext>
                </a:extLst>
              </p:cNvPr>
              <p:cNvSpPr/>
              <p:nvPr/>
            </p:nvSpPr>
            <p:spPr>
              <a:xfrm>
                <a:off x="0" y="0"/>
                <a:ext cx="812800" cy="609673"/>
              </a:xfrm>
              <a:custGeom>
                <a:avLst/>
                <a:gdLst/>
                <a:ahLst/>
                <a:cxnLst/>
                <a:rect l="l" t="t" r="r" b="b"/>
                <a:pathLst>
                  <a:path w="812800" h="609673">
                    <a:moveTo>
                      <a:pt x="0" y="0"/>
                    </a:moveTo>
                    <a:lnTo>
                      <a:pt x="609600" y="0"/>
                    </a:lnTo>
                    <a:lnTo>
                      <a:pt x="812800" y="304836"/>
                    </a:lnTo>
                    <a:lnTo>
                      <a:pt x="609600" y="609673"/>
                    </a:lnTo>
                    <a:lnTo>
                      <a:pt x="0" y="609673"/>
                    </a:lnTo>
                    <a:lnTo>
                      <a:pt x="203200" y="304836"/>
                    </a:lnTo>
                    <a:lnTo>
                      <a:pt x="0" y="0"/>
                    </a:lnTo>
                    <a:close/>
                  </a:path>
                </a:pathLst>
              </a:custGeom>
              <a:solidFill>
                <a:srgbClr val="FF914D"/>
              </a:solidFill>
            </p:spPr>
            <p:txBody>
              <a:bodyPr/>
              <a:lstStyle/>
              <a:p>
                <a:endParaRPr lang="en-US"/>
              </a:p>
            </p:txBody>
          </p:sp>
          <p:sp>
            <p:nvSpPr>
              <p:cNvPr id="127" name="TextBox 26">
                <a:extLst>
                  <a:ext uri="{FF2B5EF4-FFF2-40B4-BE49-F238E27FC236}">
                    <a16:creationId xmlns:a16="http://schemas.microsoft.com/office/drawing/2014/main" id="{7A1BA06C-E477-D89A-ABEA-AF733D57F79F}"/>
                  </a:ext>
                </a:extLst>
              </p:cNvPr>
              <p:cNvSpPr txBox="1"/>
              <p:nvPr/>
            </p:nvSpPr>
            <p:spPr>
              <a:xfrm>
                <a:off x="177800" y="-38100"/>
                <a:ext cx="558800" cy="647773"/>
              </a:xfrm>
              <a:prstGeom prst="rect">
                <a:avLst/>
              </a:prstGeom>
            </p:spPr>
            <p:txBody>
              <a:bodyPr lIns="15625" tIns="15625" rIns="15625" bIns="15625" rtlCol="0" anchor="ctr"/>
              <a:lstStyle/>
              <a:p>
                <a:pPr algn="ctr">
                  <a:lnSpc>
                    <a:spcPts val="2239"/>
                  </a:lnSpc>
                </a:pPr>
                <a:endParaRPr/>
              </a:p>
            </p:txBody>
          </p:sp>
        </p:grpSp>
        <p:sp>
          <p:nvSpPr>
            <p:cNvPr id="109" name="TextBox 27">
              <a:extLst>
                <a:ext uri="{FF2B5EF4-FFF2-40B4-BE49-F238E27FC236}">
                  <a16:creationId xmlns:a16="http://schemas.microsoft.com/office/drawing/2014/main" id="{3CE6B5BB-B402-BD1D-2E35-E94A9D7A85BF}"/>
                </a:ext>
              </a:extLst>
            </p:cNvPr>
            <p:cNvSpPr txBox="1"/>
            <p:nvPr/>
          </p:nvSpPr>
          <p:spPr>
            <a:xfrm>
              <a:off x="198154" y="3800460"/>
              <a:ext cx="228101" cy="321692"/>
            </a:xfrm>
            <a:prstGeom prst="rect">
              <a:avLst/>
            </a:prstGeom>
          </p:spPr>
          <p:txBody>
            <a:bodyPr lIns="0" tIns="0" rIns="0" bIns="0" rtlCol="0" anchor="t">
              <a:spAutoFit/>
            </a:bodyPr>
            <a:lstStyle/>
            <a:p>
              <a:pPr algn="ctr">
                <a:lnSpc>
                  <a:spcPts val="1845"/>
                </a:lnSpc>
                <a:spcBef>
                  <a:spcPct val="0"/>
                </a:spcBef>
              </a:pPr>
              <a:r>
                <a:rPr lang="en-US" sz="1537" b="1" spc="15">
                  <a:solidFill>
                    <a:srgbClr val="FEFEFE"/>
                  </a:solidFill>
                  <a:latin typeface="Raleway Bold"/>
                  <a:ea typeface="Raleway Bold"/>
                  <a:cs typeface="Raleway Bold"/>
                  <a:sym typeface="Raleway Bold"/>
                </a:rPr>
                <a:t>O</a:t>
              </a:r>
            </a:p>
          </p:txBody>
        </p:sp>
        <p:grpSp>
          <p:nvGrpSpPr>
            <p:cNvPr id="110" name="Group 28">
              <a:extLst>
                <a:ext uri="{FF2B5EF4-FFF2-40B4-BE49-F238E27FC236}">
                  <a16:creationId xmlns:a16="http://schemas.microsoft.com/office/drawing/2014/main" id="{C9655C9B-4DBD-F815-508A-3A4204A23012}"/>
                </a:ext>
              </a:extLst>
            </p:cNvPr>
            <p:cNvGrpSpPr/>
            <p:nvPr/>
          </p:nvGrpSpPr>
          <p:grpSpPr>
            <a:xfrm rot="5400000">
              <a:off x="-104018" y="4354957"/>
              <a:ext cx="832445" cy="624408"/>
              <a:chOff x="0" y="0"/>
              <a:chExt cx="812800" cy="609673"/>
            </a:xfrm>
          </p:grpSpPr>
          <p:sp>
            <p:nvSpPr>
              <p:cNvPr id="124" name="Freeform 29">
                <a:extLst>
                  <a:ext uri="{FF2B5EF4-FFF2-40B4-BE49-F238E27FC236}">
                    <a16:creationId xmlns:a16="http://schemas.microsoft.com/office/drawing/2014/main" id="{29B54BCA-2A01-BE3D-4F98-80909211B0A0}"/>
                  </a:ext>
                </a:extLst>
              </p:cNvPr>
              <p:cNvSpPr/>
              <p:nvPr/>
            </p:nvSpPr>
            <p:spPr>
              <a:xfrm>
                <a:off x="0" y="0"/>
                <a:ext cx="812800" cy="609673"/>
              </a:xfrm>
              <a:custGeom>
                <a:avLst/>
                <a:gdLst/>
                <a:ahLst/>
                <a:cxnLst/>
                <a:rect l="l" t="t" r="r" b="b"/>
                <a:pathLst>
                  <a:path w="812800" h="609673">
                    <a:moveTo>
                      <a:pt x="0" y="0"/>
                    </a:moveTo>
                    <a:lnTo>
                      <a:pt x="609600" y="0"/>
                    </a:lnTo>
                    <a:lnTo>
                      <a:pt x="812800" y="304836"/>
                    </a:lnTo>
                    <a:lnTo>
                      <a:pt x="609600" y="609673"/>
                    </a:lnTo>
                    <a:lnTo>
                      <a:pt x="0" y="609673"/>
                    </a:lnTo>
                    <a:lnTo>
                      <a:pt x="203200" y="304836"/>
                    </a:lnTo>
                    <a:lnTo>
                      <a:pt x="0" y="0"/>
                    </a:lnTo>
                    <a:close/>
                  </a:path>
                </a:pathLst>
              </a:custGeom>
              <a:solidFill>
                <a:srgbClr val="FFDE59"/>
              </a:solidFill>
            </p:spPr>
            <p:txBody>
              <a:bodyPr/>
              <a:lstStyle/>
              <a:p>
                <a:endParaRPr lang="en-US"/>
              </a:p>
            </p:txBody>
          </p:sp>
          <p:sp>
            <p:nvSpPr>
              <p:cNvPr id="125" name="TextBox 30">
                <a:extLst>
                  <a:ext uri="{FF2B5EF4-FFF2-40B4-BE49-F238E27FC236}">
                    <a16:creationId xmlns:a16="http://schemas.microsoft.com/office/drawing/2014/main" id="{2D28339A-EBE0-27CF-38EA-64150567E38C}"/>
                  </a:ext>
                </a:extLst>
              </p:cNvPr>
              <p:cNvSpPr txBox="1"/>
              <p:nvPr/>
            </p:nvSpPr>
            <p:spPr>
              <a:xfrm>
                <a:off x="177800" y="-38100"/>
                <a:ext cx="558800" cy="647773"/>
              </a:xfrm>
              <a:prstGeom prst="rect">
                <a:avLst/>
              </a:prstGeom>
            </p:spPr>
            <p:txBody>
              <a:bodyPr lIns="15625" tIns="15625" rIns="15625" bIns="15625" rtlCol="0" anchor="ctr"/>
              <a:lstStyle/>
              <a:p>
                <a:pPr algn="ctr">
                  <a:lnSpc>
                    <a:spcPts val="2239"/>
                  </a:lnSpc>
                </a:pPr>
                <a:endParaRPr/>
              </a:p>
            </p:txBody>
          </p:sp>
        </p:grpSp>
        <p:sp>
          <p:nvSpPr>
            <p:cNvPr id="111" name="TextBox 31">
              <a:extLst>
                <a:ext uri="{FF2B5EF4-FFF2-40B4-BE49-F238E27FC236}">
                  <a16:creationId xmlns:a16="http://schemas.microsoft.com/office/drawing/2014/main" id="{7DDBBBA1-0B53-6192-0C9A-A2EB6D94381B}"/>
                </a:ext>
              </a:extLst>
            </p:cNvPr>
            <p:cNvSpPr txBox="1"/>
            <p:nvPr/>
          </p:nvSpPr>
          <p:spPr>
            <a:xfrm>
              <a:off x="198154" y="4501552"/>
              <a:ext cx="228101" cy="321692"/>
            </a:xfrm>
            <a:prstGeom prst="rect">
              <a:avLst/>
            </a:prstGeom>
          </p:spPr>
          <p:txBody>
            <a:bodyPr lIns="0" tIns="0" rIns="0" bIns="0" rtlCol="0" anchor="t">
              <a:spAutoFit/>
            </a:bodyPr>
            <a:lstStyle/>
            <a:p>
              <a:pPr algn="ctr">
                <a:lnSpc>
                  <a:spcPts val="1845"/>
                </a:lnSpc>
                <a:spcBef>
                  <a:spcPct val="0"/>
                </a:spcBef>
              </a:pPr>
              <a:r>
                <a:rPr lang="en-US" sz="1537" b="1" spc="15">
                  <a:solidFill>
                    <a:srgbClr val="FEFEFE"/>
                  </a:solidFill>
                  <a:latin typeface="Raleway Bold"/>
                  <a:ea typeface="Raleway Bold"/>
                  <a:cs typeface="Raleway Bold"/>
                  <a:sym typeface="Raleway Bold"/>
                </a:rPr>
                <a:t>P</a:t>
              </a:r>
            </a:p>
          </p:txBody>
        </p:sp>
        <p:grpSp>
          <p:nvGrpSpPr>
            <p:cNvPr id="112" name="Group 32">
              <a:extLst>
                <a:ext uri="{FF2B5EF4-FFF2-40B4-BE49-F238E27FC236}">
                  <a16:creationId xmlns:a16="http://schemas.microsoft.com/office/drawing/2014/main" id="{1FA4F778-A26C-F0BF-13ED-BA5F896F44F5}"/>
                </a:ext>
              </a:extLst>
            </p:cNvPr>
            <p:cNvGrpSpPr/>
            <p:nvPr/>
          </p:nvGrpSpPr>
          <p:grpSpPr>
            <a:xfrm rot="5400000">
              <a:off x="-104018" y="5066313"/>
              <a:ext cx="832445" cy="624408"/>
              <a:chOff x="0" y="0"/>
              <a:chExt cx="812800" cy="609673"/>
            </a:xfrm>
          </p:grpSpPr>
          <p:sp>
            <p:nvSpPr>
              <p:cNvPr id="122" name="Freeform 33">
                <a:extLst>
                  <a:ext uri="{FF2B5EF4-FFF2-40B4-BE49-F238E27FC236}">
                    <a16:creationId xmlns:a16="http://schemas.microsoft.com/office/drawing/2014/main" id="{2C4DC87A-4CD6-D8BB-A675-3A1BE01E9E9B}"/>
                  </a:ext>
                </a:extLst>
              </p:cNvPr>
              <p:cNvSpPr/>
              <p:nvPr/>
            </p:nvSpPr>
            <p:spPr>
              <a:xfrm>
                <a:off x="0" y="0"/>
                <a:ext cx="812800" cy="609673"/>
              </a:xfrm>
              <a:custGeom>
                <a:avLst/>
                <a:gdLst/>
                <a:ahLst/>
                <a:cxnLst/>
                <a:rect l="l" t="t" r="r" b="b"/>
                <a:pathLst>
                  <a:path w="812800" h="609673">
                    <a:moveTo>
                      <a:pt x="0" y="0"/>
                    </a:moveTo>
                    <a:lnTo>
                      <a:pt x="609600" y="0"/>
                    </a:lnTo>
                    <a:lnTo>
                      <a:pt x="812800" y="304836"/>
                    </a:lnTo>
                    <a:lnTo>
                      <a:pt x="609600" y="609673"/>
                    </a:lnTo>
                    <a:lnTo>
                      <a:pt x="0" y="609673"/>
                    </a:lnTo>
                    <a:lnTo>
                      <a:pt x="203200" y="304836"/>
                    </a:lnTo>
                    <a:lnTo>
                      <a:pt x="0" y="0"/>
                    </a:lnTo>
                    <a:close/>
                  </a:path>
                </a:pathLst>
              </a:custGeom>
              <a:solidFill>
                <a:srgbClr val="99E17A"/>
              </a:solidFill>
            </p:spPr>
            <p:txBody>
              <a:bodyPr/>
              <a:lstStyle/>
              <a:p>
                <a:endParaRPr lang="en-US"/>
              </a:p>
            </p:txBody>
          </p:sp>
          <p:sp>
            <p:nvSpPr>
              <p:cNvPr id="123" name="TextBox 34">
                <a:extLst>
                  <a:ext uri="{FF2B5EF4-FFF2-40B4-BE49-F238E27FC236}">
                    <a16:creationId xmlns:a16="http://schemas.microsoft.com/office/drawing/2014/main" id="{0F2F1A33-A551-35C9-A9E1-8BAA06116E03}"/>
                  </a:ext>
                </a:extLst>
              </p:cNvPr>
              <p:cNvSpPr txBox="1"/>
              <p:nvPr/>
            </p:nvSpPr>
            <p:spPr>
              <a:xfrm>
                <a:off x="177800" y="-38100"/>
                <a:ext cx="558800" cy="647773"/>
              </a:xfrm>
              <a:prstGeom prst="rect">
                <a:avLst/>
              </a:prstGeom>
            </p:spPr>
            <p:txBody>
              <a:bodyPr lIns="15625" tIns="15625" rIns="15625" bIns="15625" rtlCol="0" anchor="ctr"/>
              <a:lstStyle/>
              <a:p>
                <a:pPr algn="ctr">
                  <a:lnSpc>
                    <a:spcPts val="2239"/>
                  </a:lnSpc>
                </a:pPr>
                <a:endParaRPr/>
              </a:p>
            </p:txBody>
          </p:sp>
        </p:grpSp>
        <p:sp>
          <p:nvSpPr>
            <p:cNvPr id="113" name="TextBox 35">
              <a:extLst>
                <a:ext uri="{FF2B5EF4-FFF2-40B4-BE49-F238E27FC236}">
                  <a16:creationId xmlns:a16="http://schemas.microsoft.com/office/drawing/2014/main" id="{670777E7-4702-F5B1-01EB-F1ABF508925F}"/>
                </a:ext>
              </a:extLst>
            </p:cNvPr>
            <p:cNvSpPr txBox="1"/>
            <p:nvPr/>
          </p:nvSpPr>
          <p:spPr>
            <a:xfrm>
              <a:off x="198154" y="5212909"/>
              <a:ext cx="228101" cy="321692"/>
            </a:xfrm>
            <a:prstGeom prst="rect">
              <a:avLst/>
            </a:prstGeom>
          </p:spPr>
          <p:txBody>
            <a:bodyPr lIns="0" tIns="0" rIns="0" bIns="0" rtlCol="0" anchor="t">
              <a:spAutoFit/>
            </a:bodyPr>
            <a:lstStyle/>
            <a:p>
              <a:pPr algn="ctr">
                <a:lnSpc>
                  <a:spcPts val="1845"/>
                </a:lnSpc>
                <a:spcBef>
                  <a:spcPct val="0"/>
                </a:spcBef>
              </a:pPr>
              <a:r>
                <a:rPr lang="en-US" sz="1537" b="1" spc="15">
                  <a:solidFill>
                    <a:srgbClr val="FEFEFE"/>
                  </a:solidFill>
                  <a:latin typeface="Raleway Bold"/>
                  <a:ea typeface="Raleway Bold"/>
                  <a:cs typeface="Raleway Bold"/>
                  <a:sym typeface="Raleway Bold"/>
                </a:rPr>
                <a:t>S</a:t>
              </a:r>
            </a:p>
          </p:txBody>
        </p:sp>
        <p:sp>
          <p:nvSpPr>
            <p:cNvPr id="114" name="TextBox 36">
              <a:extLst>
                <a:ext uri="{FF2B5EF4-FFF2-40B4-BE49-F238E27FC236}">
                  <a16:creationId xmlns:a16="http://schemas.microsoft.com/office/drawing/2014/main" id="{2F08B80E-17C7-8F1C-E333-9839A48BB637}"/>
                </a:ext>
              </a:extLst>
            </p:cNvPr>
            <p:cNvSpPr txBox="1"/>
            <p:nvPr/>
          </p:nvSpPr>
          <p:spPr>
            <a:xfrm>
              <a:off x="751509" y="249346"/>
              <a:ext cx="1893952" cy="314702"/>
            </a:xfrm>
            <a:prstGeom prst="rect">
              <a:avLst/>
            </a:prstGeom>
          </p:spPr>
          <p:txBody>
            <a:bodyPr lIns="0" tIns="0" rIns="0" bIns="0" rtlCol="0" anchor="t">
              <a:spAutoFit/>
            </a:bodyPr>
            <a:lstStyle/>
            <a:p>
              <a:pPr algn="l">
                <a:lnSpc>
                  <a:spcPts val="1884"/>
                </a:lnSpc>
                <a:spcBef>
                  <a:spcPct val="0"/>
                </a:spcBef>
              </a:pPr>
              <a:r>
                <a:rPr lang="en-US" sz="1483" b="1">
                  <a:solidFill>
                    <a:srgbClr val="5271FF"/>
                  </a:solidFill>
                  <a:latin typeface="Arial Bold"/>
                  <a:ea typeface="Arial Bold"/>
                  <a:cs typeface="Arial Bold"/>
                  <a:sym typeface="Arial Bold"/>
                </a:rPr>
                <a:t>Fusion/Imaging</a:t>
              </a:r>
            </a:p>
          </p:txBody>
        </p:sp>
        <p:sp>
          <p:nvSpPr>
            <p:cNvPr id="115" name="TextBox 37">
              <a:extLst>
                <a:ext uri="{FF2B5EF4-FFF2-40B4-BE49-F238E27FC236}">
                  <a16:creationId xmlns:a16="http://schemas.microsoft.com/office/drawing/2014/main" id="{713A91ED-8368-6814-8FDF-7F84A2F4B62C}"/>
                </a:ext>
              </a:extLst>
            </p:cNvPr>
            <p:cNvSpPr txBox="1"/>
            <p:nvPr/>
          </p:nvSpPr>
          <p:spPr>
            <a:xfrm>
              <a:off x="751509" y="883298"/>
              <a:ext cx="1385855" cy="314702"/>
            </a:xfrm>
            <a:prstGeom prst="rect">
              <a:avLst/>
            </a:prstGeom>
          </p:spPr>
          <p:txBody>
            <a:bodyPr lIns="0" tIns="0" rIns="0" bIns="0" rtlCol="0" anchor="t">
              <a:spAutoFit/>
            </a:bodyPr>
            <a:lstStyle/>
            <a:p>
              <a:pPr algn="l">
                <a:lnSpc>
                  <a:spcPts val="1884"/>
                </a:lnSpc>
                <a:spcBef>
                  <a:spcPct val="0"/>
                </a:spcBef>
              </a:pPr>
              <a:r>
                <a:rPr lang="en-US" sz="1483" b="1">
                  <a:solidFill>
                    <a:srgbClr val="8C52FF"/>
                  </a:solidFill>
                  <a:latin typeface="Arial Bold"/>
                  <a:ea typeface="Arial Bold"/>
                  <a:cs typeface="Arial Bold"/>
                  <a:sym typeface="Arial Bold"/>
                </a:rPr>
                <a:t>Contours</a:t>
              </a:r>
            </a:p>
          </p:txBody>
        </p:sp>
        <p:sp>
          <p:nvSpPr>
            <p:cNvPr id="116" name="TextBox 38">
              <a:extLst>
                <a:ext uri="{FF2B5EF4-FFF2-40B4-BE49-F238E27FC236}">
                  <a16:creationId xmlns:a16="http://schemas.microsoft.com/office/drawing/2014/main" id="{713868A4-1989-826F-C48C-7D1029864DC9}"/>
                </a:ext>
              </a:extLst>
            </p:cNvPr>
            <p:cNvSpPr txBox="1"/>
            <p:nvPr/>
          </p:nvSpPr>
          <p:spPr>
            <a:xfrm>
              <a:off x="751509" y="1636575"/>
              <a:ext cx="2333201" cy="314702"/>
            </a:xfrm>
            <a:prstGeom prst="rect">
              <a:avLst/>
            </a:prstGeom>
          </p:spPr>
          <p:txBody>
            <a:bodyPr lIns="0" tIns="0" rIns="0" bIns="0" rtlCol="0" anchor="t">
              <a:spAutoFit/>
            </a:bodyPr>
            <a:lstStyle/>
            <a:p>
              <a:pPr algn="l">
                <a:lnSpc>
                  <a:spcPts val="1884"/>
                </a:lnSpc>
                <a:spcBef>
                  <a:spcPct val="0"/>
                </a:spcBef>
              </a:pPr>
              <a:r>
                <a:rPr lang="en-US" sz="1483" b="1" dirty="0">
                  <a:solidFill>
                    <a:srgbClr val="CB6CE6"/>
                  </a:solidFill>
                  <a:latin typeface="Arial Bold"/>
                  <a:ea typeface="Arial Bold"/>
                  <a:cs typeface="Arial Bold"/>
                  <a:sym typeface="Arial Bold"/>
                </a:rPr>
                <a:t>Beam Arrangement</a:t>
              </a:r>
            </a:p>
          </p:txBody>
        </p:sp>
        <p:sp>
          <p:nvSpPr>
            <p:cNvPr id="117" name="TextBox 39">
              <a:extLst>
                <a:ext uri="{FF2B5EF4-FFF2-40B4-BE49-F238E27FC236}">
                  <a16:creationId xmlns:a16="http://schemas.microsoft.com/office/drawing/2014/main" id="{5BA29271-1504-3C76-70FC-2FEA504A2F7E}"/>
                </a:ext>
              </a:extLst>
            </p:cNvPr>
            <p:cNvSpPr txBox="1"/>
            <p:nvPr/>
          </p:nvSpPr>
          <p:spPr>
            <a:xfrm>
              <a:off x="751509" y="2358235"/>
              <a:ext cx="1166601" cy="314702"/>
            </a:xfrm>
            <a:prstGeom prst="rect">
              <a:avLst/>
            </a:prstGeom>
          </p:spPr>
          <p:txBody>
            <a:bodyPr lIns="0" tIns="0" rIns="0" bIns="0" rtlCol="0" anchor="t">
              <a:spAutoFit/>
            </a:bodyPr>
            <a:lstStyle/>
            <a:p>
              <a:pPr algn="l">
                <a:lnSpc>
                  <a:spcPts val="1884"/>
                </a:lnSpc>
                <a:spcBef>
                  <a:spcPct val="0"/>
                </a:spcBef>
              </a:pPr>
              <a:r>
                <a:rPr lang="en-US" sz="1483" b="1">
                  <a:solidFill>
                    <a:srgbClr val="FF66C4"/>
                  </a:solidFill>
                  <a:latin typeface="Arial Bold"/>
                  <a:ea typeface="Arial Bold"/>
                  <a:cs typeface="Arial Bold"/>
                  <a:sym typeface="Arial Bold"/>
                </a:rPr>
                <a:t>Coverage</a:t>
              </a:r>
            </a:p>
          </p:txBody>
        </p:sp>
        <p:sp>
          <p:nvSpPr>
            <p:cNvPr id="118" name="TextBox 40">
              <a:extLst>
                <a:ext uri="{FF2B5EF4-FFF2-40B4-BE49-F238E27FC236}">
                  <a16:creationId xmlns:a16="http://schemas.microsoft.com/office/drawing/2014/main" id="{29C7D11E-1C2B-9239-3A6B-B0A5FE7C58F6}"/>
                </a:ext>
              </a:extLst>
            </p:cNvPr>
            <p:cNvSpPr txBox="1"/>
            <p:nvPr/>
          </p:nvSpPr>
          <p:spPr>
            <a:xfrm>
              <a:off x="751509" y="3079579"/>
              <a:ext cx="2900490" cy="314702"/>
            </a:xfrm>
            <a:prstGeom prst="rect">
              <a:avLst/>
            </a:prstGeom>
          </p:spPr>
          <p:txBody>
            <a:bodyPr lIns="0" tIns="0" rIns="0" bIns="0" rtlCol="0" anchor="t">
              <a:spAutoFit/>
            </a:bodyPr>
            <a:lstStyle/>
            <a:p>
              <a:pPr algn="l">
                <a:lnSpc>
                  <a:spcPts val="1884"/>
                </a:lnSpc>
                <a:spcBef>
                  <a:spcPct val="0"/>
                </a:spcBef>
              </a:pPr>
              <a:r>
                <a:rPr lang="en-US" sz="1483" b="1">
                  <a:solidFill>
                    <a:srgbClr val="FF5757"/>
                  </a:solidFill>
                  <a:latin typeface="Arial Bold"/>
                  <a:ea typeface="Arial Bold"/>
                  <a:cs typeface="Arial Bold"/>
                  <a:sym typeface="Arial Bold"/>
                </a:rPr>
                <a:t>Heterogeneity/Hotspots</a:t>
              </a:r>
            </a:p>
          </p:txBody>
        </p:sp>
        <p:sp>
          <p:nvSpPr>
            <p:cNvPr id="119" name="TextBox 41">
              <a:extLst>
                <a:ext uri="{FF2B5EF4-FFF2-40B4-BE49-F238E27FC236}">
                  <a16:creationId xmlns:a16="http://schemas.microsoft.com/office/drawing/2014/main" id="{EF064370-E33D-9D22-36C3-B446250F6E7C}"/>
                </a:ext>
              </a:extLst>
            </p:cNvPr>
            <p:cNvSpPr txBox="1"/>
            <p:nvPr/>
          </p:nvSpPr>
          <p:spPr>
            <a:xfrm>
              <a:off x="751509" y="3726376"/>
              <a:ext cx="1893952" cy="314702"/>
            </a:xfrm>
            <a:prstGeom prst="rect">
              <a:avLst/>
            </a:prstGeom>
          </p:spPr>
          <p:txBody>
            <a:bodyPr lIns="0" tIns="0" rIns="0" bIns="0" rtlCol="0" anchor="t">
              <a:spAutoFit/>
            </a:bodyPr>
            <a:lstStyle/>
            <a:p>
              <a:pPr algn="l">
                <a:lnSpc>
                  <a:spcPts val="1884"/>
                </a:lnSpc>
                <a:spcBef>
                  <a:spcPct val="0"/>
                </a:spcBef>
              </a:pPr>
              <a:r>
                <a:rPr lang="en-US" sz="1483" b="1">
                  <a:solidFill>
                    <a:srgbClr val="FF914D"/>
                  </a:solidFill>
                  <a:latin typeface="Arial Bold"/>
                  <a:ea typeface="Arial Bold"/>
                  <a:cs typeface="Arial Bold"/>
                  <a:sym typeface="Arial Bold"/>
                </a:rPr>
                <a:t>Organs at Risk</a:t>
              </a:r>
            </a:p>
          </p:txBody>
        </p:sp>
        <p:sp>
          <p:nvSpPr>
            <p:cNvPr id="120" name="TextBox 42">
              <a:extLst>
                <a:ext uri="{FF2B5EF4-FFF2-40B4-BE49-F238E27FC236}">
                  <a16:creationId xmlns:a16="http://schemas.microsoft.com/office/drawing/2014/main" id="{54E7E1FA-63DD-73DB-459E-72D9B56E7AFD}"/>
                </a:ext>
              </a:extLst>
            </p:cNvPr>
            <p:cNvSpPr txBox="1"/>
            <p:nvPr/>
          </p:nvSpPr>
          <p:spPr>
            <a:xfrm>
              <a:off x="751509" y="4448035"/>
              <a:ext cx="1546592" cy="314702"/>
            </a:xfrm>
            <a:prstGeom prst="rect">
              <a:avLst/>
            </a:prstGeom>
          </p:spPr>
          <p:txBody>
            <a:bodyPr lIns="0" tIns="0" rIns="0" bIns="0" rtlCol="0" anchor="t">
              <a:spAutoFit/>
            </a:bodyPr>
            <a:lstStyle/>
            <a:p>
              <a:pPr algn="l">
                <a:lnSpc>
                  <a:spcPts val="1884"/>
                </a:lnSpc>
                <a:spcBef>
                  <a:spcPct val="0"/>
                </a:spcBef>
              </a:pPr>
              <a:r>
                <a:rPr lang="en-US" sz="1483" b="1">
                  <a:solidFill>
                    <a:srgbClr val="FFDE59"/>
                  </a:solidFill>
                  <a:latin typeface="Arial Bold"/>
                  <a:ea typeface="Arial Bold"/>
                  <a:cs typeface="Arial Bold"/>
                  <a:sym typeface="Arial Bold"/>
                </a:rPr>
                <a:t>Prescription</a:t>
              </a:r>
            </a:p>
          </p:txBody>
        </p:sp>
        <p:sp>
          <p:nvSpPr>
            <p:cNvPr id="121" name="TextBox 43">
              <a:extLst>
                <a:ext uri="{FF2B5EF4-FFF2-40B4-BE49-F238E27FC236}">
                  <a16:creationId xmlns:a16="http://schemas.microsoft.com/office/drawing/2014/main" id="{0E57B403-C483-B528-11D2-987B067DC2CA}"/>
                </a:ext>
              </a:extLst>
            </p:cNvPr>
            <p:cNvSpPr txBox="1"/>
            <p:nvPr/>
          </p:nvSpPr>
          <p:spPr>
            <a:xfrm>
              <a:off x="751509" y="5169694"/>
              <a:ext cx="1385855" cy="314702"/>
            </a:xfrm>
            <a:prstGeom prst="rect">
              <a:avLst/>
            </a:prstGeom>
          </p:spPr>
          <p:txBody>
            <a:bodyPr lIns="0" tIns="0" rIns="0" bIns="0" rtlCol="0" anchor="t">
              <a:spAutoFit/>
            </a:bodyPr>
            <a:lstStyle/>
            <a:p>
              <a:pPr algn="l">
                <a:lnSpc>
                  <a:spcPts val="1884"/>
                </a:lnSpc>
                <a:spcBef>
                  <a:spcPct val="0"/>
                </a:spcBef>
              </a:pPr>
              <a:r>
                <a:rPr lang="en-US" sz="1483" b="1">
                  <a:solidFill>
                    <a:srgbClr val="99E17A"/>
                  </a:solidFill>
                  <a:latin typeface="Arial Bold"/>
                  <a:ea typeface="Arial Bold"/>
                  <a:cs typeface="Arial Bold"/>
                  <a:sym typeface="Arial Bold"/>
                </a:rPr>
                <a:t>Summation</a:t>
              </a:r>
            </a:p>
          </p:txBody>
        </p:sp>
      </p:grpSp>
      <p:cxnSp>
        <p:nvCxnSpPr>
          <p:cNvPr id="140" name="Straight Arrow Connector 139">
            <a:extLst>
              <a:ext uri="{FF2B5EF4-FFF2-40B4-BE49-F238E27FC236}">
                <a16:creationId xmlns:a16="http://schemas.microsoft.com/office/drawing/2014/main" id="{A5B91662-725C-27BC-523E-2D3BB698A6AD}"/>
              </a:ext>
            </a:extLst>
          </p:cNvPr>
          <p:cNvCxnSpPr/>
          <p:nvPr/>
        </p:nvCxnSpPr>
        <p:spPr>
          <a:xfrm>
            <a:off x="9186387" y="3091489"/>
            <a:ext cx="0" cy="731776"/>
          </a:xfrm>
          <a:prstGeom prst="straightConnector1">
            <a:avLst/>
          </a:prstGeom>
          <a:ln w="76200">
            <a:solidFill>
              <a:schemeClr val="accent6"/>
            </a:solidFill>
            <a:tailEnd type="triangle"/>
          </a:ln>
        </p:spPr>
        <p:style>
          <a:lnRef idx="1">
            <a:schemeClr val="accent6"/>
          </a:lnRef>
          <a:fillRef idx="0">
            <a:schemeClr val="accent6"/>
          </a:fillRef>
          <a:effectRef idx="0">
            <a:schemeClr val="accent6"/>
          </a:effectRef>
          <a:fontRef idx="minor">
            <a:schemeClr val="tx1"/>
          </a:fontRef>
        </p:style>
      </p:cxnSp>
      <p:sp>
        <p:nvSpPr>
          <p:cNvPr id="6" name="Rounded Rectangle 5">
            <a:extLst>
              <a:ext uri="{FF2B5EF4-FFF2-40B4-BE49-F238E27FC236}">
                <a16:creationId xmlns:a16="http://schemas.microsoft.com/office/drawing/2014/main" id="{26F6A44C-8653-8360-A306-3837A76BA9D4}"/>
              </a:ext>
            </a:extLst>
          </p:cNvPr>
          <p:cNvSpPr/>
          <p:nvPr/>
        </p:nvSpPr>
        <p:spPr>
          <a:xfrm>
            <a:off x="3139679" y="2392035"/>
            <a:ext cx="3437061" cy="3109811"/>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5E77BA99-26F1-2CE2-5082-E5CFC23B15DF}"/>
              </a:ext>
            </a:extLst>
          </p:cNvPr>
          <p:cNvSpPr/>
          <p:nvPr/>
        </p:nvSpPr>
        <p:spPr>
          <a:xfrm>
            <a:off x="3139679" y="2392035"/>
            <a:ext cx="45719" cy="3012655"/>
          </a:xfrm>
          <a:prstGeom prst="rect">
            <a:avLst/>
          </a:prstGeom>
          <a:solidFill>
            <a:srgbClr val="00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AFE026B9-A805-6C2C-1909-BD6D149FEBAD}"/>
              </a:ext>
            </a:extLst>
          </p:cNvPr>
          <p:cNvSpPr txBox="1"/>
          <p:nvPr/>
        </p:nvSpPr>
        <p:spPr>
          <a:xfrm>
            <a:off x="3325124" y="2535664"/>
            <a:ext cx="3204884" cy="283820"/>
          </a:xfrm>
          <a:prstGeom prst="rect">
            <a:avLst/>
          </a:prstGeom>
          <a:noFill/>
        </p:spPr>
        <p:txBody>
          <a:bodyPr wrap="square" lIns="0" tIns="0" rIns="0" bIns="0" anchor="t">
            <a:noAutofit/>
          </a:bodyPr>
          <a:lstStyle/>
          <a:p>
            <a:pPr algn="l">
              <a:lnSpc>
                <a:spcPct val="118000"/>
              </a:lnSpc>
              <a:spcBef>
                <a:spcPts val="0"/>
              </a:spcBef>
              <a:spcAft>
                <a:spcPts val="400"/>
              </a:spcAft>
            </a:pPr>
            <a:r>
              <a:rPr sz="1050" b="1" i="0" spc="160" dirty="0">
                <a:solidFill>
                  <a:srgbClr val="00A9E0"/>
                </a:solidFill>
                <a:latin typeface="Consolas"/>
              </a:rPr>
              <a:t>HOW TO USE IT</a:t>
            </a:r>
          </a:p>
        </p:txBody>
      </p:sp>
      <p:sp>
        <p:nvSpPr>
          <p:cNvPr id="9" name="TextBox 8">
            <a:extLst>
              <a:ext uri="{FF2B5EF4-FFF2-40B4-BE49-F238E27FC236}">
                <a16:creationId xmlns:a16="http://schemas.microsoft.com/office/drawing/2014/main" id="{F7DAA310-2EC6-D207-1F04-3AAD988198A6}"/>
              </a:ext>
            </a:extLst>
          </p:cNvPr>
          <p:cNvSpPr txBox="1"/>
          <p:nvPr/>
        </p:nvSpPr>
        <p:spPr>
          <a:xfrm>
            <a:off x="3260503" y="2858201"/>
            <a:ext cx="3169273" cy="1064325"/>
          </a:xfrm>
          <a:prstGeom prst="rect">
            <a:avLst/>
          </a:prstGeom>
          <a:noFill/>
        </p:spPr>
        <p:txBody>
          <a:bodyPr wrap="square" lIns="0" tIns="0" rIns="0" bIns="0" anchor="t">
            <a:noAutofit/>
          </a:bodyPr>
          <a:lstStyle/>
          <a:p>
            <a:pPr algn="l">
              <a:lnSpc>
                <a:spcPct val="134000"/>
              </a:lnSpc>
              <a:spcBef>
                <a:spcPts val="0"/>
              </a:spcBef>
              <a:spcAft>
                <a:spcPts val="400"/>
              </a:spcAft>
            </a:pPr>
            <a:r>
              <a:rPr sz="1280" b="0" i="0" dirty="0">
                <a:solidFill>
                  <a:srgbClr val="5A7480"/>
                </a:solidFill>
                <a:latin typeface="Calibri"/>
              </a:rPr>
              <a:t>The acronym exists so no critical step is missed </a:t>
            </a:r>
            <a:r>
              <a:rPr lang="en-US" sz="1280" b="0" i="0" dirty="0">
                <a:solidFill>
                  <a:srgbClr val="5A7480"/>
                </a:solidFill>
                <a:latin typeface="Calibri"/>
              </a:rPr>
              <a:t>-</a:t>
            </a:r>
            <a:r>
              <a:rPr sz="1280" b="0" i="0" dirty="0">
                <a:solidFill>
                  <a:srgbClr val="5A7480"/>
                </a:solidFill>
                <a:latin typeface="Calibri"/>
              </a:rPr>
              <a:t> </a:t>
            </a:r>
            <a:r>
              <a:rPr sz="1280" b="1" i="1" dirty="0">
                <a:solidFill>
                  <a:srgbClr val="14313C"/>
                </a:solidFill>
                <a:latin typeface="Calibri"/>
              </a:rPr>
              <a:t>not</a:t>
            </a:r>
            <a:r>
              <a:rPr sz="1280" b="0" i="0" dirty="0">
                <a:solidFill>
                  <a:srgbClr val="5A7480"/>
                </a:solidFill>
                <a:latin typeface="Calibri"/>
              </a:rPr>
              <a:t> so you march rigidly from F to S. Work in whatever order the plan demands; the letters are a safety net, not a script.</a:t>
            </a:r>
          </a:p>
        </p:txBody>
      </p:sp>
      <p:sp>
        <p:nvSpPr>
          <p:cNvPr id="10" name="Rounded Rectangle 9">
            <a:extLst>
              <a:ext uri="{FF2B5EF4-FFF2-40B4-BE49-F238E27FC236}">
                <a16:creationId xmlns:a16="http://schemas.microsoft.com/office/drawing/2014/main" id="{3FE1DC62-AEA6-B364-5DE4-606B1D6A1A26}"/>
              </a:ext>
            </a:extLst>
          </p:cNvPr>
          <p:cNvSpPr/>
          <p:nvPr/>
        </p:nvSpPr>
        <p:spPr>
          <a:xfrm>
            <a:off x="3260502" y="4041692"/>
            <a:ext cx="3169274" cy="1393499"/>
          </a:xfrm>
          <a:prstGeom prst="roundRect">
            <a:avLst>
              <a:gd name="adj" fmla="val 4500"/>
            </a:avLst>
          </a:prstGeom>
          <a:solidFill>
            <a:srgbClr val="FFC000"/>
          </a:solidFill>
          <a:ln>
            <a:solidFill>
              <a:srgbClr val="FFC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396D0477-CBB8-F25F-A9D3-F7EE322EF79C}"/>
              </a:ext>
            </a:extLst>
          </p:cNvPr>
          <p:cNvSpPr txBox="1"/>
          <p:nvPr/>
        </p:nvSpPr>
        <p:spPr>
          <a:xfrm>
            <a:off x="3317708" y="4157688"/>
            <a:ext cx="2878461" cy="283820"/>
          </a:xfrm>
          <a:prstGeom prst="rect">
            <a:avLst/>
          </a:prstGeom>
          <a:noFill/>
          <a:ln>
            <a:noFill/>
          </a:ln>
        </p:spPr>
        <p:txBody>
          <a:bodyPr wrap="square" lIns="0" tIns="0" rIns="0" bIns="0" anchor="t">
            <a:noAutofit/>
          </a:bodyPr>
          <a:lstStyle/>
          <a:p>
            <a:pPr algn="l">
              <a:lnSpc>
                <a:spcPct val="118000"/>
              </a:lnSpc>
              <a:spcBef>
                <a:spcPts val="0"/>
              </a:spcBef>
              <a:spcAft>
                <a:spcPts val="400"/>
              </a:spcAft>
            </a:pPr>
            <a:r>
              <a:rPr sz="1000" b="1" i="0" spc="120" dirty="0">
                <a:solidFill>
                  <a:schemeClr val="bg1"/>
                </a:solidFill>
                <a:latin typeface="Consolas"/>
              </a:rPr>
              <a:t>START WITH THE PRESCRIPTION</a:t>
            </a:r>
          </a:p>
        </p:txBody>
      </p:sp>
      <p:sp>
        <p:nvSpPr>
          <p:cNvPr id="12" name="TextBox 11">
            <a:extLst>
              <a:ext uri="{FF2B5EF4-FFF2-40B4-BE49-F238E27FC236}">
                <a16:creationId xmlns:a16="http://schemas.microsoft.com/office/drawing/2014/main" id="{C2E12FA6-3F20-2FE3-D438-179D4B93A711}"/>
              </a:ext>
            </a:extLst>
          </p:cNvPr>
          <p:cNvSpPr txBox="1"/>
          <p:nvPr/>
        </p:nvSpPr>
        <p:spPr>
          <a:xfrm>
            <a:off x="3328201" y="4364423"/>
            <a:ext cx="3104731" cy="588926"/>
          </a:xfrm>
          <a:prstGeom prst="rect">
            <a:avLst/>
          </a:prstGeom>
          <a:noFill/>
        </p:spPr>
        <p:txBody>
          <a:bodyPr wrap="square" lIns="0" tIns="0" rIns="0" bIns="0" anchor="t">
            <a:noAutofit/>
          </a:bodyPr>
          <a:lstStyle/>
          <a:p>
            <a:pPr algn="l">
              <a:lnSpc>
                <a:spcPct val="136000"/>
              </a:lnSpc>
              <a:spcBef>
                <a:spcPts val="0"/>
              </a:spcBef>
              <a:spcAft>
                <a:spcPts val="400"/>
              </a:spcAft>
            </a:pPr>
            <a:r>
              <a:rPr sz="1200" b="0" i="0" dirty="0">
                <a:solidFill>
                  <a:schemeClr val="bg1"/>
                </a:solidFill>
                <a:latin typeface="Calibri"/>
              </a:rPr>
              <a:t>It defines treatment intent, dose, fractionation, technique and priorities. </a:t>
            </a:r>
            <a:r>
              <a:rPr sz="1200" b="1" i="0" dirty="0">
                <a:solidFill>
                  <a:schemeClr val="bg1"/>
                </a:solidFill>
                <a:latin typeface="Calibri"/>
              </a:rPr>
              <a:t>Every downstream judgement flows from it</a:t>
            </a:r>
            <a:r>
              <a:rPr sz="1200" b="0" i="0" dirty="0">
                <a:solidFill>
                  <a:schemeClr val="bg1"/>
                </a:solidFill>
                <a:latin typeface="Calibri"/>
              </a:rPr>
              <a:t> </a:t>
            </a:r>
            <a:r>
              <a:rPr lang="en-US" sz="1200" b="0" i="0" dirty="0">
                <a:solidFill>
                  <a:schemeClr val="bg1"/>
                </a:solidFill>
                <a:latin typeface="Calibri"/>
              </a:rPr>
              <a:t>- </a:t>
            </a:r>
            <a:r>
              <a:rPr sz="1200" b="0" i="0" dirty="0">
                <a:solidFill>
                  <a:schemeClr val="bg1"/>
                </a:solidFill>
                <a:latin typeface="Calibri"/>
              </a:rPr>
              <a:t> so confirm it before anything else.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A54D06D-4754-4E72-E3F3-6D848348D30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7FE4BDA-69E8-6D2D-FE7F-8F2A1463A768}"/>
              </a:ext>
            </a:extLst>
          </p:cNvPr>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00A9E0"/>
                </a:solidFill>
                <a:latin typeface="Consolas"/>
              </a:rPr>
              <a:t>A SYSTEMATIC FRAMEWORK</a:t>
            </a:r>
          </a:p>
        </p:txBody>
      </p:sp>
      <p:sp>
        <p:nvSpPr>
          <p:cNvPr id="3" name="TextBox 2">
            <a:extLst>
              <a:ext uri="{FF2B5EF4-FFF2-40B4-BE49-F238E27FC236}">
                <a16:creationId xmlns:a16="http://schemas.microsoft.com/office/drawing/2014/main" id="{4238EE07-AE8A-1E45-FAFB-878704D260A6}"/>
              </a:ext>
            </a:extLst>
          </p:cNvPr>
          <p:cNvSpPr txBox="1"/>
          <p:nvPr/>
        </p:nvSpPr>
        <p:spPr>
          <a:xfrm>
            <a:off x="292608" y="738022"/>
            <a:ext cx="11064240" cy="1051560"/>
          </a:xfrm>
          <a:prstGeom prst="rect">
            <a:avLst/>
          </a:prstGeom>
          <a:noFill/>
        </p:spPr>
        <p:txBody>
          <a:bodyPr wrap="square" lIns="0" tIns="0" rIns="0" bIns="0" anchor="t">
            <a:noAutofit/>
          </a:bodyPr>
          <a:lstStyle/>
          <a:p>
            <a:pPr>
              <a:lnSpc>
                <a:spcPct val="106000"/>
              </a:lnSpc>
              <a:spcAft>
                <a:spcPts val="400"/>
              </a:spcAft>
            </a:pPr>
            <a:r>
              <a:rPr lang="en-US" sz="3200" b="1" dirty="0">
                <a:solidFill>
                  <a:srgbClr val="5271FF"/>
                </a:solidFill>
                <a:latin typeface="Georgia" panose="02040502050405020303" pitchFamily="18" charset="0"/>
                <a:ea typeface="Arial"/>
                <a:cs typeface="Arial"/>
                <a:sym typeface="Arial"/>
              </a:rPr>
              <a:t>F</a:t>
            </a:r>
            <a:r>
              <a:rPr lang="en-US" sz="3200" b="1" dirty="0">
                <a:solidFill>
                  <a:srgbClr val="8C52FF"/>
                </a:solidFill>
                <a:latin typeface="Georgia" panose="02040502050405020303" pitchFamily="18" charset="0"/>
                <a:ea typeface="Arial"/>
                <a:cs typeface="Arial"/>
                <a:sym typeface="Arial"/>
              </a:rPr>
              <a:t>C</a:t>
            </a:r>
            <a:r>
              <a:rPr lang="en-US" sz="3200" b="1" dirty="0">
                <a:solidFill>
                  <a:srgbClr val="CB6CE6"/>
                </a:solidFill>
                <a:latin typeface="Georgia" panose="02040502050405020303" pitchFamily="18" charset="0"/>
                <a:ea typeface="Arial"/>
                <a:cs typeface="Arial"/>
                <a:sym typeface="Arial"/>
              </a:rPr>
              <a:t>B</a:t>
            </a:r>
            <a:r>
              <a:rPr lang="en-US" sz="3200" b="1" dirty="0">
                <a:solidFill>
                  <a:srgbClr val="00B0F0"/>
                </a:solidFill>
                <a:latin typeface="Georgia" panose="02040502050405020303" pitchFamily="18" charset="0"/>
                <a:ea typeface="Arial"/>
                <a:cs typeface="Arial"/>
                <a:sym typeface="Arial"/>
              </a:rPr>
              <a:t>-</a:t>
            </a:r>
            <a:r>
              <a:rPr lang="en-US" sz="3200" b="1" dirty="0">
                <a:solidFill>
                  <a:srgbClr val="FF66C4"/>
                </a:solidFill>
                <a:latin typeface="Georgia" panose="02040502050405020303" pitchFamily="18" charset="0"/>
                <a:ea typeface="Arial"/>
                <a:cs typeface="Arial"/>
                <a:sym typeface="Arial"/>
              </a:rPr>
              <a:t>C</a:t>
            </a:r>
            <a:r>
              <a:rPr lang="en-US" sz="3200" b="1" dirty="0">
                <a:solidFill>
                  <a:srgbClr val="FF5757"/>
                </a:solidFill>
                <a:latin typeface="Georgia" panose="02040502050405020303" pitchFamily="18" charset="0"/>
                <a:ea typeface="Arial"/>
                <a:cs typeface="Arial"/>
                <a:sym typeface="Arial"/>
              </a:rPr>
              <a:t>H</a:t>
            </a:r>
            <a:r>
              <a:rPr lang="en-US" sz="3200" b="1" dirty="0">
                <a:solidFill>
                  <a:srgbClr val="FF914D"/>
                </a:solidFill>
                <a:latin typeface="Georgia" panose="02040502050405020303" pitchFamily="18" charset="0"/>
                <a:ea typeface="Arial"/>
                <a:cs typeface="Arial"/>
                <a:sym typeface="Arial"/>
              </a:rPr>
              <a:t>O</a:t>
            </a:r>
            <a:r>
              <a:rPr lang="en-US" sz="3200" b="1" dirty="0">
                <a:solidFill>
                  <a:srgbClr val="FFDE59"/>
                </a:solidFill>
                <a:latin typeface="Georgia" panose="02040502050405020303" pitchFamily="18" charset="0"/>
                <a:ea typeface="Arial"/>
                <a:cs typeface="Arial"/>
                <a:sym typeface="Arial"/>
              </a:rPr>
              <a:t>P</a:t>
            </a:r>
            <a:r>
              <a:rPr lang="en-US" sz="3200" b="1" dirty="0">
                <a:solidFill>
                  <a:srgbClr val="99E17A"/>
                </a:solidFill>
                <a:latin typeface="Georgia" panose="02040502050405020303" pitchFamily="18" charset="0"/>
                <a:ea typeface="Arial"/>
                <a:cs typeface="Arial"/>
                <a:sym typeface="Arial"/>
              </a:rPr>
              <a:t>S</a:t>
            </a:r>
            <a:r>
              <a:rPr lang="en-US" sz="3200" dirty="0">
                <a:solidFill>
                  <a:srgbClr val="99E17A"/>
                </a:solidFill>
                <a:latin typeface="Georgia" panose="02040502050405020303" pitchFamily="18" charset="0"/>
                <a:ea typeface="Arial"/>
                <a:cs typeface="Arial"/>
                <a:sym typeface="Arial"/>
              </a:rPr>
              <a:t> </a:t>
            </a:r>
            <a:r>
              <a:rPr lang="en-US" sz="2900" b="1" i="0" dirty="0">
                <a:solidFill>
                  <a:srgbClr val="00A9E0"/>
                </a:solidFill>
                <a:latin typeface="Georgia"/>
              </a:rPr>
              <a:t>-</a:t>
            </a:r>
            <a:r>
              <a:rPr sz="2900" b="1" i="0" dirty="0">
                <a:solidFill>
                  <a:srgbClr val="00A9E0"/>
                </a:solidFill>
                <a:latin typeface="Georgia"/>
              </a:rPr>
              <a:t> a checklist for every plan</a:t>
            </a:r>
          </a:p>
        </p:txBody>
      </p:sp>
      <p:sp>
        <p:nvSpPr>
          <p:cNvPr id="45" name="TextBox 44">
            <a:extLst>
              <a:ext uri="{FF2B5EF4-FFF2-40B4-BE49-F238E27FC236}">
                <a16:creationId xmlns:a16="http://schemas.microsoft.com/office/drawing/2014/main" id="{01277223-6E82-E5EF-B56C-427EED1D9620}"/>
              </a:ext>
            </a:extLst>
          </p:cNvPr>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46" name="TextBox 45">
            <a:extLst>
              <a:ext uri="{FF2B5EF4-FFF2-40B4-BE49-F238E27FC236}">
                <a16:creationId xmlns:a16="http://schemas.microsoft.com/office/drawing/2014/main" id="{18729925-21D2-E82E-1BCE-BDFF40FE59BA}"/>
              </a:ext>
            </a:extLst>
          </p:cNvPr>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06 / 34</a:t>
            </a:r>
          </a:p>
        </p:txBody>
      </p:sp>
      <p:grpSp>
        <p:nvGrpSpPr>
          <p:cNvPr id="5" name="Group 4">
            <a:extLst>
              <a:ext uri="{FF2B5EF4-FFF2-40B4-BE49-F238E27FC236}">
                <a16:creationId xmlns:a16="http://schemas.microsoft.com/office/drawing/2014/main" id="{4C09C16E-38AB-1794-9976-7DDBD2E0D37F}"/>
              </a:ext>
            </a:extLst>
          </p:cNvPr>
          <p:cNvGrpSpPr/>
          <p:nvPr/>
        </p:nvGrpSpPr>
        <p:grpSpPr>
          <a:xfrm>
            <a:off x="566928" y="1635651"/>
            <a:ext cx="9038855" cy="4346055"/>
            <a:chOff x="0" y="0"/>
            <a:chExt cx="12051806" cy="5794740"/>
          </a:xfrm>
        </p:grpSpPr>
        <p:grpSp>
          <p:nvGrpSpPr>
            <p:cNvPr id="6" name="Group 5">
              <a:extLst>
                <a:ext uri="{FF2B5EF4-FFF2-40B4-BE49-F238E27FC236}">
                  <a16:creationId xmlns:a16="http://schemas.microsoft.com/office/drawing/2014/main" id="{ABD937CD-90D1-94C6-1E2D-F33E4E340F05}"/>
                </a:ext>
              </a:extLst>
            </p:cNvPr>
            <p:cNvGrpSpPr/>
            <p:nvPr/>
          </p:nvGrpSpPr>
          <p:grpSpPr>
            <a:xfrm rot="5400000">
              <a:off x="-104018" y="104018"/>
              <a:ext cx="832445" cy="624408"/>
              <a:chOff x="0" y="0"/>
              <a:chExt cx="812800" cy="609673"/>
            </a:xfrm>
          </p:grpSpPr>
          <p:sp>
            <p:nvSpPr>
              <p:cNvPr id="44" name="Freeform 6">
                <a:extLst>
                  <a:ext uri="{FF2B5EF4-FFF2-40B4-BE49-F238E27FC236}">
                    <a16:creationId xmlns:a16="http://schemas.microsoft.com/office/drawing/2014/main" id="{430FBA3B-11FB-F957-8CED-FEB4E4689C52}"/>
                  </a:ext>
                </a:extLst>
              </p:cNvPr>
              <p:cNvSpPr/>
              <p:nvPr/>
            </p:nvSpPr>
            <p:spPr>
              <a:xfrm>
                <a:off x="0" y="0"/>
                <a:ext cx="812800" cy="609673"/>
              </a:xfrm>
              <a:custGeom>
                <a:avLst/>
                <a:gdLst/>
                <a:ahLst/>
                <a:cxnLst/>
                <a:rect l="l" t="t" r="r" b="b"/>
                <a:pathLst>
                  <a:path w="812800" h="609673">
                    <a:moveTo>
                      <a:pt x="0" y="0"/>
                    </a:moveTo>
                    <a:lnTo>
                      <a:pt x="609600" y="0"/>
                    </a:lnTo>
                    <a:lnTo>
                      <a:pt x="812800" y="304836"/>
                    </a:lnTo>
                    <a:lnTo>
                      <a:pt x="609600" y="609673"/>
                    </a:lnTo>
                    <a:lnTo>
                      <a:pt x="0" y="609673"/>
                    </a:lnTo>
                    <a:lnTo>
                      <a:pt x="203200" y="304836"/>
                    </a:lnTo>
                    <a:lnTo>
                      <a:pt x="0" y="0"/>
                    </a:lnTo>
                    <a:close/>
                  </a:path>
                </a:pathLst>
              </a:custGeom>
              <a:solidFill>
                <a:srgbClr val="5271FF"/>
              </a:solidFill>
            </p:spPr>
            <p:txBody>
              <a:bodyPr/>
              <a:lstStyle/>
              <a:p>
                <a:endParaRPr lang="en-US"/>
              </a:p>
            </p:txBody>
          </p:sp>
          <p:sp>
            <p:nvSpPr>
              <p:cNvPr id="47" name="TextBox 7">
                <a:extLst>
                  <a:ext uri="{FF2B5EF4-FFF2-40B4-BE49-F238E27FC236}">
                    <a16:creationId xmlns:a16="http://schemas.microsoft.com/office/drawing/2014/main" id="{4404054C-DA90-7822-CC98-1FC833CFA634}"/>
                  </a:ext>
                </a:extLst>
              </p:cNvPr>
              <p:cNvSpPr txBox="1"/>
              <p:nvPr/>
            </p:nvSpPr>
            <p:spPr>
              <a:xfrm>
                <a:off x="177800" y="-38100"/>
                <a:ext cx="558800" cy="647773"/>
              </a:xfrm>
              <a:prstGeom prst="rect">
                <a:avLst/>
              </a:prstGeom>
            </p:spPr>
            <p:txBody>
              <a:bodyPr lIns="15625" tIns="15625" rIns="15625" bIns="15625" rtlCol="0" anchor="ctr"/>
              <a:lstStyle/>
              <a:p>
                <a:pPr algn="ctr">
                  <a:lnSpc>
                    <a:spcPts val="2239"/>
                  </a:lnSpc>
                </a:pPr>
                <a:endParaRPr/>
              </a:p>
            </p:txBody>
          </p:sp>
        </p:grpSp>
        <p:sp>
          <p:nvSpPr>
            <p:cNvPr id="7" name="TextBox 8">
              <a:extLst>
                <a:ext uri="{FF2B5EF4-FFF2-40B4-BE49-F238E27FC236}">
                  <a16:creationId xmlns:a16="http://schemas.microsoft.com/office/drawing/2014/main" id="{55E46CC9-C181-FCEC-47E5-9442F3A82419}"/>
                </a:ext>
              </a:extLst>
            </p:cNvPr>
            <p:cNvSpPr txBox="1"/>
            <p:nvPr/>
          </p:nvSpPr>
          <p:spPr>
            <a:xfrm>
              <a:off x="198154" y="320943"/>
              <a:ext cx="228101" cy="311127"/>
            </a:xfrm>
            <a:prstGeom prst="rect">
              <a:avLst/>
            </a:prstGeom>
          </p:spPr>
          <p:txBody>
            <a:bodyPr lIns="0" tIns="0" rIns="0" bIns="0" rtlCol="0" anchor="t">
              <a:spAutoFit/>
            </a:bodyPr>
            <a:lstStyle/>
            <a:p>
              <a:pPr algn="ctr">
                <a:lnSpc>
                  <a:spcPts val="1845"/>
                </a:lnSpc>
                <a:spcBef>
                  <a:spcPct val="0"/>
                </a:spcBef>
              </a:pPr>
              <a:r>
                <a:rPr lang="en-US" sz="1537" b="1" spc="15">
                  <a:solidFill>
                    <a:srgbClr val="FEFEFE"/>
                  </a:solidFill>
                  <a:latin typeface="Raleway Bold"/>
                  <a:ea typeface="Raleway Bold"/>
                  <a:cs typeface="Raleway Bold"/>
                  <a:sym typeface="Raleway Bold"/>
                </a:rPr>
                <a:t>F</a:t>
              </a:r>
            </a:p>
          </p:txBody>
        </p:sp>
        <p:grpSp>
          <p:nvGrpSpPr>
            <p:cNvPr id="8" name="Group 9">
              <a:extLst>
                <a:ext uri="{FF2B5EF4-FFF2-40B4-BE49-F238E27FC236}">
                  <a16:creationId xmlns:a16="http://schemas.microsoft.com/office/drawing/2014/main" id="{DB61F852-83B1-6EA8-F1AA-BE866035A299}"/>
                </a:ext>
              </a:extLst>
            </p:cNvPr>
            <p:cNvGrpSpPr/>
            <p:nvPr/>
          </p:nvGrpSpPr>
          <p:grpSpPr>
            <a:xfrm rot="5400000">
              <a:off x="-104018" y="811457"/>
              <a:ext cx="832445" cy="624408"/>
              <a:chOff x="0" y="0"/>
              <a:chExt cx="812800" cy="609673"/>
            </a:xfrm>
          </p:grpSpPr>
          <p:sp>
            <p:nvSpPr>
              <p:cNvPr id="42" name="Freeform 10">
                <a:extLst>
                  <a:ext uri="{FF2B5EF4-FFF2-40B4-BE49-F238E27FC236}">
                    <a16:creationId xmlns:a16="http://schemas.microsoft.com/office/drawing/2014/main" id="{70BB54D7-13AD-7DCB-4D49-B9486CBBD29E}"/>
                  </a:ext>
                </a:extLst>
              </p:cNvPr>
              <p:cNvSpPr/>
              <p:nvPr/>
            </p:nvSpPr>
            <p:spPr>
              <a:xfrm>
                <a:off x="0" y="0"/>
                <a:ext cx="812800" cy="609673"/>
              </a:xfrm>
              <a:custGeom>
                <a:avLst/>
                <a:gdLst/>
                <a:ahLst/>
                <a:cxnLst/>
                <a:rect l="l" t="t" r="r" b="b"/>
                <a:pathLst>
                  <a:path w="812800" h="609673">
                    <a:moveTo>
                      <a:pt x="0" y="0"/>
                    </a:moveTo>
                    <a:lnTo>
                      <a:pt x="609600" y="0"/>
                    </a:lnTo>
                    <a:lnTo>
                      <a:pt x="812800" y="304836"/>
                    </a:lnTo>
                    <a:lnTo>
                      <a:pt x="609600" y="609673"/>
                    </a:lnTo>
                    <a:lnTo>
                      <a:pt x="0" y="609673"/>
                    </a:lnTo>
                    <a:lnTo>
                      <a:pt x="203200" y="304836"/>
                    </a:lnTo>
                    <a:lnTo>
                      <a:pt x="0" y="0"/>
                    </a:lnTo>
                    <a:close/>
                  </a:path>
                </a:pathLst>
              </a:custGeom>
              <a:solidFill>
                <a:srgbClr val="8C52FF"/>
              </a:solidFill>
            </p:spPr>
            <p:txBody>
              <a:bodyPr/>
              <a:lstStyle/>
              <a:p>
                <a:endParaRPr lang="en-US"/>
              </a:p>
            </p:txBody>
          </p:sp>
          <p:sp>
            <p:nvSpPr>
              <p:cNvPr id="43" name="TextBox 11">
                <a:extLst>
                  <a:ext uri="{FF2B5EF4-FFF2-40B4-BE49-F238E27FC236}">
                    <a16:creationId xmlns:a16="http://schemas.microsoft.com/office/drawing/2014/main" id="{F6F7A282-D7B2-DB32-A5E6-0838DE7F3A0F}"/>
                  </a:ext>
                </a:extLst>
              </p:cNvPr>
              <p:cNvSpPr txBox="1"/>
              <p:nvPr/>
            </p:nvSpPr>
            <p:spPr>
              <a:xfrm>
                <a:off x="177800" y="-38100"/>
                <a:ext cx="558800" cy="647773"/>
              </a:xfrm>
              <a:prstGeom prst="rect">
                <a:avLst/>
              </a:prstGeom>
            </p:spPr>
            <p:txBody>
              <a:bodyPr lIns="15625" tIns="15625" rIns="15625" bIns="15625" rtlCol="0" anchor="ctr"/>
              <a:lstStyle/>
              <a:p>
                <a:pPr algn="ctr">
                  <a:lnSpc>
                    <a:spcPts val="2239"/>
                  </a:lnSpc>
                </a:pPr>
                <a:endParaRPr/>
              </a:p>
            </p:txBody>
          </p:sp>
        </p:grpSp>
        <p:sp>
          <p:nvSpPr>
            <p:cNvPr id="9" name="TextBox 12">
              <a:extLst>
                <a:ext uri="{FF2B5EF4-FFF2-40B4-BE49-F238E27FC236}">
                  <a16:creationId xmlns:a16="http://schemas.microsoft.com/office/drawing/2014/main" id="{779EFA81-024D-AEB3-F8D3-82203FB1121C}"/>
                </a:ext>
              </a:extLst>
            </p:cNvPr>
            <p:cNvSpPr txBox="1"/>
            <p:nvPr/>
          </p:nvSpPr>
          <p:spPr>
            <a:xfrm>
              <a:off x="198154" y="995224"/>
              <a:ext cx="228101" cy="321692"/>
            </a:xfrm>
            <a:prstGeom prst="rect">
              <a:avLst/>
            </a:prstGeom>
          </p:spPr>
          <p:txBody>
            <a:bodyPr lIns="0" tIns="0" rIns="0" bIns="0" rtlCol="0" anchor="t">
              <a:spAutoFit/>
            </a:bodyPr>
            <a:lstStyle/>
            <a:p>
              <a:pPr algn="ctr">
                <a:lnSpc>
                  <a:spcPts val="1845"/>
                </a:lnSpc>
                <a:spcBef>
                  <a:spcPct val="0"/>
                </a:spcBef>
              </a:pPr>
              <a:r>
                <a:rPr lang="en-US" sz="1537" b="1" spc="15">
                  <a:solidFill>
                    <a:srgbClr val="FEFEFE"/>
                  </a:solidFill>
                  <a:latin typeface="Raleway Bold"/>
                  <a:ea typeface="Raleway Bold"/>
                  <a:cs typeface="Raleway Bold"/>
                  <a:sym typeface="Raleway Bold"/>
                </a:rPr>
                <a:t>C</a:t>
              </a:r>
            </a:p>
          </p:txBody>
        </p:sp>
        <p:grpSp>
          <p:nvGrpSpPr>
            <p:cNvPr id="10" name="Group 13">
              <a:extLst>
                <a:ext uri="{FF2B5EF4-FFF2-40B4-BE49-F238E27FC236}">
                  <a16:creationId xmlns:a16="http://schemas.microsoft.com/office/drawing/2014/main" id="{9E41AD2B-E9B9-62F6-7591-41FEBB368F25}"/>
                </a:ext>
              </a:extLst>
            </p:cNvPr>
            <p:cNvGrpSpPr/>
            <p:nvPr/>
          </p:nvGrpSpPr>
          <p:grpSpPr>
            <a:xfrm rot="5400000">
              <a:off x="-104018" y="1521171"/>
              <a:ext cx="832445" cy="624408"/>
              <a:chOff x="0" y="0"/>
              <a:chExt cx="812800" cy="609673"/>
            </a:xfrm>
          </p:grpSpPr>
          <p:sp>
            <p:nvSpPr>
              <p:cNvPr id="40" name="Freeform 14">
                <a:extLst>
                  <a:ext uri="{FF2B5EF4-FFF2-40B4-BE49-F238E27FC236}">
                    <a16:creationId xmlns:a16="http://schemas.microsoft.com/office/drawing/2014/main" id="{00693FB0-F227-A088-DB47-19C1E5175FB6}"/>
                  </a:ext>
                </a:extLst>
              </p:cNvPr>
              <p:cNvSpPr/>
              <p:nvPr/>
            </p:nvSpPr>
            <p:spPr>
              <a:xfrm>
                <a:off x="0" y="0"/>
                <a:ext cx="812800" cy="609673"/>
              </a:xfrm>
              <a:custGeom>
                <a:avLst/>
                <a:gdLst/>
                <a:ahLst/>
                <a:cxnLst/>
                <a:rect l="l" t="t" r="r" b="b"/>
                <a:pathLst>
                  <a:path w="812800" h="609673">
                    <a:moveTo>
                      <a:pt x="0" y="0"/>
                    </a:moveTo>
                    <a:lnTo>
                      <a:pt x="609600" y="0"/>
                    </a:lnTo>
                    <a:lnTo>
                      <a:pt x="812800" y="304836"/>
                    </a:lnTo>
                    <a:lnTo>
                      <a:pt x="609600" y="609673"/>
                    </a:lnTo>
                    <a:lnTo>
                      <a:pt x="0" y="609673"/>
                    </a:lnTo>
                    <a:lnTo>
                      <a:pt x="203200" y="304836"/>
                    </a:lnTo>
                    <a:lnTo>
                      <a:pt x="0" y="0"/>
                    </a:lnTo>
                    <a:close/>
                  </a:path>
                </a:pathLst>
              </a:custGeom>
              <a:solidFill>
                <a:srgbClr val="CB6CE6"/>
              </a:solidFill>
            </p:spPr>
            <p:txBody>
              <a:bodyPr/>
              <a:lstStyle/>
              <a:p>
                <a:endParaRPr lang="en-US"/>
              </a:p>
            </p:txBody>
          </p:sp>
          <p:sp>
            <p:nvSpPr>
              <p:cNvPr id="41" name="TextBox 15">
                <a:extLst>
                  <a:ext uri="{FF2B5EF4-FFF2-40B4-BE49-F238E27FC236}">
                    <a16:creationId xmlns:a16="http://schemas.microsoft.com/office/drawing/2014/main" id="{FC8A7031-7F12-8AB1-FDAD-A04AC764754C}"/>
                  </a:ext>
                </a:extLst>
              </p:cNvPr>
              <p:cNvSpPr txBox="1"/>
              <p:nvPr/>
            </p:nvSpPr>
            <p:spPr>
              <a:xfrm>
                <a:off x="177800" y="-38100"/>
                <a:ext cx="558800" cy="647773"/>
              </a:xfrm>
              <a:prstGeom prst="rect">
                <a:avLst/>
              </a:prstGeom>
            </p:spPr>
            <p:txBody>
              <a:bodyPr lIns="15625" tIns="15625" rIns="15625" bIns="15625" rtlCol="0" anchor="ctr"/>
              <a:lstStyle/>
              <a:p>
                <a:pPr algn="ctr">
                  <a:lnSpc>
                    <a:spcPts val="2239"/>
                  </a:lnSpc>
                </a:pPr>
                <a:endParaRPr/>
              </a:p>
            </p:txBody>
          </p:sp>
        </p:grpSp>
        <p:sp>
          <p:nvSpPr>
            <p:cNvPr id="11" name="TextBox 16">
              <a:extLst>
                <a:ext uri="{FF2B5EF4-FFF2-40B4-BE49-F238E27FC236}">
                  <a16:creationId xmlns:a16="http://schemas.microsoft.com/office/drawing/2014/main" id="{FAB7C7A6-0C78-687C-7F0E-541814876703}"/>
                </a:ext>
              </a:extLst>
            </p:cNvPr>
            <p:cNvSpPr txBox="1"/>
            <p:nvPr/>
          </p:nvSpPr>
          <p:spPr>
            <a:xfrm>
              <a:off x="192813" y="1667767"/>
              <a:ext cx="233442" cy="321692"/>
            </a:xfrm>
            <a:prstGeom prst="rect">
              <a:avLst/>
            </a:prstGeom>
          </p:spPr>
          <p:txBody>
            <a:bodyPr lIns="0" tIns="0" rIns="0" bIns="0" rtlCol="0" anchor="t">
              <a:spAutoFit/>
            </a:bodyPr>
            <a:lstStyle/>
            <a:p>
              <a:pPr algn="ctr">
                <a:lnSpc>
                  <a:spcPts val="1845"/>
                </a:lnSpc>
                <a:spcBef>
                  <a:spcPct val="0"/>
                </a:spcBef>
              </a:pPr>
              <a:r>
                <a:rPr lang="en-US" sz="1537" b="1" spc="15">
                  <a:solidFill>
                    <a:srgbClr val="FEFEFE"/>
                  </a:solidFill>
                  <a:latin typeface="Raleway Bold"/>
                  <a:ea typeface="Raleway Bold"/>
                  <a:cs typeface="Raleway Bold"/>
                  <a:sym typeface="Raleway Bold"/>
                </a:rPr>
                <a:t>B</a:t>
              </a:r>
            </a:p>
          </p:txBody>
        </p:sp>
        <p:grpSp>
          <p:nvGrpSpPr>
            <p:cNvPr id="12" name="Group 17">
              <a:extLst>
                <a:ext uri="{FF2B5EF4-FFF2-40B4-BE49-F238E27FC236}">
                  <a16:creationId xmlns:a16="http://schemas.microsoft.com/office/drawing/2014/main" id="{F294DAC8-AF11-0E59-AFFB-7CE5AE66E83B}"/>
                </a:ext>
              </a:extLst>
            </p:cNvPr>
            <p:cNvGrpSpPr/>
            <p:nvPr/>
          </p:nvGrpSpPr>
          <p:grpSpPr>
            <a:xfrm rot="5400000">
              <a:off x="-104018" y="2233036"/>
              <a:ext cx="832445" cy="624408"/>
              <a:chOff x="0" y="0"/>
              <a:chExt cx="812800" cy="609673"/>
            </a:xfrm>
          </p:grpSpPr>
          <p:sp>
            <p:nvSpPr>
              <p:cNvPr id="38" name="Freeform 18">
                <a:extLst>
                  <a:ext uri="{FF2B5EF4-FFF2-40B4-BE49-F238E27FC236}">
                    <a16:creationId xmlns:a16="http://schemas.microsoft.com/office/drawing/2014/main" id="{0EB2C9E4-33A3-832F-0E29-A498A72B1B2F}"/>
                  </a:ext>
                </a:extLst>
              </p:cNvPr>
              <p:cNvSpPr/>
              <p:nvPr/>
            </p:nvSpPr>
            <p:spPr>
              <a:xfrm>
                <a:off x="0" y="0"/>
                <a:ext cx="812800" cy="609673"/>
              </a:xfrm>
              <a:custGeom>
                <a:avLst/>
                <a:gdLst/>
                <a:ahLst/>
                <a:cxnLst/>
                <a:rect l="l" t="t" r="r" b="b"/>
                <a:pathLst>
                  <a:path w="812800" h="609673">
                    <a:moveTo>
                      <a:pt x="0" y="0"/>
                    </a:moveTo>
                    <a:lnTo>
                      <a:pt x="609600" y="0"/>
                    </a:lnTo>
                    <a:lnTo>
                      <a:pt x="812800" y="304836"/>
                    </a:lnTo>
                    <a:lnTo>
                      <a:pt x="609600" y="609673"/>
                    </a:lnTo>
                    <a:lnTo>
                      <a:pt x="0" y="609673"/>
                    </a:lnTo>
                    <a:lnTo>
                      <a:pt x="203200" y="304836"/>
                    </a:lnTo>
                    <a:lnTo>
                      <a:pt x="0" y="0"/>
                    </a:lnTo>
                    <a:close/>
                  </a:path>
                </a:pathLst>
              </a:custGeom>
              <a:solidFill>
                <a:srgbClr val="FF66C4"/>
              </a:solidFill>
            </p:spPr>
            <p:txBody>
              <a:bodyPr/>
              <a:lstStyle/>
              <a:p>
                <a:endParaRPr lang="en-US"/>
              </a:p>
            </p:txBody>
          </p:sp>
          <p:sp>
            <p:nvSpPr>
              <p:cNvPr id="39" name="TextBox 19">
                <a:extLst>
                  <a:ext uri="{FF2B5EF4-FFF2-40B4-BE49-F238E27FC236}">
                    <a16:creationId xmlns:a16="http://schemas.microsoft.com/office/drawing/2014/main" id="{6CFFCC59-DF29-A929-7EF4-F0A3242F66E1}"/>
                  </a:ext>
                </a:extLst>
              </p:cNvPr>
              <p:cNvSpPr txBox="1"/>
              <p:nvPr/>
            </p:nvSpPr>
            <p:spPr>
              <a:xfrm>
                <a:off x="177800" y="-38100"/>
                <a:ext cx="558800" cy="647773"/>
              </a:xfrm>
              <a:prstGeom prst="rect">
                <a:avLst/>
              </a:prstGeom>
            </p:spPr>
            <p:txBody>
              <a:bodyPr lIns="15625" tIns="15625" rIns="15625" bIns="15625" rtlCol="0" anchor="ctr"/>
              <a:lstStyle/>
              <a:p>
                <a:pPr algn="ctr">
                  <a:lnSpc>
                    <a:spcPts val="2239"/>
                  </a:lnSpc>
                </a:pPr>
                <a:endParaRPr/>
              </a:p>
            </p:txBody>
          </p:sp>
        </p:grpSp>
        <p:sp>
          <p:nvSpPr>
            <p:cNvPr id="13" name="TextBox 20">
              <a:extLst>
                <a:ext uri="{FF2B5EF4-FFF2-40B4-BE49-F238E27FC236}">
                  <a16:creationId xmlns:a16="http://schemas.microsoft.com/office/drawing/2014/main" id="{A47D73D8-1A27-6228-3B58-6F36753BD06D}"/>
                </a:ext>
              </a:extLst>
            </p:cNvPr>
            <p:cNvSpPr txBox="1"/>
            <p:nvPr/>
          </p:nvSpPr>
          <p:spPr>
            <a:xfrm>
              <a:off x="192813" y="2379632"/>
              <a:ext cx="233442" cy="321692"/>
            </a:xfrm>
            <a:prstGeom prst="rect">
              <a:avLst/>
            </a:prstGeom>
          </p:spPr>
          <p:txBody>
            <a:bodyPr lIns="0" tIns="0" rIns="0" bIns="0" rtlCol="0" anchor="t">
              <a:spAutoFit/>
            </a:bodyPr>
            <a:lstStyle/>
            <a:p>
              <a:pPr algn="ctr">
                <a:lnSpc>
                  <a:spcPts val="1845"/>
                </a:lnSpc>
                <a:spcBef>
                  <a:spcPct val="0"/>
                </a:spcBef>
              </a:pPr>
              <a:r>
                <a:rPr lang="en-US" sz="1537" b="1" spc="15">
                  <a:solidFill>
                    <a:srgbClr val="FEFEFE"/>
                  </a:solidFill>
                  <a:latin typeface="Raleway Bold"/>
                  <a:ea typeface="Raleway Bold"/>
                  <a:cs typeface="Raleway Bold"/>
                  <a:sym typeface="Raleway Bold"/>
                </a:rPr>
                <a:t>C</a:t>
              </a:r>
            </a:p>
          </p:txBody>
        </p:sp>
        <p:grpSp>
          <p:nvGrpSpPr>
            <p:cNvPr id="14" name="Group 21">
              <a:extLst>
                <a:ext uri="{FF2B5EF4-FFF2-40B4-BE49-F238E27FC236}">
                  <a16:creationId xmlns:a16="http://schemas.microsoft.com/office/drawing/2014/main" id="{3801AD51-19F7-BCB3-FBE0-690061CD536E}"/>
                </a:ext>
              </a:extLst>
            </p:cNvPr>
            <p:cNvGrpSpPr/>
            <p:nvPr/>
          </p:nvGrpSpPr>
          <p:grpSpPr>
            <a:xfrm rot="5400000">
              <a:off x="-104018" y="2942508"/>
              <a:ext cx="832445" cy="624408"/>
              <a:chOff x="0" y="0"/>
              <a:chExt cx="812800" cy="609673"/>
            </a:xfrm>
          </p:grpSpPr>
          <p:sp>
            <p:nvSpPr>
              <p:cNvPr id="36" name="Freeform 22">
                <a:extLst>
                  <a:ext uri="{FF2B5EF4-FFF2-40B4-BE49-F238E27FC236}">
                    <a16:creationId xmlns:a16="http://schemas.microsoft.com/office/drawing/2014/main" id="{99514FB3-E58A-1EB6-DEEF-F09AFF4D8FAD}"/>
                  </a:ext>
                </a:extLst>
              </p:cNvPr>
              <p:cNvSpPr/>
              <p:nvPr/>
            </p:nvSpPr>
            <p:spPr>
              <a:xfrm>
                <a:off x="0" y="0"/>
                <a:ext cx="812800" cy="609673"/>
              </a:xfrm>
              <a:custGeom>
                <a:avLst/>
                <a:gdLst/>
                <a:ahLst/>
                <a:cxnLst/>
                <a:rect l="l" t="t" r="r" b="b"/>
                <a:pathLst>
                  <a:path w="812800" h="609673">
                    <a:moveTo>
                      <a:pt x="0" y="0"/>
                    </a:moveTo>
                    <a:lnTo>
                      <a:pt x="609600" y="0"/>
                    </a:lnTo>
                    <a:lnTo>
                      <a:pt x="812800" y="304836"/>
                    </a:lnTo>
                    <a:lnTo>
                      <a:pt x="609600" y="609673"/>
                    </a:lnTo>
                    <a:lnTo>
                      <a:pt x="0" y="609673"/>
                    </a:lnTo>
                    <a:lnTo>
                      <a:pt x="203200" y="304836"/>
                    </a:lnTo>
                    <a:lnTo>
                      <a:pt x="0" y="0"/>
                    </a:lnTo>
                    <a:close/>
                  </a:path>
                </a:pathLst>
              </a:custGeom>
              <a:solidFill>
                <a:srgbClr val="FF5757"/>
              </a:solidFill>
            </p:spPr>
            <p:txBody>
              <a:bodyPr/>
              <a:lstStyle/>
              <a:p>
                <a:endParaRPr lang="en-US"/>
              </a:p>
            </p:txBody>
          </p:sp>
          <p:sp>
            <p:nvSpPr>
              <p:cNvPr id="37" name="TextBox 23">
                <a:extLst>
                  <a:ext uri="{FF2B5EF4-FFF2-40B4-BE49-F238E27FC236}">
                    <a16:creationId xmlns:a16="http://schemas.microsoft.com/office/drawing/2014/main" id="{86A9FB0A-6047-EAFA-72D8-0EE2B0BAAA70}"/>
                  </a:ext>
                </a:extLst>
              </p:cNvPr>
              <p:cNvSpPr txBox="1"/>
              <p:nvPr/>
            </p:nvSpPr>
            <p:spPr>
              <a:xfrm>
                <a:off x="177800" y="-38100"/>
                <a:ext cx="558800" cy="647773"/>
              </a:xfrm>
              <a:prstGeom prst="rect">
                <a:avLst/>
              </a:prstGeom>
            </p:spPr>
            <p:txBody>
              <a:bodyPr lIns="15625" tIns="15625" rIns="15625" bIns="15625" rtlCol="0" anchor="ctr"/>
              <a:lstStyle/>
              <a:p>
                <a:pPr algn="ctr">
                  <a:lnSpc>
                    <a:spcPts val="2239"/>
                  </a:lnSpc>
                </a:pPr>
                <a:endParaRPr/>
              </a:p>
            </p:txBody>
          </p:sp>
        </p:grpSp>
        <p:sp>
          <p:nvSpPr>
            <p:cNvPr id="15" name="TextBox 24">
              <a:extLst>
                <a:ext uri="{FF2B5EF4-FFF2-40B4-BE49-F238E27FC236}">
                  <a16:creationId xmlns:a16="http://schemas.microsoft.com/office/drawing/2014/main" id="{F2F21884-428F-A456-3217-8F87075E61A8}"/>
                </a:ext>
              </a:extLst>
            </p:cNvPr>
            <p:cNvSpPr txBox="1"/>
            <p:nvPr/>
          </p:nvSpPr>
          <p:spPr>
            <a:xfrm>
              <a:off x="198154" y="3089104"/>
              <a:ext cx="228101" cy="321692"/>
            </a:xfrm>
            <a:prstGeom prst="rect">
              <a:avLst/>
            </a:prstGeom>
          </p:spPr>
          <p:txBody>
            <a:bodyPr lIns="0" tIns="0" rIns="0" bIns="0" rtlCol="0" anchor="t">
              <a:spAutoFit/>
            </a:bodyPr>
            <a:lstStyle/>
            <a:p>
              <a:pPr algn="ctr">
                <a:lnSpc>
                  <a:spcPts val="1845"/>
                </a:lnSpc>
                <a:spcBef>
                  <a:spcPct val="0"/>
                </a:spcBef>
              </a:pPr>
              <a:r>
                <a:rPr lang="en-US" sz="1537" b="1" spc="15">
                  <a:solidFill>
                    <a:srgbClr val="FEFEFE"/>
                  </a:solidFill>
                  <a:latin typeface="Raleway Bold"/>
                  <a:ea typeface="Raleway Bold"/>
                  <a:cs typeface="Raleway Bold"/>
                  <a:sym typeface="Raleway Bold"/>
                </a:rPr>
                <a:t>H</a:t>
              </a:r>
            </a:p>
          </p:txBody>
        </p:sp>
        <p:grpSp>
          <p:nvGrpSpPr>
            <p:cNvPr id="16" name="Group 25">
              <a:extLst>
                <a:ext uri="{FF2B5EF4-FFF2-40B4-BE49-F238E27FC236}">
                  <a16:creationId xmlns:a16="http://schemas.microsoft.com/office/drawing/2014/main" id="{F5AB7C83-6278-9308-D52E-A84B48516F98}"/>
                </a:ext>
              </a:extLst>
            </p:cNvPr>
            <p:cNvGrpSpPr/>
            <p:nvPr/>
          </p:nvGrpSpPr>
          <p:grpSpPr>
            <a:xfrm rot="5400000">
              <a:off x="-104018" y="3653865"/>
              <a:ext cx="832445" cy="624408"/>
              <a:chOff x="0" y="0"/>
              <a:chExt cx="812800" cy="609673"/>
            </a:xfrm>
          </p:grpSpPr>
          <p:sp>
            <p:nvSpPr>
              <p:cNvPr id="34" name="Freeform 26">
                <a:extLst>
                  <a:ext uri="{FF2B5EF4-FFF2-40B4-BE49-F238E27FC236}">
                    <a16:creationId xmlns:a16="http://schemas.microsoft.com/office/drawing/2014/main" id="{91067D94-BF44-69AE-7927-7D635439EFD1}"/>
                  </a:ext>
                </a:extLst>
              </p:cNvPr>
              <p:cNvSpPr/>
              <p:nvPr/>
            </p:nvSpPr>
            <p:spPr>
              <a:xfrm>
                <a:off x="0" y="0"/>
                <a:ext cx="812800" cy="609673"/>
              </a:xfrm>
              <a:custGeom>
                <a:avLst/>
                <a:gdLst/>
                <a:ahLst/>
                <a:cxnLst/>
                <a:rect l="l" t="t" r="r" b="b"/>
                <a:pathLst>
                  <a:path w="812800" h="609673">
                    <a:moveTo>
                      <a:pt x="0" y="0"/>
                    </a:moveTo>
                    <a:lnTo>
                      <a:pt x="609600" y="0"/>
                    </a:lnTo>
                    <a:lnTo>
                      <a:pt x="812800" y="304836"/>
                    </a:lnTo>
                    <a:lnTo>
                      <a:pt x="609600" y="609673"/>
                    </a:lnTo>
                    <a:lnTo>
                      <a:pt x="0" y="609673"/>
                    </a:lnTo>
                    <a:lnTo>
                      <a:pt x="203200" y="304836"/>
                    </a:lnTo>
                    <a:lnTo>
                      <a:pt x="0" y="0"/>
                    </a:lnTo>
                    <a:close/>
                  </a:path>
                </a:pathLst>
              </a:custGeom>
              <a:solidFill>
                <a:srgbClr val="FF914D"/>
              </a:solidFill>
            </p:spPr>
            <p:txBody>
              <a:bodyPr/>
              <a:lstStyle/>
              <a:p>
                <a:endParaRPr lang="en-US"/>
              </a:p>
            </p:txBody>
          </p:sp>
          <p:sp>
            <p:nvSpPr>
              <p:cNvPr id="35" name="TextBox 27">
                <a:extLst>
                  <a:ext uri="{FF2B5EF4-FFF2-40B4-BE49-F238E27FC236}">
                    <a16:creationId xmlns:a16="http://schemas.microsoft.com/office/drawing/2014/main" id="{C477A5FF-87D0-59B0-9700-71FB4827EC60}"/>
                  </a:ext>
                </a:extLst>
              </p:cNvPr>
              <p:cNvSpPr txBox="1"/>
              <p:nvPr/>
            </p:nvSpPr>
            <p:spPr>
              <a:xfrm>
                <a:off x="177800" y="-38100"/>
                <a:ext cx="558800" cy="647773"/>
              </a:xfrm>
              <a:prstGeom prst="rect">
                <a:avLst/>
              </a:prstGeom>
            </p:spPr>
            <p:txBody>
              <a:bodyPr lIns="15625" tIns="15625" rIns="15625" bIns="15625" rtlCol="0" anchor="ctr"/>
              <a:lstStyle/>
              <a:p>
                <a:pPr algn="ctr">
                  <a:lnSpc>
                    <a:spcPts val="2239"/>
                  </a:lnSpc>
                </a:pPr>
                <a:endParaRPr/>
              </a:p>
            </p:txBody>
          </p:sp>
        </p:grpSp>
        <p:sp>
          <p:nvSpPr>
            <p:cNvPr id="17" name="TextBox 28">
              <a:extLst>
                <a:ext uri="{FF2B5EF4-FFF2-40B4-BE49-F238E27FC236}">
                  <a16:creationId xmlns:a16="http://schemas.microsoft.com/office/drawing/2014/main" id="{E1B2453B-CFF1-6B72-8EF3-ACD6A100A3CA}"/>
                </a:ext>
              </a:extLst>
            </p:cNvPr>
            <p:cNvSpPr txBox="1"/>
            <p:nvPr/>
          </p:nvSpPr>
          <p:spPr>
            <a:xfrm>
              <a:off x="198154" y="3800460"/>
              <a:ext cx="228101" cy="321692"/>
            </a:xfrm>
            <a:prstGeom prst="rect">
              <a:avLst/>
            </a:prstGeom>
          </p:spPr>
          <p:txBody>
            <a:bodyPr lIns="0" tIns="0" rIns="0" bIns="0" rtlCol="0" anchor="t">
              <a:spAutoFit/>
            </a:bodyPr>
            <a:lstStyle/>
            <a:p>
              <a:pPr algn="ctr">
                <a:lnSpc>
                  <a:spcPts val="1845"/>
                </a:lnSpc>
                <a:spcBef>
                  <a:spcPct val="0"/>
                </a:spcBef>
              </a:pPr>
              <a:r>
                <a:rPr lang="en-US" sz="1537" b="1" spc="15">
                  <a:solidFill>
                    <a:srgbClr val="FEFEFE"/>
                  </a:solidFill>
                  <a:latin typeface="Raleway Bold"/>
                  <a:ea typeface="Raleway Bold"/>
                  <a:cs typeface="Raleway Bold"/>
                  <a:sym typeface="Raleway Bold"/>
                </a:rPr>
                <a:t>O</a:t>
              </a:r>
            </a:p>
          </p:txBody>
        </p:sp>
        <p:grpSp>
          <p:nvGrpSpPr>
            <p:cNvPr id="18" name="Group 29">
              <a:extLst>
                <a:ext uri="{FF2B5EF4-FFF2-40B4-BE49-F238E27FC236}">
                  <a16:creationId xmlns:a16="http://schemas.microsoft.com/office/drawing/2014/main" id="{075E85B2-17ED-DF04-4548-DD456D36CEC5}"/>
                </a:ext>
              </a:extLst>
            </p:cNvPr>
            <p:cNvGrpSpPr/>
            <p:nvPr/>
          </p:nvGrpSpPr>
          <p:grpSpPr>
            <a:xfrm rot="5400000">
              <a:off x="-104018" y="4354957"/>
              <a:ext cx="832445" cy="624408"/>
              <a:chOff x="0" y="0"/>
              <a:chExt cx="812800" cy="609673"/>
            </a:xfrm>
          </p:grpSpPr>
          <p:sp>
            <p:nvSpPr>
              <p:cNvPr id="32" name="Freeform 30">
                <a:extLst>
                  <a:ext uri="{FF2B5EF4-FFF2-40B4-BE49-F238E27FC236}">
                    <a16:creationId xmlns:a16="http://schemas.microsoft.com/office/drawing/2014/main" id="{91CC2797-4F0B-9442-17BF-759D7D76B759}"/>
                  </a:ext>
                </a:extLst>
              </p:cNvPr>
              <p:cNvSpPr/>
              <p:nvPr/>
            </p:nvSpPr>
            <p:spPr>
              <a:xfrm>
                <a:off x="0" y="0"/>
                <a:ext cx="812800" cy="609673"/>
              </a:xfrm>
              <a:custGeom>
                <a:avLst/>
                <a:gdLst/>
                <a:ahLst/>
                <a:cxnLst/>
                <a:rect l="l" t="t" r="r" b="b"/>
                <a:pathLst>
                  <a:path w="812800" h="609673">
                    <a:moveTo>
                      <a:pt x="0" y="0"/>
                    </a:moveTo>
                    <a:lnTo>
                      <a:pt x="609600" y="0"/>
                    </a:lnTo>
                    <a:lnTo>
                      <a:pt x="812800" y="304836"/>
                    </a:lnTo>
                    <a:lnTo>
                      <a:pt x="609600" y="609673"/>
                    </a:lnTo>
                    <a:lnTo>
                      <a:pt x="0" y="609673"/>
                    </a:lnTo>
                    <a:lnTo>
                      <a:pt x="203200" y="304836"/>
                    </a:lnTo>
                    <a:lnTo>
                      <a:pt x="0" y="0"/>
                    </a:lnTo>
                    <a:close/>
                  </a:path>
                </a:pathLst>
              </a:custGeom>
              <a:solidFill>
                <a:srgbClr val="FFDE59"/>
              </a:solidFill>
            </p:spPr>
            <p:txBody>
              <a:bodyPr/>
              <a:lstStyle/>
              <a:p>
                <a:endParaRPr lang="en-US"/>
              </a:p>
            </p:txBody>
          </p:sp>
          <p:sp>
            <p:nvSpPr>
              <p:cNvPr id="33" name="TextBox 31">
                <a:extLst>
                  <a:ext uri="{FF2B5EF4-FFF2-40B4-BE49-F238E27FC236}">
                    <a16:creationId xmlns:a16="http://schemas.microsoft.com/office/drawing/2014/main" id="{E77848FC-F9AD-83AE-01BB-9A4DAE667F15}"/>
                  </a:ext>
                </a:extLst>
              </p:cNvPr>
              <p:cNvSpPr txBox="1"/>
              <p:nvPr/>
            </p:nvSpPr>
            <p:spPr>
              <a:xfrm>
                <a:off x="177800" y="-38100"/>
                <a:ext cx="558800" cy="647773"/>
              </a:xfrm>
              <a:prstGeom prst="rect">
                <a:avLst/>
              </a:prstGeom>
            </p:spPr>
            <p:txBody>
              <a:bodyPr lIns="15625" tIns="15625" rIns="15625" bIns="15625" rtlCol="0" anchor="ctr"/>
              <a:lstStyle/>
              <a:p>
                <a:pPr algn="ctr">
                  <a:lnSpc>
                    <a:spcPts val="2239"/>
                  </a:lnSpc>
                </a:pPr>
                <a:endParaRPr/>
              </a:p>
            </p:txBody>
          </p:sp>
        </p:grpSp>
        <p:sp>
          <p:nvSpPr>
            <p:cNvPr id="19" name="TextBox 32">
              <a:extLst>
                <a:ext uri="{FF2B5EF4-FFF2-40B4-BE49-F238E27FC236}">
                  <a16:creationId xmlns:a16="http://schemas.microsoft.com/office/drawing/2014/main" id="{59BE18C3-5272-EB40-91A7-8511D7006E7A}"/>
                </a:ext>
              </a:extLst>
            </p:cNvPr>
            <p:cNvSpPr txBox="1"/>
            <p:nvPr/>
          </p:nvSpPr>
          <p:spPr>
            <a:xfrm>
              <a:off x="198154" y="4501552"/>
              <a:ext cx="228101" cy="321692"/>
            </a:xfrm>
            <a:prstGeom prst="rect">
              <a:avLst/>
            </a:prstGeom>
          </p:spPr>
          <p:txBody>
            <a:bodyPr lIns="0" tIns="0" rIns="0" bIns="0" rtlCol="0" anchor="t">
              <a:spAutoFit/>
            </a:bodyPr>
            <a:lstStyle/>
            <a:p>
              <a:pPr algn="ctr">
                <a:lnSpc>
                  <a:spcPts val="1845"/>
                </a:lnSpc>
                <a:spcBef>
                  <a:spcPct val="0"/>
                </a:spcBef>
              </a:pPr>
              <a:r>
                <a:rPr lang="en-US" sz="1537" b="1" spc="15">
                  <a:solidFill>
                    <a:srgbClr val="FEFEFE"/>
                  </a:solidFill>
                  <a:latin typeface="Raleway Bold"/>
                  <a:ea typeface="Raleway Bold"/>
                  <a:cs typeface="Raleway Bold"/>
                  <a:sym typeface="Raleway Bold"/>
                </a:rPr>
                <a:t>P</a:t>
              </a:r>
            </a:p>
          </p:txBody>
        </p:sp>
        <p:grpSp>
          <p:nvGrpSpPr>
            <p:cNvPr id="20" name="Group 33">
              <a:extLst>
                <a:ext uri="{FF2B5EF4-FFF2-40B4-BE49-F238E27FC236}">
                  <a16:creationId xmlns:a16="http://schemas.microsoft.com/office/drawing/2014/main" id="{FAAFC87B-EF13-229D-993E-4AEC63212BEF}"/>
                </a:ext>
              </a:extLst>
            </p:cNvPr>
            <p:cNvGrpSpPr/>
            <p:nvPr/>
          </p:nvGrpSpPr>
          <p:grpSpPr>
            <a:xfrm rot="5400000">
              <a:off x="-104018" y="5066313"/>
              <a:ext cx="832445" cy="624408"/>
              <a:chOff x="0" y="0"/>
              <a:chExt cx="812800" cy="609673"/>
            </a:xfrm>
          </p:grpSpPr>
          <p:sp>
            <p:nvSpPr>
              <p:cNvPr id="30" name="Freeform 34">
                <a:extLst>
                  <a:ext uri="{FF2B5EF4-FFF2-40B4-BE49-F238E27FC236}">
                    <a16:creationId xmlns:a16="http://schemas.microsoft.com/office/drawing/2014/main" id="{5C7B4BB6-BC43-E7F9-A3D4-A9822FCD5991}"/>
                  </a:ext>
                </a:extLst>
              </p:cNvPr>
              <p:cNvSpPr/>
              <p:nvPr/>
            </p:nvSpPr>
            <p:spPr>
              <a:xfrm>
                <a:off x="0" y="0"/>
                <a:ext cx="812800" cy="609673"/>
              </a:xfrm>
              <a:custGeom>
                <a:avLst/>
                <a:gdLst/>
                <a:ahLst/>
                <a:cxnLst/>
                <a:rect l="l" t="t" r="r" b="b"/>
                <a:pathLst>
                  <a:path w="812800" h="609673">
                    <a:moveTo>
                      <a:pt x="0" y="0"/>
                    </a:moveTo>
                    <a:lnTo>
                      <a:pt x="609600" y="0"/>
                    </a:lnTo>
                    <a:lnTo>
                      <a:pt x="812800" y="304836"/>
                    </a:lnTo>
                    <a:lnTo>
                      <a:pt x="609600" y="609673"/>
                    </a:lnTo>
                    <a:lnTo>
                      <a:pt x="0" y="609673"/>
                    </a:lnTo>
                    <a:lnTo>
                      <a:pt x="203200" y="304836"/>
                    </a:lnTo>
                    <a:lnTo>
                      <a:pt x="0" y="0"/>
                    </a:lnTo>
                    <a:close/>
                  </a:path>
                </a:pathLst>
              </a:custGeom>
              <a:solidFill>
                <a:srgbClr val="99E17A"/>
              </a:solidFill>
            </p:spPr>
            <p:txBody>
              <a:bodyPr/>
              <a:lstStyle/>
              <a:p>
                <a:endParaRPr lang="en-US"/>
              </a:p>
            </p:txBody>
          </p:sp>
          <p:sp>
            <p:nvSpPr>
              <p:cNvPr id="31" name="TextBox 35">
                <a:extLst>
                  <a:ext uri="{FF2B5EF4-FFF2-40B4-BE49-F238E27FC236}">
                    <a16:creationId xmlns:a16="http://schemas.microsoft.com/office/drawing/2014/main" id="{B49313E5-7647-12A0-7770-C872F79B3E1A}"/>
                  </a:ext>
                </a:extLst>
              </p:cNvPr>
              <p:cNvSpPr txBox="1"/>
              <p:nvPr/>
            </p:nvSpPr>
            <p:spPr>
              <a:xfrm>
                <a:off x="177800" y="-38100"/>
                <a:ext cx="558800" cy="647773"/>
              </a:xfrm>
              <a:prstGeom prst="rect">
                <a:avLst/>
              </a:prstGeom>
            </p:spPr>
            <p:txBody>
              <a:bodyPr lIns="15625" tIns="15625" rIns="15625" bIns="15625" rtlCol="0" anchor="ctr"/>
              <a:lstStyle/>
              <a:p>
                <a:pPr algn="ctr">
                  <a:lnSpc>
                    <a:spcPts val="2239"/>
                  </a:lnSpc>
                </a:pPr>
                <a:endParaRPr/>
              </a:p>
            </p:txBody>
          </p:sp>
        </p:grpSp>
        <p:sp>
          <p:nvSpPr>
            <p:cNvPr id="21" name="TextBox 36">
              <a:extLst>
                <a:ext uri="{FF2B5EF4-FFF2-40B4-BE49-F238E27FC236}">
                  <a16:creationId xmlns:a16="http://schemas.microsoft.com/office/drawing/2014/main" id="{EEFA7AE4-833C-C711-D2B4-B010DE625AA9}"/>
                </a:ext>
              </a:extLst>
            </p:cNvPr>
            <p:cNvSpPr txBox="1"/>
            <p:nvPr/>
          </p:nvSpPr>
          <p:spPr>
            <a:xfrm>
              <a:off x="198154" y="5212909"/>
              <a:ext cx="228101" cy="321692"/>
            </a:xfrm>
            <a:prstGeom prst="rect">
              <a:avLst/>
            </a:prstGeom>
          </p:spPr>
          <p:txBody>
            <a:bodyPr lIns="0" tIns="0" rIns="0" bIns="0" rtlCol="0" anchor="t">
              <a:spAutoFit/>
            </a:bodyPr>
            <a:lstStyle/>
            <a:p>
              <a:pPr algn="ctr">
                <a:lnSpc>
                  <a:spcPts val="1845"/>
                </a:lnSpc>
                <a:spcBef>
                  <a:spcPct val="0"/>
                </a:spcBef>
              </a:pPr>
              <a:r>
                <a:rPr lang="en-US" sz="1537" b="1" spc="15">
                  <a:solidFill>
                    <a:srgbClr val="FEFEFE"/>
                  </a:solidFill>
                  <a:latin typeface="Raleway Bold"/>
                  <a:ea typeface="Raleway Bold"/>
                  <a:cs typeface="Raleway Bold"/>
                  <a:sym typeface="Raleway Bold"/>
                </a:rPr>
                <a:t>S</a:t>
              </a:r>
            </a:p>
          </p:txBody>
        </p:sp>
        <p:sp>
          <p:nvSpPr>
            <p:cNvPr id="22" name="TextBox 37">
              <a:extLst>
                <a:ext uri="{FF2B5EF4-FFF2-40B4-BE49-F238E27FC236}">
                  <a16:creationId xmlns:a16="http://schemas.microsoft.com/office/drawing/2014/main" id="{56691089-CCD7-127B-8250-42E4E54D9022}"/>
                </a:ext>
              </a:extLst>
            </p:cNvPr>
            <p:cNvSpPr txBox="1"/>
            <p:nvPr/>
          </p:nvSpPr>
          <p:spPr>
            <a:xfrm>
              <a:off x="751509" y="249346"/>
              <a:ext cx="10262181" cy="314702"/>
            </a:xfrm>
            <a:prstGeom prst="rect">
              <a:avLst/>
            </a:prstGeom>
          </p:spPr>
          <p:txBody>
            <a:bodyPr lIns="0" tIns="0" rIns="0" bIns="0" rtlCol="0" anchor="t">
              <a:spAutoFit/>
            </a:bodyPr>
            <a:lstStyle/>
            <a:p>
              <a:pPr algn="l">
                <a:lnSpc>
                  <a:spcPts val="1884"/>
                </a:lnSpc>
                <a:spcBef>
                  <a:spcPct val="0"/>
                </a:spcBef>
              </a:pPr>
              <a:r>
                <a:rPr lang="en-US" sz="1483" b="1" dirty="0">
                  <a:solidFill>
                    <a:srgbClr val="5271FF"/>
                  </a:solidFill>
                  <a:latin typeface="Arial Bold"/>
                  <a:ea typeface="Arial Bold"/>
                  <a:cs typeface="Arial Bold"/>
                  <a:sym typeface="Arial Bold"/>
                </a:rPr>
                <a:t>Fusion/Imaging:</a:t>
              </a:r>
              <a:r>
                <a:rPr lang="en-US" sz="1483" dirty="0">
                  <a:solidFill>
                    <a:srgbClr val="5271FF"/>
                  </a:solidFill>
                  <a:latin typeface="Arial"/>
                  <a:ea typeface="Arial"/>
                  <a:cs typeface="Arial"/>
                  <a:sym typeface="Arial"/>
                </a:rPr>
                <a:t> </a:t>
              </a:r>
              <a:r>
                <a:rPr lang="en-US" sz="1483" dirty="0">
                  <a:solidFill>
                    <a:srgbClr val="000000"/>
                  </a:solidFill>
                  <a:latin typeface="Arial"/>
                  <a:ea typeface="Arial"/>
                  <a:cs typeface="Arial"/>
                  <a:sym typeface="Arial"/>
                </a:rPr>
                <a:t>Verify image fusion accuracy to ensure correct target and OAR anatomy.</a:t>
              </a:r>
            </a:p>
          </p:txBody>
        </p:sp>
        <p:sp>
          <p:nvSpPr>
            <p:cNvPr id="23" name="TextBox 38">
              <a:extLst>
                <a:ext uri="{FF2B5EF4-FFF2-40B4-BE49-F238E27FC236}">
                  <a16:creationId xmlns:a16="http://schemas.microsoft.com/office/drawing/2014/main" id="{BDBBA625-6C82-1995-8DAD-6DB6F0740242}"/>
                </a:ext>
              </a:extLst>
            </p:cNvPr>
            <p:cNvSpPr txBox="1"/>
            <p:nvPr/>
          </p:nvSpPr>
          <p:spPr>
            <a:xfrm>
              <a:off x="751509" y="883298"/>
              <a:ext cx="10890899" cy="314702"/>
            </a:xfrm>
            <a:prstGeom prst="rect">
              <a:avLst/>
            </a:prstGeom>
          </p:spPr>
          <p:txBody>
            <a:bodyPr lIns="0" tIns="0" rIns="0" bIns="0" rtlCol="0" anchor="t">
              <a:spAutoFit/>
            </a:bodyPr>
            <a:lstStyle/>
            <a:p>
              <a:pPr algn="l">
                <a:lnSpc>
                  <a:spcPts val="1884"/>
                </a:lnSpc>
                <a:spcBef>
                  <a:spcPct val="0"/>
                </a:spcBef>
              </a:pPr>
              <a:r>
                <a:rPr lang="en-US" sz="1483" b="1">
                  <a:solidFill>
                    <a:srgbClr val="8C52FF"/>
                  </a:solidFill>
                  <a:latin typeface="Arial Bold"/>
                  <a:ea typeface="Arial Bold"/>
                  <a:cs typeface="Arial Bold"/>
                  <a:sym typeface="Arial Bold"/>
                </a:rPr>
                <a:t>Contours:</a:t>
              </a:r>
              <a:r>
                <a:rPr lang="en-US" sz="1483">
                  <a:solidFill>
                    <a:srgbClr val="5271FF"/>
                  </a:solidFill>
                  <a:latin typeface="Arial"/>
                  <a:ea typeface="Arial"/>
                  <a:cs typeface="Arial"/>
                  <a:sym typeface="Arial"/>
                </a:rPr>
                <a:t> </a:t>
              </a:r>
              <a:r>
                <a:rPr lang="en-US" sz="1483">
                  <a:solidFill>
                    <a:srgbClr val="000000"/>
                  </a:solidFill>
                  <a:latin typeface="Arial"/>
                  <a:ea typeface="Arial"/>
                  <a:cs typeface="Arial"/>
                  <a:sym typeface="Arial"/>
                </a:rPr>
                <a:t>Check that all target and OAR contours are complete and anatomically correct.</a:t>
              </a:r>
            </a:p>
          </p:txBody>
        </p:sp>
        <p:sp>
          <p:nvSpPr>
            <p:cNvPr id="24" name="TextBox 39">
              <a:extLst>
                <a:ext uri="{FF2B5EF4-FFF2-40B4-BE49-F238E27FC236}">
                  <a16:creationId xmlns:a16="http://schemas.microsoft.com/office/drawing/2014/main" id="{79071CC5-EF65-0D47-C6DB-1AC8097FAC30}"/>
                </a:ext>
              </a:extLst>
            </p:cNvPr>
            <p:cNvSpPr txBox="1"/>
            <p:nvPr/>
          </p:nvSpPr>
          <p:spPr>
            <a:xfrm>
              <a:off x="751509" y="1636575"/>
              <a:ext cx="10890899" cy="314702"/>
            </a:xfrm>
            <a:prstGeom prst="rect">
              <a:avLst/>
            </a:prstGeom>
          </p:spPr>
          <p:txBody>
            <a:bodyPr lIns="0" tIns="0" rIns="0" bIns="0" rtlCol="0" anchor="t">
              <a:spAutoFit/>
            </a:bodyPr>
            <a:lstStyle/>
            <a:p>
              <a:pPr algn="l">
                <a:lnSpc>
                  <a:spcPts val="1884"/>
                </a:lnSpc>
                <a:spcBef>
                  <a:spcPct val="0"/>
                </a:spcBef>
              </a:pPr>
              <a:r>
                <a:rPr lang="en-US" sz="1483" b="1" dirty="0">
                  <a:solidFill>
                    <a:srgbClr val="CB6CE6"/>
                  </a:solidFill>
                  <a:latin typeface="Arial Bold"/>
                  <a:ea typeface="Arial Bold"/>
                  <a:cs typeface="Arial Bold"/>
                  <a:sym typeface="Arial Bold"/>
                </a:rPr>
                <a:t>Beam Arrangement:</a:t>
              </a:r>
              <a:r>
                <a:rPr lang="en-US" sz="1483" dirty="0">
                  <a:solidFill>
                    <a:srgbClr val="CB6CE6"/>
                  </a:solidFill>
                  <a:latin typeface="Arial"/>
                  <a:ea typeface="Arial"/>
                  <a:cs typeface="Arial"/>
                  <a:sym typeface="Arial"/>
                </a:rPr>
                <a:t> </a:t>
              </a:r>
              <a:r>
                <a:rPr lang="en-US" sz="1483" dirty="0">
                  <a:solidFill>
                    <a:srgbClr val="000000"/>
                  </a:solidFill>
                  <a:latin typeface="Arial"/>
                  <a:ea typeface="Arial"/>
                  <a:cs typeface="Arial"/>
                  <a:sym typeface="Arial"/>
                </a:rPr>
                <a:t>Confirm that beam geometry and entry points are appropriate for the target.</a:t>
              </a:r>
            </a:p>
          </p:txBody>
        </p:sp>
        <p:sp>
          <p:nvSpPr>
            <p:cNvPr id="25" name="TextBox 40">
              <a:extLst>
                <a:ext uri="{FF2B5EF4-FFF2-40B4-BE49-F238E27FC236}">
                  <a16:creationId xmlns:a16="http://schemas.microsoft.com/office/drawing/2014/main" id="{9EFA19D7-1C94-5ABB-234A-F95C621D733D}"/>
                </a:ext>
              </a:extLst>
            </p:cNvPr>
            <p:cNvSpPr txBox="1"/>
            <p:nvPr/>
          </p:nvSpPr>
          <p:spPr>
            <a:xfrm>
              <a:off x="751509" y="2358235"/>
              <a:ext cx="10262181" cy="314702"/>
            </a:xfrm>
            <a:prstGeom prst="rect">
              <a:avLst/>
            </a:prstGeom>
          </p:spPr>
          <p:txBody>
            <a:bodyPr lIns="0" tIns="0" rIns="0" bIns="0" rtlCol="0" anchor="t">
              <a:spAutoFit/>
            </a:bodyPr>
            <a:lstStyle/>
            <a:p>
              <a:pPr algn="l">
                <a:lnSpc>
                  <a:spcPts val="1884"/>
                </a:lnSpc>
                <a:spcBef>
                  <a:spcPct val="0"/>
                </a:spcBef>
              </a:pPr>
              <a:r>
                <a:rPr lang="en-US" sz="1483" b="1" dirty="0">
                  <a:solidFill>
                    <a:srgbClr val="FF66C4"/>
                  </a:solidFill>
                  <a:latin typeface="Arial Bold"/>
                  <a:ea typeface="Arial Bold"/>
                  <a:cs typeface="Arial Bold"/>
                  <a:sym typeface="Arial Bold"/>
                </a:rPr>
                <a:t>Coverage:</a:t>
              </a:r>
              <a:r>
                <a:rPr lang="en-US" sz="1483" dirty="0">
                  <a:solidFill>
                    <a:srgbClr val="5271FF"/>
                  </a:solidFill>
                  <a:latin typeface="Arial"/>
                  <a:ea typeface="Arial"/>
                  <a:cs typeface="Arial"/>
                  <a:sym typeface="Arial"/>
                </a:rPr>
                <a:t> </a:t>
              </a:r>
              <a:r>
                <a:rPr lang="en-US" sz="1483" dirty="0">
                  <a:solidFill>
                    <a:srgbClr val="000000"/>
                  </a:solidFill>
                  <a:latin typeface="Arial"/>
                  <a:ea typeface="Arial"/>
                  <a:cs typeface="Arial"/>
                  <a:sym typeface="Arial"/>
                </a:rPr>
                <a:t>Ensure the prescribed dose adequately covers the target volume. </a:t>
              </a:r>
            </a:p>
          </p:txBody>
        </p:sp>
        <p:sp>
          <p:nvSpPr>
            <p:cNvPr id="26" name="TextBox 41">
              <a:extLst>
                <a:ext uri="{FF2B5EF4-FFF2-40B4-BE49-F238E27FC236}">
                  <a16:creationId xmlns:a16="http://schemas.microsoft.com/office/drawing/2014/main" id="{05D9E532-0E2A-40CC-B26F-0A2D70848C30}"/>
                </a:ext>
              </a:extLst>
            </p:cNvPr>
            <p:cNvSpPr txBox="1"/>
            <p:nvPr/>
          </p:nvSpPr>
          <p:spPr>
            <a:xfrm>
              <a:off x="751509" y="3079579"/>
              <a:ext cx="11300298" cy="314702"/>
            </a:xfrm>
            <a:prstGeom prst="rect">
              <a:avLst/>
            </a:prstGeom>
          </p:spPr>
          <p:txBody>
            <a:bodyPr lIns="0" tIns="0" rIns="0" bIns="0" rtlCol="0" anchor="t">
              <a:spAutoFit/>
            </a:bodyPr>
            <a:lstStyle/>
            <a:p>
              <a:pPr algn="l">
                <a:lnSpc>
                  <a:spcPts val="1884"/>
                </a:lnSpc>
                <a:spcBef>
                  <a:spcPct val="0"/>
                </a:spcBef>
              </a:pPr>
              <a:r>
                <a:rPr lang="en-US" sz="1483" b="1">
                  <a:solidFill>
                    <a:srgbClr val="FF5757"/>
                  </a:solidFill>
                  <a:latin typeface="Arial Bold"/>
                  <a:ea typeface="Arial Bold"/>
                  <a:cs typeface="Arial Bold"/>
                  <a:sym typeface="Arial Bold"/>
                </a:rPr>
                <a:t>Heterogeneity/Hotspots:</a:t>
              </a:r>
              <a:r>
                <a:rPr lang="en-US" sz="1483">
                  <a:solidFill>
                    <a:srgbClr val="5271FF"/>
                  </a:solidFill>
                  <a:latin typeface="Arial"/>
                  <a:ea typeface="Arial"/>
                  <a:cs typeface="Arial"/>
                  <a:sym typeface="Arial"/>
                </a:rPr>
                <a:t> </a:t>
              </a:r>
              <a:r>
                <a:rPr lang="en-US" sz="1483">
                  <a:solidFill>
                    <a:srgbClr val="000000"/>
                  </a:solidFill>
                  <a:latin typeface="Arial"/>
                  <a:ea typeface="Arial"/>
                  <a:cs typeface="Arial"/>
                  <a:sym typeface="Arial"/>
                </a:rPr>
                <a:t>Assess internal dose variation for acceptable high and low dose regions.</a:t>
              </a:r>
            </a:p>
          </p:txBody>
        </p:sp>
        <p:sp>
          <p:nvSpPr>
            <p:cNvPr id="27" name="TextBox 42">
              <a:extLst>
                <a:ext uri="{FF2B5EF4-FFF2-40B4-BE49-F238E27FC236}">
                  <a16:creationId xmlns:a16="http://schemas.microsoft.com/office/drawing/2014/main" id="{03DF845D-C024-8F01-5C61-D9AFB64059AD}"/>
                </a:ext>
              </a:extLst>
            </p:cNvPr>
            <p:cNvSpPr txBox="1"/>
            <p:nvPr/>
          </p:nvSpPr>
          <p:spPr>
            <a:xfrm>
              <a:off x="751509" y="3726376"/>
              <a:ext cx="10262181" cy="314702"/>
            </a:xfrm>
            <a:prstGeom prst="rect">
              <a:avLst/>
            </a:prstGeom>
          </p:spPr>
          <p:txBody>
            <a:bodyPr lIns="0" tIns="0" rIns="0" bIns="0" rtlCol="0" anchor="t">
              <a:spAutoFit/>
            </a:bodyPr>
            <a:lstStyle/>
            <a:p>
              <a:pPr algn="l">
                <a:lnSpc>
                  <a:spcPts val="1884"/>
                </a:lnSpc>
                <a:spcBef>
                  <a:spcPct val="0"/>
                </a:spcBef>
              </a:pPr>
              <a:r>
                <a:rPr lang="en-US" sz="1483" b="1">
                  <a:solidFill>
                    <a:srgbClr val="FF914D"/>
                  </a:solidFill>
                  <a:latin typeface="Arial Bold"/>
                  <a:ea typeface="Arial Bold"/>
                  <a:cs typeface="Arial Bold"/>
                  <a:sym typeface="Arial Bold"/>
                </a:rPr>
                <a:t>Organs at Risk: </a:t>
              </a:r>
              <a:r>
                <a:rPr lang="en-US" sz="1483">
                  <a:solidFill>
                    <a:srgbClr val="000000"/>
                  </a:solidFill>
                  <a:latin typeface="Arial"/>
                  <a:ea typeface="Arial"/>
                  <a:cs typeface="Arial"/>
                  <a:sym typeface="Arial"/>
                </a:rPr>
                <a:t>Check that OAR doses respect clinical constraints. </a:t>
              </a:r>
            </a:p>
          </p:txBody>
        </p:sp>
        <p:sp>
          <p:nvSpPr>
            <p:cNvPr id="28" name="TextBox 43">
              <a:extLst>
                <a:ext uri="{FF2B5EF4-FFF2-40B4-BE49-F238E27FC236}">
                  <a16:creationId xmlns:a16="http://schemas.microsoft.com/office/drawing/2014/main" id="{AF9307FB-130A-D8D7-2A96-02519C2DBCF4}"/>
                </a:ext>
              </a:extLst>
            </p:cNvPr>
            <p:cNvSpPr txBox="1"/>
            <p:nvPr/>
          </p:nvSpPr>
          <p:spPr>
            <a:xfrm>
              <a:off x="751509" y="4448035"/>
              <a:ext cx="10262181" cy="314702"/>
            </a:xfrm>
            <a:prstGeom prst="rect">
              <a:avLst/>
            </a:prstGeom>
          </p:spPr>
          <p:txBody>
            <a:bodyPr lIns="0" tIns="0" rIns="0" bIns="0" rtlCol="0" anchor="t">
              <a:spAutoFit/>
            </a:bodyPr>
            <a:lstStyle/>
            <a:p>
              <a:pPr algn="l">
                <a:lnSpc>
                  <a:spcPts val="1884"/>
                </a:lnSpc>
                <a:spcBef>
                  <a:spcPct val="0"/>
                </a:spcBef>
              </a:pPr>
              <a:r>
                <a:rPr lang="en-US" sz="1483" b="1">
                  <a:solidFill>
                    <a:srgbClr val="FFDE59"/>
                  </a:solidFill>
                  <a:latin typeface="Arial Bold"/>
                  <a:ea typeface="Arial Bold"/>
                  <a:cs typeface="Arial Bold"/>
                  <a:sym typeface="Arial Bold"/>
                </a:rPr>
                <a:t>Prescription:</a:t>
              </a:r>
              <a:r>
                <a:rPr lang="en-US" sz="1483">
                  <a:solidFill>
                    <a:srgbClr val="5271FF"/>
                  </a:solidFill>
                  <a:latin typeface="Arial"/>
                  <a:ea typeface="Arial"/>
                  <a:cs typeface="Arial"/>
                  <a:sym typeface="Arial"/>
                </a:rPr>
                <a:t> </a:t>
              </a:r>
              <a:r>
                <a:rPr lang="en-US" sz="1483">
                  <a:solidFill>
                    <a:srgbClr val="000000"/>
                  </a:solidFill>
                  <a:latin typeface="Arial"/>
                  <a:ea typeface="Arial"/>
                  <a:cs typeface="Arial"/>
                  <a:sym typeface="Arial"/>
                </a:rPr>
                <a:t>Confirm the correct dose, fractionation, and delivery schedule are used.</a:t>
              </a:r>
            </a:p>
          </p:txBody>
        </p:sp>
        <p:sp>
          <p:nvSpPr>
            <p:cNvPr id="29" name="TextBox 44">
              <a:extLst>
                <a:ext uri="{FF2B5EF4-FFF2-40B4-BE49-F238E27FC236}">
                  <a16:creationId xmlns:a16="http://schemas.microsoft.com/office/drawing/2014/main" id="{0962A048-0CAC-7680-AD38-7BE9F24E42D5}"/>
                </a:ext>
              </a:extLst>
            </p:cNvPr>
            <p:cNvSpPr txBox="1"/>
            <p:nvPr/>
          </p:nvSpPr>
          <p:spPr>
            <a:xfrm>
              <a:off x="751509" y="5169694"/>
              <a:ext cx="10890899" cy="314702"/>
            </a:xfrm>
            <a:prstGeom prst="rect">
              <a:avLst/>
            </a:prstGeom>
          </p:spPr>
          <p:txBody>
            <a:bodyPr lIns="0" tIns="0" rIns="0" bIns="0" rtlCol="0" anchor="t">
              <a:spAutoFit/>
            </a:bodyPr>
            <a:lstStyle/>
            <a:p>
              <a:pPr algn="l">
                <a:lnSpc>
                  <a:spcPts val="1884"/>
                </a:lnSpc>
                <a:spcBef>
                  <a:spcPct val="0"/>
                </a:spcBef>
              </a:pPr>
              <a:r>
                <a:rPr lang="en-US" sz="1483" b="1">
                  <a:solidFill>
                    <a:srgbClr val="99E17A"/>
                  </a:solidFill>
                  <a:latin typeface="Arial Bold"/>
                  <a:ea typeface="Arial Bold"/>
                  <a:cs typeface="Arial Bold"/>
                  <a:sym typeface="Arial Bold"/>
                </a:rPr>
                <a:t>Summation: </a:t>
              </a:r>
              <a:r>
                <a:rPr lang="en-US" sz="1483">
                  <a:solidFill>
                    <a:srgbClr val="000000"/>
                  </a:solidFill>
                  <a:latin typeface="Arial"/>
                  <a:ea typeface="Arial"/>
                  <a:cs typeface="Arial"/>
                  <a:sym typeface="Arial"/>
                </a:rPr>
                <a:t>Evaluate cumulative dose from all treatment courses / previous RT (if applicable).</a:t>
              </a:r>
            </a:p>
          </p:txBody>
        </p:sp>
      </p:grpSp>
    </p:spTree>
    <p:extLst>
      <p:ext uri="{BB962C8B-B14F-4D97-AF65-F5344CB8AC3E}">
        <p14:creationId xmlns:p14="http://schemas.microsoft.com/office/powerpoint/2010/main" val="1345487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A9E0"/>
        </a:solidFill>
        <a:effectLst/>
      </p:bgPr>
    </p:bg>
    <p:spTree>
      <p:nvGrpSpPr>
        <p:cNvPr id="1" name=""/>
        <p:cNvGrpSpPr/>
        <p:nvPr/>
      </p:nvGrpSpPr>
      <p:grpSpPr>
        <a:xfrm>
          <a:off x="0" y="0"/>
          <a:ext cx="0" cy="0"/>
          <a:chOff x="0" y="0"/>
          <a:chExt cx="0" cy="0"/>
        </a:xfrm>
      </p:grpSpPr>
      <p:sp>
        <p:nvSpPr>
          <p:cNvPr id="2" name="TextBox 1"/>
          <p:cNvSpPr txBox="1"/>
          <p:nvPr/>
        </p:nvSpPr>
        <p:spPr>
          <a:xfrm>
            <a:off x="749808" y="1170432"/>
            <a:ext cx="4206240" cy="2743200"/>
          </a:xfrm>
          <a:prstGeom prst="rect">
            <a:avLst/>
          </a:prstGeom>
          <a:noFill/>
        </p:spPr>
        <p:txBody>
          <a:bodyPr wrap="square" lIns="0" tIns="0" rIns="0" bIns="0" anchor="t">
            <a:noAutofit/>
          </a:bodyPr>
          <a:lstStyle/>
          <a:p>
            <a:pPr algn="l">
              <a:lnSpc>
                <a:spcPct val="118000"/>
              </a:lnSpc>
              <a:spcBef>
                <a:spcPts val="0"/>
              </a:spcBef>
              <a:spcAft>
                <a:spcPts val="400"/>
              </a:spcAft>
            </a:pPr>
            <a:r>
              <a:rPr sz="16800" b="1" i="0">
                <a:solidFill>
                  <a:srgbClr val="006586"/>
                </a:solidFill>
                <a:latin typeface="Georgia"/>
              </a:rPr>
              <a:t>01</a:t>
            </a:r>
          </a:p>
        </p:txBody>
      </p:sp>
      <p:sp>
        <p:nvSpPr>
          <p:cNvPr id="3" name="TextBox 2"/>
          <p:cNvSpPr txBox="1"/>
          <p:nvPr/>
        </p:nvSpPr>
        <p:spPr>
          <a:xfrm>
            <a:off x="932688" y="4224528"/>
            <a:ext cx="4023360" cy="365760"/>
          </a:xfrm>
          <a:prstGeom prst="rect">
            <a:avLst/>
          </a:prstGeom>
          <a:noFill/>
        </p:spPr>
        <p:txBody>
          <a:bodyPr wrap="square" lIns="0" tIns="0" rIns="0" bIns="0" anchor="t">
            <a:noAutofit/>
          </a:bodyPr>
          <a:lstStyle/>
          <a:p>
            <a:pPr algn="l">
              <a:lnSpc>
                <a:spcPct val="118000"/>
              </a:lnSpc>
              <a:spcBef>
                <a:spcPts val="0"/>
              </a:spcBef>
              <a:spcAft>
                <a:spcPts val="400"/>
              </a:spcAft>
            </a:pPr>
            <a:r>
              <a:rPr sz="1300" b="1" i="0" spc="300">
                <a:solidFill>
                  <a:srgbClr val="FFFFFF"/>
                </a:solidFill>
                <a:latin typeface="Consolas"/>
              </a:rPr>
              <a:t>BLOCK ONE</a:t>
            </a:r>
          </a:p>
        </p:txBody>
      </p:sp>
      <p:sp>
        <p:nvSpPr>
          <p:cNvPr id="4" name="Rectangle 3"/>
          <p:cNvSpPr/>
          <p:nvPr/>
        </p:nvSpPr>
        <p:spPr>
          <a:xfrm>
            <a:off x="4526280" y="1810512"/>
            <a:ext cx="4572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56048" y="1737360"/>
            <a:ext cx="6766560" cy="1188720"/>
          </a:xfrm>
          <a:prstGeom prst="rect">
            <a:avLst/>
          </a:prstGeom>
          <a:noFill/>
        </p:spPr>
        <p:txBody>
          <a:bodyPr wrap="square" lIns="0" tIns="0" rIns="0" bIns="0" anchor="t">
            <a:noAutofit/>
          </a:bodyPr>
          <a:lstStyle/>
          <a:p>
            <a:pPr algn="l">
              <a:lnSpc>
                <a:spcPct val="118000"/>
              </a:lnSpc>
              <a:spcBef>
                <a:spcPts val="0"/>
              </a:spcBef>
              <a:spcAft>
                <a:spcPts val="400"/>
              </a:spcAft>
            </a:pPr>
            <a:r>
              <a:rPr sz="4400" b="1" i="0">
                <a:solidFill>
                  <a:srgbClr val="FFFFFF"/>
                </a:solidFill>
                <a:latin typeface="Georgia"/>
              </a:rPr>
              <a:t>Target Coverage</a:t>
            </a:r>
          </a:p>
        </p:txBody>
      </p:sp>
      <p:sp>
        <p:nvSpPr>
          <p:cNvPr id="6" name="Rounded Rectangle 5"/>
          <p:cNvSpPr/>
          <p:nvPr/>
        </p:nvSpPr>
        <p:spPr>
          <a:xfrm>
            <a:off x="4992624" y="2798064"/>
            <a:ext cx="1783080" cy="402336"/>
          </a:xfrm>
          <a:prstGeom prst="roundRect">
            <a:avLst>
              <a:gd name="adj" fmla="val 50000"/>
            </a:avLst>
          </a:prstGeom>
          <a:solidFill>
            <a:srgbClr val="00A9E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992624" y="2816352"/>
            <a:ext cx="1783080" cy="384048"/>
          </a:xfrm>
          <a:prstGeom prst="rect">
            <a:avLst/>
          </a:prstGeom>
          <a:noFill/>
        </p:spPr>
        <p:txBody>
          <a:bodyPr wrap="square" lIns="0" tIns="0" rIns="0" bIns="0" anchor="ctr">
            <a:noAutofit/>
          </a:bodyPr>
          <a:lstStyle/>
          <a:p>
            <a:pPr algn="ctr">
              <a:lnSpc>
                <a:spcPct val="118000"/>
              </a:lnSpc>
              <a:spcBef>
                <a:spcPts val="0"/>
              </a:spcBef>
              <a:spcAft>
                <a:spcPts val="400"/>
              </a:spcAft>
            </a:pPr>
            <a:r>
              <a:rPr sz="950" b="1" i="0" spc="130">
                <a:solidFill>
                  <a:srgbClr val="FFFFFF"/>
                </a:solidFill>
                <a:latin typeface="Consolas"/>
              </a:rPr>
              <a:t>10 MINUTES</a:t>
            </a:r>
          </a:p>
        </p:txBody>
      </p:sp>
      <p:sp>
        <p:nvSpPr>
          <p:cNvPr id="8" name="Oval 7"/>
          <p:cNvSpPr/>
          <p:nvPr/>
        </p:nvSpPr>
        <p:spPr>
          <a:xfrm>
            <a:off x="5010912" y="3639312"/>
            <a:ext cx="137160" cy="137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0" y="3547872"/>
            <a:ext cx="6309360" cy="457200"/>
          </a:xfrm>
          <a:prstGeom prst="rect">
            <a:avLst/>
          </a:prstGeom>
          <a:noFill/>
        </p:spPr>
        <p:txBody>
          <a:bodyPr wrap="square" lIns="0" tIns="0" rIns="0" bIns="0" anchor="t">
            <a:noAutofit/>
          </a:bodyPr>
          <a:lstStyle/>
          <a:p>
            <a:pPr algn="l">
              <a:lnSpc>
                <a:spcPct val="118000"/>
              </a:lnSpc>
              <a:spcBef>
                <a:spcPts val="0"/>
              </a:spcBef>
              <a:spcAft>
                <a:spcPts val="400"/>
              </a:spcAft>
            </a:pPr>
            <a:r>
              <a:rPr sz="1450" b="0" i="0" dirty="0">
                <a:solidFill>
                  <a:srgbClr val="FFFFFF"/>
                </a:solidFill>
                <a:latin typeface="Calibri"/>
              </a:rPr>
              <a:t>How to read a dose</a:t>
            </a:r>
            <a:r>
              <a:rPr lang="en-US" sz="1450" b="0" i="0" dirty="0">
                <a:solidFill>
                  <a:srgbClr val="FFFFFF"/>
                </a:solidFill>
                <a:latin typeface="Calibri"/>
              </a:rPr>
              <a:t> </a:t>
            </a:r>
            <a:r>
              <a:rPr sz="1450" b="0" i="0" dirty="0">
                <a:solidFill>
                  <a:srgbClr val="FFFFFF"/>
                </a:solidFill>
                <a:latin typeface="Calibri"/>
              </a:rPr>
              <a:t>volume histogram</a:t>
            </a:r>
          </a:p>
        </p:txBody>
      </p:sp>
      <p:sp>
        <p:nvSpPr>
          <p:cNvPr id="10" name="Oval 9"/>
          <p:cNvSpPr/>
          <p:nvPr/>
        </p:nvSpPr>
        <p:spPr>
          <a:xfrm>
            <a:off x="5010912" y="4151376"/>
            <a:ext cx="137160" cy="137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303520" y="4059936"/>
            <a:ext cx="6309360" cy="457200"/>
          </a:xfrm>
          <a:prstGeom prst="rect">
            <a:avLst/>
          </a:prstGeom>
          <a:noFill/>
        </p:spPr>
        <p:txBody>
          <a:bodyPr wrap="square" lIns="0" tIns="0" rIns="0" bIns="0" anchor="t">
            <a:noAutofit/>
          </a:bodyPr>
          <a:lstStyle/>
          <a:p>
            <a:pPr algn="l">
              <a:lnSpc>
                <a:spcPct val="118000"/>
              </a:lnSpc>
              <a:spcBef>
                <a:spcPts val="0"/>
              </a:spcBef>
              <a:spcAft>
                <a:spcPts val="400"/>
              </a:spcAft>
            </a:pPr>
            <a:r>
              <a:rPr sz="1450" b="0" i="0" dirty="0">
                <a:solidFill>
                  <a:srgbClr val="FFFFFF"/>
                </a:solidFill>
                <a:latin typeface="Calibri"/>
              </a:rPr>
              <a:t>Coverage metrics </a:t>
            </a:r>
            <a:r>
              <a:rPr lang="en-US" sz="1450" b="0" i="0" dirty="0">
                <a:solidFill>
                  <a:srgbClr val="FFFFFF"/>
                </a:solidFill>
                <a:latin typeface="Calibri"/>
              </a:rPr>
              <a:t>-</a:t>
            </a:r>
            <a:r>
              <a:rPr sz="1450" b="0" i="0" dirty="0">
                <a:solidFill>
                  <a:srgbClr val="FFFFFF"/>
                </a:solidFill>
                <a:latin typeface="Calibri"/>
              </a:rPr>
              <a:t> V95, V107, D98, D2, D50</a:t>
            </a:r>
          </a:p>
        </p:txBody>
      </p:sp>
      <p:sp>
        <p:nvSpPr>
          <p:cNvPr id="12" name="Oval 11"/>
          <p:cNvSpPr/>
          <p:nvPr/>
        </p:nvSpPr>
        <p:spPr>
          <a:xfrm>
            <a:off x="5010912" y="4663440"/>
            <a:ext cx="137160" cy="137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03520" y="4572000"/>
            <a:ext cx="6309360" cy="457200"/>
          </a:xfrm>
          <a:prstGeom prst="rect">
            <a:avLst/>
          </a:prstGeom>
          <a:noFill/>
        </p:spPr>
        <p:txBody>
          <a:bodyPr wrap="square" lIns="0" tIns="0" rIns="0" bIns="0" anchor="t">
            <a:noAutofit/>
          </a:bodyPr>
          <a:lstStyle/>
          <a:p>
            <a:pPr algn="l">
              <a:lnSpc>
                <a:spcPct val="118000"/>
              </a:lnSpc>
              <a:spcBef>
                <a:spcPts val="0"/>
              </a:spcBef>
              <a:spcAft>
                <a:spcPts val="400"/>
              </a:spcAft>
            </a:pPr>
            <a:r>
              <a:rPr sz="1450" b="0" i="0" dirty="0">
                <a:solidFill>
                  <a:srgbClr val="FFFFFF"/>
                </a:solidFill>
                <a:latin typeface="Calibri"/>
              </a:rPr>
              <a:t>Conformity and homogeneity </a:t>
            </a:r>
            <a:r>
              <a:rPr lang="en-US" sz="1450" b="0" i="0" dirty="0">
                <a:solidFill>
                  <a:srgbClr val="FFFFFF"/>
                </a:solidFill>
                <a:latin typeface="Calibri"/>
              </a:rPr>
              <a:t>-</a:t>
            </a:r>
            <a:r>
              <a:rPr sz="1450" b="0" i="0" dirty="0">
                <a:solidFill>
                  <a:srgbClr val="FFFFFF"/>
                </a:solidFill>
                <a:latin typeface="Calibri"/>
              </a:rPr>
              <a:t> and “what is good enough?”</a:t>
            </a:r>
          </a:p>
        </p:txBody>
      </p:sp>
      <p:sp>
        <p:nvSpPr>
          <p:cNvPr id="14" name="TextBox 13"/>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CDEBF8"/>
                </a:solidFill>
                <a:latin typeface="Consolas"/>
              </a:rPr>
              <a:t>3DCRT PLAN EVALUATION  /  THEORY MODULE</a:t>
            </a:r>
          </a:p>
        </p:txBody>
      </p:sp>
      <p:sp>
        <p:nvSpPr>
          <p:cNvPr id="15" name="TextBox 14"/>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CDEBF8"/>
                </a:solidFill>
                <a:latin typeface="Consolas"/>
              </a:rPr>
              <a:t>07 / 34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00A9E0"/>
                </a:solidFill>
                <a:latin typeface="Consolas"/>
              </a:rPr>
              <a:t>BLOCK 1 · TARGET COVERAGE</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a:solidFill>
                  <a:srgbClr val="00A9E0"/>
                </a:solidFill>
                <a:latin typeface="Georgia"/>
              </a:rPr>
              <a:t>First, name your volumes</a:t>
            </a:r>
          </a:p>
        </p:txBody>
      </p:sp>
      <p:sp>
        <p:nvSpPr>
          <p:cNvPr id="4" name="TextBox 3"/>
          <p:cNvSpPr txBox="1"/>
          <p:nvPr/>
        </p:nvSpPr>
        <p:spPr>
          <a:xfrm>
            <a:off x="566928" y="1572768"/>
            <a:ext cx="11064240" cy="502920"/>
          </a:xfrm>
          <a:prstGeom prst="rect">
            <a:avLst/>
          </a:prstGeom>
          <a:noFill/>
        </p:spPr>
        <p:txBody>
          <a:bodyPr wrap="square" lIns="0" tIns="0" rIns="0" bIns="0" anchor="t">
            <a:noAutofit/>
          </a:bodyPr>
          <a:lstStyle/>
          <a:p>
            <a:pPr algn="l">
              <a:lnSpc>
                <a:spcPct val="118000"/>
              </a:lnSpc>
              <a:spcBef>
                <a:spcPts val="0"/>
              </a:spcBef>
              <a:spcAft>
                <a:spcPts val="400"/>
              </a:spcAft>
            </a:pPr>
            <a:r>
              <a:rPr sz="1340" b="0" i="0" dirty="0">
                <a:solidFill>
                  <a:srgbClr val="5A7480"/>
                </a:solidFill>
                <a:latin typeface="Calibri"/>
              </a:rPr>
              <a:t>Coverage means nothing until you are clear on </a:t>
            </a:r>
            <a:r>
              <a:rPr sz="1340" b="1" i="1" dirty="0">
                <a:solidFill>
                  <a:srgbClr val="14313C"/>
                </a:solidFill>
                <a:latin typeface="Calibri"/>
              </a:rPr>
              <a:t>which</a:t>
            </a:r>
            <a:r>
              <a:rPr sz="1340" b="0" i="0" dirty="0">
                <a:solidFill>
                  <a:srgbClr val="5A7480"/>
                </a:solidFill>
                <a:latin typeface="Calibri"/>
              </a:rPr>
              <a:t> volume you are covering. The ICRU volume hierarchy (Reports 50, 62, 83):</a:t>
            </a:r>
          </a:p>
        </p:txBody>
      </p:sp>
      <p:sp>
        <p:nvSpPr>
          <p:cNvPr id="5" name="Rounded Rectangle 4"/>
          <p:cNvSpPr/>
          <p:nvPr/>
        </p:nvSpPr>
        <p:spPr>
          <a:xfrm>
            <a:off x="566928" y="2212848"/>
            <a:ext cx="2596896" cy="2286000"/>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2432304"/>
            <a:ext cx="2596896" cy="640080"/>
          </a:xfrm>
          <a:prstGeom prst="rect">
            <a:avLst/>
          </a:prstGeom>
          <a:noFill/>
        </p:spPr>
        <p:txBody>
          <a:bodyPr wrap="square" lIns="0" tIns="0" rIns="0" bIns="0" anchor="t">
            <a:noAutofit/>
          </a:bodyPr>
          <a:lstStyle/>
          <a:p>
            <a:pPr algn="ctr">
              <a:lnSpc>
                <a:spcPct val="118000"/>
              </a:lnSpc>
              <a:spcBef>
                <a:spcPts val="0"/>
              </a:spcBef>
              <a:spcAft>
                <a:spcPts val="400"/>
              </a:spcAft>
            </a:pPr>
            <a:r>
              <a:rPr sz="2800" b="1" i="0" dirty="0">
                <a:solidFill>
                  <a:srgbClr val="00B050"/>
                </a:solidFill>
                <a:latin typeface="Georgia"/>
              </a:rPr>
              <a:t>GTV</a:t>
            </a:r>
          </a:p>
        </p:txBody>
      </p:sp>
      <p:sp>
        <p:nvSpPr>
          <p:cNvPr id="7" name="TextBox 6"/>
          <p:cNvSpPr txBox="1"/>
          <p:nvPr/>
        </p:nvSpPr>
        <p:spPr>
          <a:xfrm>
            <a:off x="749808" y="2980944"/>
            <a:ext cx="2249424" cy="548640"/>
          </a:xfrm>
          <a:prstGeom prst="rect">
            <a:avLst/>
          </a:prstGeom>
          <a:noFill/>
        </p:spPr>
        <p:txBody>
          <a:bodyPr wrap="square" lIns="0" tIns="0" rIns="0" bIns="0" anchor="t">
            <a:noAutofit/>
          </a:bodyPr>
          <a:lstStyle/>
          <a:p>
            <a:pPr algn="ctr">
              <a:lnSpc>
                <a:spcPct val="112000"/>
              </a:lnSpc>
              <a:spcBef>
                <a:spcPts val="0"/>
              </a:spcBef>
              <a:spcAft>
                <a:spcPts val="400"/>
              </a:spcAft>
            </a:pPr>
            <a:r>
              <a:rPr sz="1200" b="1" i="0">
                <a:solidFill>
                  <a:srgbClr val="14313C"/>
                </a:solidFill>
                <a:latin typeface="Calibri"/>
              </a:rPr>
              <a:t>Gross Tumour Volume</a:t>
            </a:r>
          </a:p>
        </p:txBody>
      </p:sp>
      <p:sp>
        <p:nvSpPr>
          <p:cNvPr id="8" name="TextBox 7"/>
          <p:cNvSpPr txBox="1"/>
          <p:nvPr/>
        </p:nvSpPr>
        <p:spPr>
          <a:xfrm>
            <a:off x="768096" y="3493008"/>
            <a:ext cx="2212848" cy="914400"/>
          </a:xfrm>
          <a:prstGeom prst="rect">
            <a:avLst/>
          </a:prstGeom>
          <a:noFill/>
        </p:spPr>
        <p:txBody>
          <a:bodyPr wrap="square" lIns="0" tIns="0" rIns="0" bIns="0" anchor="t">
            <a:noAutofit/>
          </a:bodyPr>
          <a:lstStyle/>
          <a:p>
            <a:pPr algn="ctr">
              <a:lnSpc>
                <a:spcPct val="122000"/>
              </a:lnSpc>
              <a:spcBef>
                <a:spcPts val="0"/>
              </a:spcBef>
              <a:spcAft>
                <a:spcPts val="400"/>
              </a:spcAft>
            </a:pPr>
            <a:r>
              <a:rPr sz="1130" b="0" i="0">
                <a:solidFill>
                  <a:srgbClr val="5A7480"/>
                </a:solidFill>
                <a:latin typeface="Calibri"/>
              </a:rPr>
              <a:t>What you can see, palpate or image. No tumour = no GTV.</a:t>
            </a:r>
          </a:p>
        </p:txBody>
      </p:sp>
      <p:sp>
        <p:nvSpPr>
          <p:cNvPr id="9" name="TextBox 8"/>
          <p:cNvSpPr txBox="1"/>
          <p:nvPr/>
        </p:nvSpPr>
        <p:spPr>
          <a:xfrm>
            <a:off x="3108960" y="3063240"/>
            <a:ext cx="384048" cy="457200"/>
          </a:xfrm>
          <a:prstGeom prst="rect">
            <a:avLst/>
          </a:prstGeom>
          <a:noFill/>
        </p:spPr>
        <p:txBody>
          <a:bodyPr wrap="square" lIns="0" tIns="0" rIns="0" bIns="0" anchor="t">
            <a:noAutofit/>
          </a:bodyPr>
          <a:lstStyle/>
          <a:p>
            <a:pPr algn="l">
              <a:lnSpc>
                <a:spcPct val="118000"/>
              </a:lnSpc>
              <a:spcBef>
                <a:spcPts val="0"/>
              </a:spcBef>
              <a:spcAft>
                <a:spcPts val="400"/>
              </a:spcAft>
            </a:pPr>
            <a:r>
              <a:rPr sz="2000" b="1" i="0">
                <a:solidFill>
                  <a:srgbClr val="96AAB4"/>
                </a:solidFill>
                <a:latin typeface="Calibri"/>
              </a:rPr>
              <a:t>→</a:t>
            </a:r>
          </a:p>
        </p:txBody>
      </p:sp>
      <p:sp>
        <p:nvSpPr>
          <p:cNvPr id="10" name="Rounded Rectangle 9"/>
          <p:cNvSpPr/>
          <p:nvPr/>
        </p:nvSpPr>
        <p:spPr>
          <a:xfrm>
            <a:off x="3337560" y="2212848"/>
            <a:ext cx="2596896" cy="2286000"/>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37560" y="2432304"/>
            <a:ext cx="2596896" cy="640080"/>
          </a:xfrm>
          <a:prstGeom prst="rect">
            <a:avLst/>
          </a:prstGeom>
          <a:noFill/>
        </p:spPr>
        <p:txBody>
          <a:bodyPr wrap="square" lIns="0" tIns="0" rIns="0" bIns="0" anchor="t">
            <a:noAutofit/>
          </a:bodyPr>
          <a:lstStyle/>
          <a:p>
            <a:pPr algn="ctr">
              <a:lnSpc>
                <a:spcPct val="118000"/>
              </a:lnSpc>
              <a:spcBef>
                <a:spcPts val="0"/>
              </a:spcBef>
              <a:spcAft>
                <a:spcPts val="400"/>
              </a:spcAft>
            </a:pPr>
            <a:r>
              <a:rPr sz="2800" b="1" i="0" dirty="0">
                <a:solidFill>
                  <a:schemeClr val="accent6">
                    <a:lumMod val="75000"/>
                  </a:schemeClr>
                </a:solidFill>
                <a:latin typeface="Georgia"/>
              </a:rPr>
              <a:t>CTV</a:t>
            </a:r>
          </a:p>
        </p:txBody>
      </p:sp>
      <p:sp>
        <p:nvSpPr>
          <p:cNvPr id="12" name="TextBox 11"/>
          <p:cNvSpPr txBox="1"/>
          <p:nvPr/>
        </p:nvSpPr>
        <p:spPr>
          <a:xfrm>
            <a:off x="3520440" y="2980944"/>
            <a:ext cx="2249424" cy="548640"/>
          </a:xfrm>
          <a:prstGeom prst="rect">
            <a:avLst/>
          </a:prstGeom>
          <a:noFill/>
        </p:spPr>
        <p:txBody>
          <a:bodyPr wrap="square" lIns="0" tIns="0" rIns="0" bIns="0" anchor="t">
            <a:noAutofit/>
          </a:bodyPr>
          <a:lstStyle/>
          <a:p>
            <a:pPr algn="ctr">
              <a:lnSpc>
                <a:spcPct val="112000"/>
              </a:lnSpc>
              <a:spcBef>
                <a:spcPts val="0"/>
              </a:spcBef>
              <a:spcAft>
                <a:spcPts val="400"/>
              </a:spcAft>
            </a:pPr>
            <a:r>
              <a:rPr sz="1200" b="1" i="0">
                <a:solidFill>
                  <a:srgbClr val="14313C"/>
                </a:solidFill>
                <a:latin typeface="Calibri"/>
              </a:rPr>
              <a:t>Clinical Target Volume</a:t>
            </a:r>
          </a:p>
        </p:txBody>
      </p:sp>
      <p:sp>
        <p:nvSpPr>
          <p:cNvPr id="13" name="TextBox 12"/>
          <p:cNvSpPr txBox="1"/>
          <p:nvPr/>
        </p:nvSpPr>
        <p:spPr>
          <a:xfrm>
            <a:off x="3538728" y="3493008"/>
            <a:ext cx="2212848" cy="914400"/>
          </a:xfrm>
          <a:prstGeom prst="rect">
            <a:avLst/>
          </a:prstGeom>
          <a:noFill/>
        </p:spPr>
        <p:txBody>
          <a:bodyPr wrap="square" lIns="0" tIns="0" rIns="0" bIns="0" anchor="t">
            <a:noAutofit/>
          </a:bodyPr>
          <a:lstStyle/>
          <a:p>
            <a:pPr algn="ctr">
              <a:lnSpc>
                <a:spcPct val="122000"/>
              </a:lnSpc>
              <a:spcBef>
                <a:spcPts val="0"/>
              </a:spcBef>
              <a:spcAft>
                <a:spcPts val="400"/>
              </a:spcAft>
            </a:pPr>
            <a:r>
              <a:rPr sz="1130" b="0" i="0">
                <a:solidFill>
                  <a:srgbClr val="5A7480"/>
                </a:solidFill>
                <a:latin typeface="Calibri"/>
              </a:rPr>
              <a:t>GTV + suspected microscopic spread. The true clinical target.</a:t>
            </a:r>
          </a:p>
        </p:txBody>
      </p:sp>
      <p:sp>
        <p:nvSpPr>
          <p:cNvPr id="14" name="TextBox 13"/>
          <p:cNvSpPr txBox="1"/>
          <p:nvPr/>
        </p:nvSpPr>
        <p:spPr>
          <a:xfrm>
            <a:off x="5879592" y="3063240"/>
            <a:ext cx="384048" cy="457200"/>
          </a:xfrm>
          <a:prstGeom prst="rect">
            <a:avLst/>
          </a:prstGeom>
          <a:noFill/>
        </p:spPr>
        <p:txBody>
          <a:bodyPr wrap="square" lIns="0" tIns="0" rIns="0" bIns="0" anchor="t">
            <a:noAutofit/>
          </a:bodyPr>
          <a:lstStyle/>
          <a:p>
            <a:pPr algn="l">
              <a:lnSpc>
                <a:spcPct val="118000"/>
              </a:lnSpc>
              <a:spcBef>
                <a:spcPts val="0"/>
              </a:spcBef>
              <a:spcAft>
                <a:spcPts val="400"/>
              </a:spcAft>
            </a:pPr>
            <a:r>
              <a:rPr sz="2000" b="1" i="0">
                <a:solidFill>
                  <a:srgbClr val="96AAB4"/>
                </a:solidFill>
                <a:latin typeface="Calibri"/>
              </a:rPr>
              <a:t>→</a:t>
            </a:r>
          </a:p>
        </p:txBody>
      </p:sp>
      <p:sp>
        <p:nvSpPr>
          <p:cNvPr id="15" name="Rounded Rectangle 14"/>
          <p:cNvSpPr/>
          <p:nvPr/>
        </p:nvSpPr>
        <p:spPr>
          <a:xfrm>
            <a:off x="6108192" y="2212848"/>
            <a:ext cx="2596896" cy="2286000"/>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08192" y="2432304"/>
            <a:ext cx="2596896" cy="640080"/>
          </a:xfrm>
          <a:prstGeom prst="rect">
            <a:avLst/>
          </a:prstGeom>
          <a:noFill/>
        </p:spPr>
        <p:txBody>
          <a:bodyPr wrap="square" lIns="0" tIns="0" rIns="0" bIns="0" anchor="t">
            <a:noAutofit/>
          </a:bodyPr>
          <a:lstStyle/>
          <a:p>
            <a:pPr algn="ctr">
              <a:lnSpc>
                <a:spcPct val="118000"/>
              </a:lnSpc>
              <a:spcBef>
                <a:spcPts val="0"/>
              </a:spcBef>
              <a:spcAft>
                <a:spcPts val="400"/>
              </a:spcAft>
            </a:pPr>
            <a:r>
              <a:rPr sz="2800" b="1" i="0">
                <a:solidFill>
                  <a:srgbClr val="00A9E0"/>
                </a:solidFill>
                <a:latin typeface="Georgia"/>
              </a:rPr>
              <a:t>ITV</a:t>
            </a:r>
          </a:p>
        </p:txBody>
      </p:sp>
      <p:sp>
        <p:nvSpPr>
          <p:cNvPr id="17" name="TextBox 16"/>
          <p:cNvSpPr txBox="1"/>
          <p:nvPr/>
        </p:nvSpPr>
        <p:spPr>
          <a:xfrm>
            <a:off x="6291072" y="2980944"/>
            <a:ext cx="2249424" cy="548640"/>
          </a:xfrm>
          <a:prstGeom prst="rect">
            <a:avLst/>
          </a:prstGeom>
          <a:noFill/>
        </p:spPr>
        <p:txBody>
          <a:bodyPr wrap="square" lIns="0" tIns="0" rIns="0" bIns="0" anchor="t">
            <a:noAutofit/>
          </a:bodyPr>
          <a:lstStyle/>
          <a:p>
            <a:pPr algn="ctr">
              <a:lnSpc>
                <a:spcPct val="112000"/>
              </a:lnSpc>
              <a:spcBef>
                <a:spcPts val="0"/>
              </a:spcBef>
              <a:spcAft>
                <a:spcPts val="400"/>
              </a:spcAft>
            </a:pPr>
            <a:r>
              <a:rPr sz="1200" b="1" i="0">
                <a:solidFill>
                  <a:srgbClr val="14313C"/>
                </a:solidFill>
                <a:latin typeface="Calibri"/>
              </a:rPr>
              <a:t>Internal Target Volume</a:t>
            </a:r>
          </a:p>
        </p:txBody>
      </p:sp>
      <p:sp>
        <p:nvSpPr>
          <p:cNvPr id="18" name="TextBox 17"/>
          <p:cNvSpPr txBox="1"/>
          <p:nvPr/>
        </p:nvSpPr>
        <p:spPr>
          <a:xfrm>
            <a:off x="6309359" y="3493008"/>
            <a:ext cx="2212848" cy="914400"/>
          </a:xfrm>
          <a:prstGeom prst="rect">
            <a:avLst/>
          </a:prstGeom>
          <a:noFill/>
        </p:spPr>
        <p:txBody>
          <a:bodyPr wrap="square" lIns="0" tIns="0" rIns="0" bIns="0" anchor="t">
            <a:noAutofit/>
          </a:bodyPr>
          <a:lstStyle/>
          <a:p>
            <a:pPr algn="ctr">
              <a:lnSpc>
                <a:spcPct val="122000"/>
              </a:lnSpc>
              <a:spcBef>
                <a:spcPts val="0"/>
              </a:spcBef>
              <a:spcAft>
                <a:spcPts val="400"/>
              </a:spcAft>
            </a:pPr>
            <a:r>
              <a:rPr sz="1130" b="0" i="0">
                <a:solidFill>
                  <a:srgbClr val="5A7480"/>
                </a:solidFill>
                <a:latin typeface="Calibri"/>
              </a:rPr>
              <a:t>CTV + internal motion (e.g. breathing). ICRU 62.</a:t>
            </a:r>
          </a:p>
        </p:txBody>
      </p:sp>
      <p:sp>
        <p:nvSpPr>
          <p:cNvPr id="19" name="TextBox 18"/>
          <p:cNvSpPr txBox="1"/>
          <p:nvPr/>
        </p:nvSpPr>
        <p:spPr>
          <a:xfrm>
            <a:off x="8650224" y="3063240"/>
            <a:ext cx="384048" cy="457200"/>
          </a:xfrm>
          <a:prstGeom prst="rect">
            <a:avLst/>
          </a:prstGeom>
          <a:noFill/>
        </p:spPr>
        <p:txBody>
          <a:bodyPr wrap="square" lIns="0" tIns="0" rIns="0" bIns="0" anchor="t">
            <a:noAutofit/>
          </a:bodyPr>
          <a:lstStyle/>
          <a:p>
            <a:pPr algn="l">
              <a:lnSpc>
                <a:spcPct val="118000"/>
              </a:lnSpc>
              <a:spcBef>
                <a:spcPts val="0"/>
              </a:spcBef>
              <a:spcAft>
                <a:spcPts val="400"/>
              </a:spcAft>
            </a:pPr>
            <a:r>
              <a:rPr sz="2000" b="1" i="0">
                <a:solidFill>
                  <a:srgbClr val="96AAB4"/>
                </a:solidFill>
                <a:latin typeface="Calibri"/>
              </a:rPr>
              <a:t>→</a:t>
            </a:r>
          </a:p>
        </p:txBody>
      </p:sp>
      <p:sp>
        <p:nvSpPr>
          <p:cNvPr id="20" name="Rounded Rectangle 19"/>
          <p:cNvSpPr/>
          <p:nvPr/>
        </p:nvSpPr>
        <p:spPr>
          <a:xfrm>
            <a:off x="8878824" y="2212848"/>
            <a:ext cx="2596896" cy="2286000"/>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878824" y="2432304"/>
            <a:ext cx="2596896" cy="640080"/>
          </a:xfrm>
          <a:prstGeom prst="rect">
            <a:avLst/>
          </a:prstGeom>
          <a:noFill/>
        </p:spPr>
        <p:txBody>
          <a:bodyPr wrap="square" lIns="0" tIns="0" rIns="0" bIns="0" anchor="t">
            <a:noAutofit/>
          </a:bodyPr>
          <a:lstStyle/>
          <a:p>
            <a:pPr algn="ctr">
              <a:lnSpc>
                <a:spcPct val="118000"/>
              </a:lnSpc>
              <a:spcBef>
                <a:spcPts val="0"/>
              </a:spcBef>
              <a:spcAft>
                <a:spcPts val="400"/>
              </a:spcAft>
            </a:pPr>
            <a:r>
              <a:rPr sz="2800" b="1" i="0" dirty="0">
                <a:solidFill>
                  <a:srgbClr val="FF0000"/>
                </a:solidFill>
                <a:latin typeface="Georgia"/>
              </a:rPr>
              <a:t>PTV</a:t>
            </a:r>
          </a:p>
        </p:txBody>
      </p:sp>
      <p:sp>
        <p:nvSpPr>
          <p:cNvPr id="22" name="TextBox 21"/>
          <p:cNvSpPr txBox="1"/>
          <p:nvPr/>
        </p:nvSpPr>
        <p:spPr>
          <a:xfrm>
            <a:off x="9061703" y="2980944"/>
            <a:ext cx="2249424" cy="548640"/>
          </a:xfrm>
          <a:prstGeom prst="rect">
            <a:avLst/>
          </a:prstGeom>
          <a:noFill/>
        </p:spPr>
        <p:txBody>
          <a:bodyPr wrap="square" lIns="0" tIns="0" rIns="0" bIns="0" anchor="t">
            <a:noAutofit/>
          </a:bodyPr>
          <a:lstStyle/>
          <a:p>
            <a:pPr algn="ctr">
              <a:lnSpc>
                <a:spcPct val="112000"/>
              </a:lnSpc>
              <a:spcBef>
                <a:spcPts val="0"/>
              </a:spcBef>
              <a:spcAft>
                <a:spcPts val="400"/>
              </a:spcAft>
            </a:pPr>
            <a:r>
              <a:rPr sz="1200" b="1" i="0">
                <a:solidFill>
                  <a:srgbClr val="14313C"/>
                </a:solidFill>
                <a:latin typeface="Calibri"/>
              </a:rPr>
              <a:t>Planning Target Volume</a:t>
            </a:r>
          </a:p>
        </p:txBody>
      </p:sp>
      <p:sp>
        <p:nvSpPr>
          <p:cNvPr id="23" name="TextBox 22"/>
          <p:cNvSpPr txBox="1"/>
          <p:nvPr/>
        </p:nvSpPr>
        <p:spPr>
          <a:xfrm>
            <a:off x="9079992" y="3493008"/>
            <a:ext cx="2212848" cy="914400"/>
          </a:xfrm>
          <a:prstGeom prst="rect">
            <a:avLst/>
          </a:prstGeom>
          <a:noFill/>
        </p:spPr>
        <p:txBody>
          <a:bodyPr wrap="square" lIns="0" tIns="0" rIns="0" bIns="0" anchor="t">
            <a:noAutofit/>
          </a:bodyPr>
          <a:lstStyle/>
          <a:p>
            <a:pPr algn="ctr">
              <a:lnSpc>
                <a:spcPct val="122000"/>
              </a:lnSpc>
              <a:spcBef>
                <a:spcPts val="0"/>
              </a:spcBef>
              <a:spcAft>
                <a:spcPts val="400"/>
              </a:spcAft>
            </a:pPr>
            <a:r>
              <a:rPr sz="1130" b="0" i="0">
                <a:solidFill>
                  <a:srgbClr val="5A7480"/>
                </a:solidFill>
                <a:latin typeface="Calibri"/>
              </a:rPr>
              <a:t>ITV/CTV + set-up uncertainty. A geometric safety margin.</a:t>
            </a:r>
          </a:p>
        </p:txBody>
      </p:sp>
      <p:sp>
        <p:nvSpPr>
          <p:cNvPr id="24" name="Rounded Rectangle 23"/>
          <p:cNvSpPr/>
          <p:nvPr/>
        </p:nvSpPr>
        <p:spPr>
          <a:xfrm>
            <a:off x="566928" y="4709160"/>
            <a:ext cx="11064240" cy="1481328"/>
          </a:xfrm>
          <a:prstGeom prst="roundRect">
            <a:avLst>
              <a:gd name="adj" fmla="val 4500"/>
            </a:avLst>
          </a:prstGeom>
          <a:solidFill>
            <a:srgbClr val="E2EFF4"/>
          </a:solidFill>
          <a:ln w="1524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1248" y="4882896"/>
            <a:ext cx="10515600" cy="365760"/>
          </a:xfrm>
          <a:prstGeom prst="rect">
            <a:avLst/>
          </a:prstGeom>
          <a:noFill/>
        </p:spPr>
        <p:txBody>
          <a:bodyPr wrap="square" lIns="0" tIns="0" rIns="0" bIns="0" anchor="t">
            <a:noAutofit/>
          </a:bodyPr>
          <a:lstStyle/>
          <a:p>
            <a:pPr algn="l">
              <a:lnSpc>
                <a:spcPct val="118000"/>
              </a:lnSpc>
              <a:spcBef>
                <a:spcPts val="0"/>
              </a:spcBef>
              <a:spcAft>
                <a:spcPts val="400"/>
              </a:spcAft>
            </a:pPr>
            <a:r>
              <a:rPr sz="1050" b="1" i="0" spc="160" dirty="0">
                <a:solidFill>
                  <a:schemeClr val="accent6"/>
                </a:solidFill>
                <a:latin typeface="Consolas"/>
              </a:rPr>
              <a:t>THE POINT THAT MATTERS FOR EVALUATION</a:t>
            </a:r>
          </a:p>
        </p:txBody>
      </p:sp>
      <p:sp>
        <p:nvSpPr>
          <p:cNvPr id="26" name="TextBox 25"/>
          <p:cNvSpPr txBox="1"/>
          <p:nvPr/>
        </p:nvSpPr>
        <p:spPr>
          <a:xfrm>
            <a:off x="841248" y="5230368"/>
            <a:ext cx="10607040" cy="868680"/>
          </a:xfrm>
          <a:prstGeom prst="rect">
            <a:avLst/>
          </a:prstGeom>
          <a:noFill/>
        </p:spPr>
        <p:txBody>
          <a:bodyPr wrap="square" lIns="0" tIns="0" rIns="0" bIns="0" anchor="t">
            <a:noAutofit/>
          </a:bodyPr>
          <a:lstStyle/>
          <a:p>
            <a:pPr algn="l">
              <a:lnSpc>
                <a:spcPct val="130000"/>
              </a:lnSpc>
              <a:spcBef>
                <a:spcPts val="0"/>
              </a:spcBef>
              <a:spcAft>
                <a:spcPts val="400"/>
              </a:spcAft>
            </a:pPr>
            <a:r>
              <a:rPr sz="1330" b="0" i="0">
                <a:solidFill>
                  <a:srgbClr val="5A7480"/>
                </a:solidFill>
                <a:latin typeface="Calibri"/>
              </a:rPr>
              <a:t>We prescribe to and evaluate dose on the </a:t>
            </a:r>
            <a:r>
              <a:rPr sz="1330" b="1" i="0">
                <a:solidFill>
                  <a:srgbClr val="14313C"/>
                </a:solidFill>
                <a:latin typeface="Calibri"/>
              </a:rPr>
              <a:t>PTV</a:t>
            </a:r>
            <a:r>
              <a:rPr sz="1330" b="0" i="0">
                <a:solidFill>
                  <a:srgbClr val="5A7480"/>
                </a:solidFill>
                <a:latin typeface="Calibri"/>
              </a:rPr>
              <a:t> — but the clinical aim is to cover the </a:t>
            </a:r>
            <a:r>
              <a:rPr sz="1330" b="1" i="0">
                <a:solidFill>
                  <a:srgbClr val="14313C"/>
                </a:solidFill>
                <a:latin typeface="Calibri"/>
              </a:rPr>
              <a:t>CTV</a:t>
            </a:r>
            <a:r>
              <a:rPr sz="1330" b="0" i="0">
                <a:solidFill>
                  <a:srgbClr val="5A7480"/>
                </a:solidFill>
                <a:latin typeface="Calibri"/>
              </a:rPr>
              <a:t>. The PTV is not tissue; it is a margin that protects the CTV against uncertainty. A small PTV-edge underdose may still leave the CTV fully covered.</a:t>
            </a:r>
          </a:p>
        </p:txBody>
      </p:sp>
      <p:sp>
        <p:nvSpPr>
          <p:cNvPr id="27" name="TextBox 26"/>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28" name="TextBox 27"/>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10 / 34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00A9E0"/>
                </a:solidFill>
                <a:latin typeface="Consolas"/>
              </a:rPr>
              <a:t>BLOCK 1 · TARGET COVERAGE</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dirty="0">
                <a:solidFill>
                  <a:srgbClr val="00A9E0"/>
                </a:solidFill>
                <a:latin typeface="Georgia"/>
              </a:rPr>
              <a:t>The DVH </a:t>
            </a:r>
            <a:r>
              <a:rPr lang="en-US" sz="2900" b="1" i="0" dirty="0">
                <a:solidFill>
                  <a:srgbClr val="00A9E0"/>
                </a:solidFill>
                <a:latin typeface="Georgia"/>
              </a:rPr>
              <a:t>-</a:t>
            </a:r>
            <a:r>
              <a:rPr sz="2900" b="1" i="0" dirty="0">
                <a:solidFill>
                  <a:srgbClr val="00A9E0"/>
                </a:solidFill>
                <a:latin typeface="Georgia"/>
              </a:rPr>
              <a:t> your primary instrument</a:t>
            </a:r>
          </a:p>
        </p:txBody>
      </p:sp>
      <p:pic>
        <p:nvPicPr>
          <p:cNvPr id="4" name="Picture 3" descr="a_dvh_anatomy.png"/>
          <p:cNvPicPr>
            <a:picLocks noChangeAspect="1"/>
          </p:cNvPicPr>
          <p:nvPr/>
        </p:nvPicPr>
        <p:blipFill>
          <a:blip r:embed="rId3"/>
          <a:stretch>
            <a:fillRect/>
          </a:stretch>
        </p:blipFill>
        <p:spPr>
          <a:xfrm>
            <a:off x="4736592" y="1627632"/>
            <a:ext cx="6903720" cy="3878494"/>
          </a:xfrm>
          <a:prstGeom prst="rect">
            <a:avLst/>
          </a:prstGeom>
        </p:spPr>
      </p:pic>
      <p:sp>
        <p:nvSpPr>
          <p:cNvPr id="5" name="TextBox 4"/>
          <p:cNvSpPr txBox="1"/>
          <p:nvPr/>
        </p:nvSpPr>
        <p:spPr>
          <a:xfrm>
            <a:off x="566928" y="1737360"/>
            <a:ext cx="3931920" cy="548640"/>
          </a:xfrm>
          <a:prstGeom prst="rect">
            <a:avLst/>
          </a:prstGeom>
          <a:noFill/>
        </p:spPr>
        <p:txBody>
          <a:bodyPr wrap="square" lIns="0" tIns="0" rIns="0" bIns="0" anchor="t">
            <a:noAutofit/>
          </a:bodyPr>
          <a:lstStyle/>
          <a:p>
            <a:pPr algn="l">
              <a:lnSpc>
                <a:spcPct val="130000"/>
              </a:lnSpc>
              <a:spcBef>
                <a:spcPts val="0"/>
              </a:spcBef>
              <a:spcAft>
                <a:spcPts val="400"/>
              </a:spcAft>
            </a:pPr>
            <a:r>
              <a:rPr sz="1320" b="0" i="0">
                <a:solidFill>
                  <a:srgbClr val="5A7480"/>
                </a:solidFill>
                <a:latin typeface="Calibri"/>
              </a:rPr>
              <a:t>The cumulative dose–volume histogram collapses a 3-D dose distribution into one readable curve.</a:t>
            </a:r>
          </a:p>
        </p:txBody>
      </p:sp>
      <p:sp>
        <p:nvSpPr>
          <p:cNvPr id="6" name="TextBox 5"/>
          <p:cNvSpPr txBox="1"/>
          <p:nvPr/>
        </p:nvSpPr>
        <p:spPr>
          <a:xfrm>
            <a:off x="566928" y="2697480"/>
            <a:ext cx="3977639" cy="4572000"/>
          </a:xfrm>
          <a:prstGeom prst="rect">
            <a:avLst/>
          </a:prstGeom>
          <a:noFill/>
        </p:spPr>
        <p:txBody>
          <a:bodyPr wrap="square" lIns="0" tIns="0" rIns="0" bIns="0" anchor="t">
            <a:noAutofit/>
          </a:bodyPr>
          <a:lstStyle/>
          <a:p>
            <a:pPr algn="l">
              <a:lnSpc>
                <a:spcPct val="122000"/>
              </a:lnSpc>
              <a:spcBef>
                <a:spcPts val="0"/>
              </a:spcBef>
              <a:spcAft>
                <a:spcPts val="828"/>
              </a:spcAft>
            </a:pPr>
            <a:r>
              <a:rPr sz="1280" b="1" i="0">
                <a:solidFill>
                  <a:srgbClr val="00A9E0"/>
                </a:solidFill>
                <a:latin typeface="Calibri"/>
              </a:rPr>
              <a:t>▸  </a:t>
            </a:r>
            <a:r>
              <a:rPr sz="1280" b="1" i="0">
                <a:solidFill>
                  <a:srgbClr val="14313C"/>
                </a:solidFill>
                <a:latin typeface="Calibri"/>
              </a:rPr>
              <a:t>Every point answers </a:t>
            </a:r>
            <a:r>
              <a:rPr sz="1280" b="0" i="0">
                <a:solidFill>
                  <a:srgbClr val="5A7480"/>
                </a:solidFill>
                <a:latin typeface="Calibri"/>
              </a:rPr>
              <a:t>one question: what volume gets at least this dose?</a:t>
            </a:r>
          </a:p>
          <a:p>
            <a:pPr algn="l">
              <a:lnSpc>
                <a:spcPct val="122000"/>
              </a:lnSpc>
              <a:spcBef>
                <a:spcPts val="0"/>
              </a:spcBef>
              <a:spcAft>
                <a:spcPts val="828"/>
              </a:spcAft>
            </a:pPr>
            <a:r>
              <a:rPr sz="1280" b="1" i="0">
                <a:solidFill>
                  <a:srgbClr val="00A9E0"/>
                </a:solidFill>
                <a:latin typeface="Calibri"/>
              </a:rPr>
              <a:t>▸  </a:t>
            </a:r>
            <a:r>
              <a:rPr sz="1280" b="1" i="0">
                <a:solidFill>
                  <a:srgbClr val="14313C"/>
                </a:solidFill>
                <a:latin typeface="Calibri"/>
              </a:rPr>
              <a:t>Read up </a:t>
            </a:r>
            <a:r>
              <a:rPr sz="1280" b="0" i="0">
                <a:solidFill>
                  <a:srgbClr val="5A7480"/>
                </a:solidFill>
                <a:latin typeface="Calibri"/>
              </a:rPr>
              <a:t>from a dose → a V-metric</a:t>
            </a:r>
          </a:p>
          <a:p>
            <a:pPr algn="l">
              <a:lnSpc>
                <a:spcPct val="122000"/>
              </a:lnSpc>
              <a:spcBef>
                <a:spcPts val="0"/>
              </a:spcBef>
              <a:spcAft>
                <a:spcPts val="828"/>
              </a:spcAft>
            </a:pPr>
            <a:r>
              <a:rPr sz="1280" b="1" i="0">
                <a:solidFill>
                  <a:srgbClr val="00A9E0"/>
                </a:solidFill>
                <a:latin typeface="Calibri"/>
              </a:rPr>
              <a:t>▸  </a:t>
            </a:r>
            <a:r>
              <a:rPr sz="1280" b="1" i="0">
                <a:solidFill>
                  <a:srgbClr val="14313C"/>
                </a:solidFill>
                <a:latin typeface="Calibri"/>
              </a:rPr>
              <a:t>Read across </a:t>
            </a:r>
            <a:r>
              <a:rPr sz="1280" b="0" i="0">
                <a:solidFill>
                  <a:srgbClr val="5A7480"/>
                </a:solidFill>
                <a:latin typeface="Calibri"/>
              </a:rPr>
              <a:t>from a volume → a D-metric</a:t>
            </a:r>
          </a:p>
          <a:p>
            <a:pPr algn="l">
              <a:lnSpc>
                <a:spcPct val="122000"/>
              </a:lnSpc>
              <a:spcBef>
                <a:spcPts val="0"/>
              </a:spcBef>
              <a:spcAft>
                <a:spcPts val="828"/>
              </a:spcAft>
            </a:pPr>
            <a:r>
              <a:rPr sz="1280" b="1" i="0">
                <a:solidFill>
                  <a:srgbClr val="00A9E0"/>
                </a:solidFill>
                <a:latin typeface="Calibri"/>
              </a:rPr>
              <a:t>▸  </a:t>
            </a:r>
            <a:r>
              <a:rPr sz="1280" b="1" i="0">
                <a:solidFill>
                  <a:srgbClr val="14313C"/>
                </a:solidFill>
                <a:latin typeface="Calibri"/>
              </a:rPr>
              <a:t>Steep target curve </a:t>
            </a:r>
            <a:r>
              <a:rPr sz="1280" b="0" i="0">
                <a:solidFill>
                  <a:srgbClr val="5A7480"/>
                </a:solidFill>
                <a:latin typeface="Calibri"/>
              </a:rPr>
              <a:t>= homogeneous full-dose coverage</a:t>
            </a:r>
          </a:p>
          <a:p>
            <a:pPr algn="l">
              <a:lnSpc>
                <a:spcPct val="122000"/>
              </a:lnSpc>
              <a:spcBef>
                <a:spcPts val="0"/>
              </a:spcBef>
              <a:spcAft>
                <a:spcPts val="828"/>
              </a:spcAft>
            </a:pPr>
            <a:r>
              <a:rPr sz="1280" b="1" i="0">
                <a:solidFill>
                  <a:srgbClr val="00A9E0"/>
                </a:solidFill>
                <a:latin typeface="Calibri"/>
              </a:rPr>
              <a:t>▸  </a:t>
            </a:r>
            <a:r>
              <a:rPr sz="1280" b="1" i="0">
                <a:solidFill>
                  <a:srgbClr val="14313C"/>
                </a:solidFill>
                <a:latin typeface="Calibri"/>
              </a:rPr>
              <a:t>OAR curve hugging the origin </a:t>
            </a:r>
            <a:r>
              <a:rPr sz="1280" b="0" i="0">
                <a:solidFill>
                  <a:srgbClr val="5A7480"/>
                </a:solidFill>
                <a:latin typeface="Calibri"/>
              </a:rPr>
              <a:t>= good sparing</a:t>
            </a:r>
          </a:p>
        </p:txBody>
      </p:sp>
      <p:sp>
        <p:nvSpPr>
          <p:cNvPr id="7" name="Rounded Rectangle 6"/>
          <p:cNvSpPr/>
          <p:nvPr/>
        </p:nvSpPr>
        <p:spPr>
          <a:xfrm>
            <a:off x="566928" y="5349240"/>
            <a:ext cx="3977639" cy="914400"/>
          </a:xfrm>
          <a:prstGeom prst="roundRect">
            <a:avLst>
              <a:gd name="adj" fmla="val 4500"/>
            </a:avLst>
          </a:prstGeom>
          <a:solidFill>
            <a:srgbClr val="E2EFF4"/>
          </a:solidFill>
          <a:ln w="15240">
            <a:solidFill>
              <a:srgbClr val="DA3B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6384" y="5486400"/>
            <a:ext cx="3611880" cy="731520"/>
          </a:xfrm>
          <a:prstGeom prst="rect">
            <a:avLst/>
          </a:prstGeom>
          <a:noFill/>
        </p:spPr>
        <p:txBody>
          <a:bodyPr wrap="square" lIns="0" tIns="0" rIns="0" bIns="0" anchor="t">
            <a:noAutofit/>
          </a:bodyPr>
          <a:lstStyle/>
          <a:p>
            <a:pPr algn="l">
              <a:lnSpc>
                <a:spcPct val="126000"/>
              </a:lnSpc>
              <a:spcBef>
                <a:spcPts val="0"/>
              </a:spcBef>
              <a:spcAft>
                <a:spcPts val="400"/>
              </a:spcAft>
            </a:pPr>
            <a:r>
              <a:rPr sz="1170" b="1" i="0">
                <a:solidFill>
                  <a:srgbClr val="DA3B40"/>
                </a:solidFill>
                <a:latin typeface="Calibri"/>
              </a:rPr>
              <a:t>Limitation:  </a:t>
            </a:r>
            <a:r>
              <a:rPr sz="1170" b="0" i="0">
                <a:solidFill>
                  <a:srgbClr val="5A7480"/>
                </a:solidFill>
                <a:latin typeface="Calibri"/>
              </a:rPr>
              <a:t>a DVH has no spatial information. It never tells you WHERE.</a:t>
            </a:r>
          </a:p>
        </p:txBody>
      </p:sp>
      <p:sp>
        <p:nvSpPr>
          <p:cNvPr id="9" name="TextBox 8"/>
          <p:cNvSpPr txBox="1"/>
          <p:nvPr/>
        </p:nvSpPr>
        <p:spPr>
          <a:xfrm>
            <a:off x="4736592" y="5579278"/>
            <a:ext cx="6903720" cy="320040"/>
          </a:xfrm>
          <a:prstGeom prst="rect">
            <a:avLst/>
          </a:prstGeom>
          <a:noFill/>
        </p:spPr>
        <p:txBody>
          <a:bodyPr wrap="square" lIns="0" tIns="0" rIns="0" bIns="0" anchor="t">
            <a:noAutofit/>
          </a:bodyPr>
          <a:lstStyle/>
          <a:p>
            <a:pPr algn="ctr">
              <a:lnSpc>
                <a:spcPct val="118000"/>
              </a:lnSpc>
              <a:spcBef>
                <a:spcPts val="0"/>
              </a:spcBef>
              <a:spcAft>
                <a:spcPts val="400"/>
              </a:spcAft>
            </a:pPr>
            <a:r>
              <a:rPr sz="1000" b="0" i="1">
                <a:solidFill>
                  <a:srgbClr val="96AAB4"/>
                </a:solidFill>
                <a:latin typeface="Calibri"/>
              </a:rPr>
              <a:t>Cumulative DVH — target (blue) and an organ at risk (green)</a:t>
            </a:r>
          </a:p>
        </p:txBody>
      </p:sp>
      <p:sp>
        <p:nvSpPr>
          <p:cNvPr id="10" name="TextBox 9"/>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11" name="TextBox 10"/>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09 / 34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00A9E0"/>
                </a:solidFill>
                <a:latin typeface="Consolas"/>
              </a:rPr>
              <a:t>BLOCK 1 · TARGET COVERAGE</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dirty="0">
                <a:solidFill>
                  <a:srgbClr val="00A9E0"/>
                </a:solidFill>
                <a:latin typeface="Georgia"/>
              </a:rPr>
              <a:t>Coverage metrics </a:t>
            </a:r>
            <a:r>
              <a:rPr lang="en-US" sz="2900" b="1" i="0" dirty="0">
                <a:solidFill>
                  <a:srgbClr val="00A9E0"/>
                </a:solidFill>
                <a:latin typeface="Georgia"/>
              </a:rPr>
              <a:t>-</a:t>
            </a:r>
            <a:r>
              <a:rPr sz="2900" b="1" i="0" dirty="0">
                <a:solidFill>
                  <a:srgbClr val="00A9E0"/>
                </a:solidFill>
                <a:latin typeface="Georgia"/>
              </a:rPr>
              <a:t> the numbers that matter</a:t>
            </a:r>
          </a:p>
        </p:txBody>
      </p:sp>
      <p:sp>
        <p:nvSpPr>
          <p:cNvPr id="4" name="Rounded Rectangle 3"/>
          <p:cNvSpPr/>
          <p:nvPr/>
        </p:nvSpPr>
        <p:spPr>
          <a:xfrm>
            <a:off x="566928" y="1783080"/>
            <a:ext cx="5458968" cy="2194560"/>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1783080"/>
            <a:ext cx="64008" cy="2194560"/>
          </a:xfrm>
          <a:prstGeom prst="rect">
            <a:avLst/>
          </a:prstGeom>
          <a:solidFill>
            <a:srgbClr val="00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975104"/>
            <a:ext cx="2743200" cy="640080"/>
          </a:xfrm>
          <a:prstGeom prst="rect">
            <a:avLst/>
          </a:prstGeom>
          <a:noFill/>
        </p:spPr>
        <p:txBody>
          <a:bodyPr wrap="square" lIns="0" tIns="0" rIns="0" bIns="0" anchor="t">
            <a:noAutofit/>
          </a:bodyPr>
          <a:lstStyle/>
          <a:p>
            <a:pPr algn="l">
              <a:lnSpc>
                <a:spcPct val="118000"/>
              </a:lnSpc>
              <a:spcBef>
                <a:spcPts val="0"/>
              </a:spcBef>
              <a:spcAft>
                <a:spcPts val="400"/>
              </a:spcAft>
            </a:pPr>
            <a:r>
              <a:rPr sz="3000" b="1" i="0" dirty="0">
                <a:solidFill>
                  <a:srgbClr val="002060"/>
                </a:solidFill>
                <a:latin typeface="Georgia"/>
              </a:rPr>
              <a:t>V95%</a:t>
            </a:r>
          </a:p>
        </p:txBody>
      </p:sp>
      <p:sp>
        <p:nvSpPr>
          <p:cNvPr id="7" name="TextBox 6"/>
          <p:cNvSpPr txBox="1"/>
          <p:nvPr/>
        </p:nvSpPr>
        <p:spPr>
          <a:xfrm>
            <a:off x="896112" y="2615184"/>
            <a:ext cx="4846320" cy="640080"/>
          </a:xfrm>
          <a:prstGeom prst="rect">
            <a:avLst/>
          </a:prstGeom>
          <a:noFill/>
        </p:spPr>
        <p:txBody>
          <a:bodyPr wrap="square" lIns="0" tIns="0" rIns="0" bIns="0" anchor="t">
            <a:noAutofit/>
          </a:bodyPr>
          <a:lstStyle/>
          <a:p>
            <a:pPr algn="l">
              <a:lnSpc>
                <a:spcPct val="126000"/>
              </a:lnSpc>
              <a:spcBef>
                <a:spcPts val="0"/>
              </a:spcBef>
              <a:spcAft>
                <a:spcPts val="400"/>
              </a:spcAft>
            </a:pPr>
            <a:r>
              <a:rPr sz="1280" b="0" i="0">
                <a:solidFill>
                  <a:srgbClr val="14313C"/>
                </a:solidFill>
                <a:latin typeface="Calibri"/>
              </a:rPr>
              <a:t>Volume of the PTV receiving ≥ 95% of the prescribed dose.</a:t>
            </a:r>
          </a:p>
        </p:txBody>
      </p:sp>
      <p:sp>
        <p:nvSpPr>
          <p:cNvPr id="8" name="TextBox 7"/>
          <p:cNvSpPr txBox="1"/>
          <p:nvPr/>
        </p:nvSpPr>
        <p:spPr>
          <a:xfrm>
            <a:off x="896112" y="3246120"/>
            <a:ext cx="4892040" cy="640080"/>
          </a:xfrm>
          <a:prstGeom prst="rect">
            <a:avLst/>
          </a:prstGeom>
          <a:noFill/>
        </p:spPr>
        <p:txBody>
          <a:bodyPr wrap="square" lIns="0" tIns="0" rIns="0" bIns="0" anchor="t">
            <a:noAutofit/>
          </a:bodyPr>
          <a:lstStyle/>
          <a:p>
            <a:pPr algn="l">
              <a:lnSpc>
                <a:spcPct val="126000"/>
              </a:lnSpc>
              <a:spcBef>
                <a:spcPts val="0"/>
              </a:spcBef>
              <a:spcAft>
                <a:spcPts val="400"/>
              </a:spcAft>
            </a:pPr>
            <a:r>
              <a:rPr sz="1170" b="0" i="0">
                <a:solidFill>
                  <a:srgbClr val="5A7480"/>
                </a:solidFill>
                <a:latin typeface="Calibri"/>
              </a:rPr>
              <a:t>Standard aim:  V95 ≥ 95% of the PTV.  Some protocols want ≥ 98% for the GTV.</a:t>
            </a:r>
          </a:p>
        </p:txBody>
      </p:sp>
      <p:sp>
        <p:nvSpPr>
          <p:cNvPr id="9" name="Rounded Rectangle 8"/>
          <p:cNvSpPr/>
          <p:nvPr/>
        </p:nvSpPr>
        <p:spPr>
          <a:xfrm>
            <a:off x="6172200" y="1783080"/>
            <a:ext cx="5458968" cy="2194560"/>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72200" y="1783080"/>
            <a:ext cx="64008" cy="2194560"/>
          </a:xfrm>
          <a:prstGeom prst="rect">
            <a:avLst/>
          </a:prstGeom>
          <a:solidFill>
            <a:srgbClr val="DA3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01384" y="1975104"/>
            <a:ext cx="2743200" cy="640080"/>
          </a:xfrm>
          <a:prstGeom prst="rect">
            <a:avLst/>
          </a:prstGeom>
          <a:noFill/>
        </p:spPr>
        <p:txBody>
          <a:bodyPr wrap="square" lIns="0" tIns="0" rIns="0" bIns="0" anchor="t">
            <a:noAutofit/>
          </a:bodyPr>
          <a:lstStyle/>
          <a:p>
            <a:pPr algn="l">
              <a:lnSpc>
                <a:spcPct val="118000"/>
              </a:lnSpc>
              <a:spcBef>
                <a:spcPts val="0"/>
              </a:spcBef>
              <a:spcAft>
                <a:spcPts val="400"/>
              </a:spcAft>
            </a:pPr>
            <a:r>
              <a:rPr sz="3000" b="1" i="0">
                <a:solidFill>
                  <a:srgbClr val="DA3B40"/>
                </a:solidFill>
                <a:latin typeface="Georgia"/>
              </a:rPr>
              <a:t>V107%</a:t>
            </a:r>
          </a:p>
        </p:txBody>
      </p:sp>
      <p:sp>
        <p:nvSpPr>
          <p:cNvPr id="12" name="TextBox 11"/>
          <p:cNvSpPr txBox="1"/>
          <p:nvPr/>
        </p:nvSpPr>
        <p:spPr>
          <a:xfrm>
            <a:off x="6501384" y="2615184"/>
            <a:ext cx="4846320" cy="640080"/>
          </a:xfrm>
          <a:prstGeom prst="rect">
            <a:avLst/>
          </a:prstGeom>
          <a:noFill/>
        </p:spPr>
        <p:txBody>
          <a:bodyPr wrap="square" lIns="0" tIns="0" rIns="0" bIns="0" anchor="t">
            <a:noAutofit/>
          </a:bodyPr>
          <a:lstStyle/>
          <a:p>
            <a:pPr algn="l">
              <a:lnSpc>
                <a:spcPct val="126000"/>
              </a:lnSpc>
              <a:spcBef>
                <a:spcPts val="0"/>
              </a:spcBef>
              <a:spcAft>
                <a:spcPts val="400"/>
              </a:spcAft>
            </a:pPr>
            <a:r>
              <a:rPr sz="1280" b="0" i="0">
                <a:solidFill>
                  <a:srgbClr val="14313C"/>
                </a:solidFill>
                <a:latin typeface="Calibri"/>
              </a:rPr>
              <a:t>Volume receiving ≥ 107% — the high-dose / hot-spot volume.</a:t>
            </a:r>
          </a:p>
        </p:txBody>
      </p:sp>
      <p:sp>
        <p:nvSpPr>
          <p:cNvPr id="13" name="TextBox 12"/>
          <p:cNvSpPr txBox="1"/>
          <p:nvPr/>
        </p:nvSpPr>
        <p:spPr>
          <a:xfrm>
            <a:off x="6501384" y="3246120"/>
            <a:ext cx="4892040" cy="640080"/>
          </a:xfrm>
          <a:prstGeom prst="rect">
            <a:avLst/>
          </a:prstGeom>
          <a:noFill/>
        </p:spPr>
        <p:txBody>
          <a:bodyPr wrap="square" lIns="0" tIns="0" rIns="0" bIns="0" anchor="t">
            <a:noAutofit/>
          </a:bodyPr>
          <a:lstStyle/>
          <a:p>
            <a:pPr algn="l">
              <a:lnSpc>
                <a:spcPct val="126000"/>
              </a:lnSpc>
              <a:spcBef>
                <a:spcPts val="0"/>
              </a:spcBef>
              <a:spcAft>
                <a:spcPts val="400"/>
              </a:spcAft>
            </a:pPr>
            <a:r>
              <a:rPr sz="1170" b="0" i="0" dirty="0">
                <a:solidFill>
                  <a:srgbClr val="5A7480"/>
                </a:solidFill>
                <a:latin typeface="Calibri"/>
              </a:rPr>
              <a:t>ICRU 83: keep small </a:t>
            </a:r>
            <a:r>
              <a:rPr lang="en-US" sz="1170" b="0" i="0" dirty="0">
                <a:solidFill>
                  <a:srgbClr val="5A7480"/>
                </a:solidFill>
                <a:latin typeface="Calibri"/>
              </a:rPr>
              <a:t>-</a:t>
            </a:r>
            <a:r>
              <a:rPr sz="1170" b="0" i="0" dirty="0">
                <a:solidFill>
                  <a:srgbClr val="5A7480"/>
                </a:solidFill>
                <a:latin typeface="Calibri"/>
              </a:rPr>
              <a:t> workshop target &lt; 2% of PTV, and ideally inside the target.</a:t>
            </a:r>
          </a:p>
        </p:txBody>
      </p:sp>
      <p:sp>
        <p:nvSpPr>
          <p:cNvPr id="14" name="Rounded Rectangle 13"/>
          <p:cNvSpPr/>
          <p:nvPr/>
        </p:nvSpPr>
        <p:spPr>
          <a:xfrm>
            <a:off x="566928" y="4224528"/>
            <a:ext cx="11064240" cy="2011680"/>
          </a:xfrm>
          <a:prstGeom prst="roundRect">
            <a:avLst>
              <a:gd name="adj" fmla="val 4500"/>
            </a:avLst>
          </a:prstGeom>
          <a:solidFill>
            <a:srgbClr val="E2EFF4"/>
          </a:solidFill>
          <a:ln w="15240">
            <a:solidFill>
              <a:srgbClr val="00A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 y="4407408"/>
            <a:ext cx="10515600" cy="365760"/>
          </a:xfrm>
          <a:prstGeom prst="rect">
            <a:avLst/>
          </a:prstGeom>
          <a:noFill/>
        </p:spPr>
        <p:txBody>
          <a:bodyPr wrap="square" lIns="0" tIns="0" rIns="0" bIns="0" anchor="t">
            <a:noAutofit/>
          </a:bodyPr>
          <a:lstStyle/>
          <a:p>
            <a:pPr algn="l">
              <a:lnSpc>
                <a:spcPct val="118000"/>
              </a:lnSpc>
              <a:spcBef>
                <a:spcPts val="0"/>
              </a:spcBef>
              <a:spcAft>
                <a:spcPts val="400"/>
              </a:spcAft>
            </a:pPr>
            <a:r>
              <a:rPr sz="1050" b="1" i="0" spc="160">
                <a:solidFill>
                  <a:srgbClr val="00A9E0"/>
                </a:solidFill>
                <a:latin typeface="Consolas"/>
              </a:rPr>
              <a:t>THE MODERN WAY TO STATE COVERAGE  —  ICRU 83</a:t>
            </a:r>
          </a:p>
        </p:txBody>
      </p:sp>
      <p:sp>
        <p:nvSpPr>
          <p:cNvPr id="16" name="TextBox 15"/>
          <p:cNvSpPr txBox="1"/>
          <p:nvPr/>
        </p:nvSpPr>
        <p:spPr>
          <a:xfrm>
            <a:off x="841248" y="4773168"/>
            <a:ext cx="10698480" cy="1371600"/>
          </a:xfrm>
          <a:prstGeom prst="rect">
            <a:avLst/>
          </a:prstGeom>
          <a:noFill/>
        </p:spPr>
        <p:txBody>
          <a:bodyPr wrap="square" lIns="0" tIns="0" rIns="0" bIns="0" anchor="t">
            <a:noAutofit/>
          </a:bodyPr>
          <a:lstStyle/>
          <a:p>
            <a:pPr algn="l">
              <a:lnSpc>
                <a:spcPct val="134000"/>
              </a:lnSpc>
              <a:spcBef>
                <a:spcPts val="0"/>
              </a:spcBef>
              <a:spcAft>
                <a:spcPts val="400"/>
              </a:spcAft>
            </a:pPr>
            <a:r>
              <a:rPr sz="1320" b="0" i="0">
                <a:solidFill>
                  <a:srgbClr val="5A7480"/>
                </a:solidFill>
                <a:latin typeface="Calibri"/>
              </a:rPr>
              <a:t>ICRU 83 prefers dose-at-a-volume (</a:t>
            </a:r>
            <a:r>
              <a:rPr sz="1320" b="1" i="0">
                <a:solidFill>
                  <a:srgbClr val="14313C"/>
                </a:solidFill>
                <a:latin typeface="Calibri"/>
              </a:rPr>
              <a:t>D95% </a:t>
            </a:r>
            <a:r>
              <a:rPr sz="1320" b="0" i="0">
                <a:solidFill>
                  <a:srgbClr val="5A7480"/>
                </a:solidFill>
                <a:latin typeface="Calibri"/>
              </a:rPr>
              <a:t>— the dose covering 95% of the PTV) over volume-at-a-dose. Both are in daily use; what matters is that you state </a:t>
            </a:r>
            <a:r>
              <a:rPr sz="1320" b="1" i="1">
                <a:solidFill>
                  <a:srgbClr val="14313C"/>
                </a:solidFill>
                <a:latin typeface="Calibri"/>
              </a:rPr>
              <a:t>which</a:t>
            </a:r>
            <a:r>
              <a:rPr sz="1320" b="0" i="0">
                <a:solidFill>
                  <a:srgbClr val="5A7480"/>
                </a:solidFill>
                <a:latin typeface="Calibri"/>
              </a:rPr>
              <a:t> volume and </a:t>
            </a:r>
            <a:r>
              <a:rPr sz="1320" b="1" i="1">
                <a:solidFill>
                  <a:srgbClr val="14313C"/>
                </a:solidFill>
                <a:latin typeface="Calibri"/>
              </a:rPr>
              <a:t>which</a:t>
            </a:r>
            <a:r>
              <a:rPr sz="1320" b="0" i="0">
                <a:solidFill>
                  <a:srgbClr val="5A7480"/>
                </a:solidFill>
                <a:latin typeface="Calibri"/>
              </a:rPr>
              <a:t> dose level. “V95” is meaningless until you say V95 of the PTV at the 95% isodose.</a:t>
            </a:r>
          </a:p>
        </p:txBody>
      </p:sp>
      <p:sp>
        <p:nvSpPr>
          <p:cNvPr id="17" name="TextBox 16"/>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18" name="TextBox 17"/>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10 / 34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00A9E0"/>
                </a:solidFill>
                <a:latin typeface="Consolas"/>
              </a:rPr>
              <a:t>BLOCK 1 · TARGET COVERAGE</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a:solidFill>
                  <a:srgbClr val="00A9E0"/>
                </a:solidFill>
                <a:latin typeface="Georgia"/>
              </a:rPr>
              <a:t>D98 / D2 / D50 — why point doses retired</a:t>
            </a:r>
          </a:p>
        </p:txBody>
      </p:sp>
      <p:sp>
        <p:nvSpPr>
          <p:cNvPr id="4" name="Rounded Rectangle 3"/>
          <p:cNvSpPr/>
          <p:nvPr/>
        </p:nvSpPr>
        <p:spPr>
          <a:xfrm>
            <a:off x="566928" y="1783080"/>
            <a:ext cx="3584448" cy="2121408"/>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975104"/>
            <a:ext cx="3017520" cy="640080"/>
          </a:xfrm>
          <a:prstGeom prst="rect">
            <a:avLst/>
          </a:prstGeom>
          <a:noFill/>
        </p:spPr>
        <p:txBody>
          <a:bodyPr wrap="square" lIns="0" tIns="0" rIns="0" bIns="0" anchor="t">
            <a:noAutofit/>
          </a:bodyPr>
          <a:lstStyle/>
          <a:p>
            <a:pPr algn="l">
              <a:lnSpc>
                <a:spcPct val="118000"/>
              </a:lnSpc>
              <a:spcBef>
                <a:spcPts val="0"/>
              </a:spcBef>
              <a:spcAft>
                <a:spcPts val="400"/>
              </a:spcAft>
            </a:pPr>
            <a:r>
              <a:rPr sz="2700" b="1" i="0" dirty="0">
                <a:solidFill>
                  <a:srgbClr val="1FA85C"/>
                </a:solidFill>
                <a:latin typeface="Georgia"/>
              </a:rPr>
              <a:t>D98%</a:t>
            </a:r>
          </a:p>
        </p:txBody>
      </p:sp>
      <p:sp>
        <p:nvSpPr>
          <p:cNvPr id="6" name="TextBox 5"/>
          <p:cNvSpPr txBox="1"/>
          <p:nvPr/>
        </p:nvSpPr>
        <p:spPr>
          <a:xfrm>
            <a:off x="859536" y="2542032"/>
            <a:ext cx="3108960" cy="365760"/>
          </a:xfrm>
          <a:prstGeom prst="rect">
            <a:avLst/>
          </a:prstGeom>
          <a:noFill/>
        </p:spPr>
        <p:txBody>
          <a:bodyPr wrap="square" lIns="0" tIns="0" rIns="0" bIns="0" anchor="t">
            <a:noAutofit/>
          </a:bodyPr>
          <a:lstStyle/>
          <a:p>
            <a:pPr algn="l">
              <a:lnSpc>
                <a:spcPct val="118000"/>
              </a:lnSpc>
              <a:spcBef>
                <a:spcPts val="0"/>
              </a:spcBef>
              <a:spcAft>
                <a:spcPts val="400"/>
              </a:spcAft>
            </a:pPr>
            <a:r>
              <a:rPr sz="1000" b="1" i="0" spc="140">
                <a:solidFill>
                  <a:srgbClr val="5A7480"/>
                </a:solidFill>
                <a:latin typeface="Consolas"/>
              </a:rPr>
              <a:t>NEAR-MINIMUM</a:t>
            </a:r>
          </a:p>
        </p:txBody>
      </p:sp>
      <p:sp>
        <p:nvSpPr>
          <p:cNvPr id="7" name="TextBox 6"/>
          <p:cNvSpPr txBox="1"/>
          <p:nvPr/>
        </p:nvSpPr>
        <p:spPr>
          <a:xfrm>
            <a:off x="859536" y="2871216"/>
            <a:ext cx="3108960" cy="914400"/>
          </a:xfrm>
          <a:prstGeom prst="rect">
            <a:avLst/>
          </a:prstGeom>
          <a:noFill/>
        </p:spPr>
        <p:txBody>
          <a:bodyPr wrap="square" lIns="0" tIns="0" rIns="0" bIns="0" anchor="t">
            <a:noAutofit/>
          </a:bodyPr>
          <a:lstStyle/>
          <a:p>
            <a:pPr algn="l">
              <a:lnSpc>
                <a:spcPct val="128000"/>
              </a:lnSpc>
              <a:spcBef>
                <a:spcPts val="0"/>
              </a:spcBef>
              <a:spcAft>
                <a:spcPts val="400"/>
              </a:spcAft>
            </a:pPr>
            <a:r>
              <a:rPr sz="1200" b="0" i="0">
                <a:solidFill>
                  <a:srgbClr val="5A7480"/>
                </a:solidFill>
                <a:latin typeface="Calibri"/>
              </a:rPr>
              <a:t>Dose received by 98% of the volume. The robust stand-in for Dmin.</a:t>
            </a:r>
          </a:p>
        </p:txBody>
      </p:sp>
      <p:sp>
        <p:nvSpPr>
          <p:cNvPr id="8" name="Rounded Rectangle 7"/>
          <p:cNvSpPr/>
          <p:nvPr/>
        </p:nvSpPr>
        <p:spPr>
          <a:xfrm>
            <a:off x="4306824" y="1783080"/>
            <a:ext cx="3584448" cy="2121408"/>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99432" y="1975104"/>
            <a:ext cx="3017520" cy="640080"/>
          </a:xfrm>
          <a:prstGeom prst="rect">
            <a:avLst/>
          </a:prstGeom>
          <a:noFill/>
        </p:spPr>
        <p:txBody>
          <a:bodyPr wrap="square" lIns="0" tIns="0" rIns="0" bIns="0" anchor="t">
            <a:noAutofit/>
          </a:bodyPr>
          <a:lstStyle/>
          <a:p>
            <a:pPr algn="l">
              <a:lnSpc>
                <a:spcPct val="118000"/>
              </a:lnSpc>
              <a:spcBef>
                <a:spcPts val="0"/>
              </a:spcBef>
              <a:spcAft>
                <a:spcPts val="400"/>
              </a:spcAft>
            </a:pPr>
            <a:r>
              <a:rPr sz="2700" b="1" i="0">
                <a:solidFill>
                  <a:srgbClr val="DA3B40"/>
                </a:solidFill>
                <a:latin typeface="Georgia"/>
              </a:rPr>
              <a:t>D2%</a:t>
            </a:r>
          </a:p>
        </p:txBody>
      </p:sp>
      <p:sp>
        <p:nvSpPr>
          <p:cNvPr id="10" name="TextBox 9"/>
          <p:cNvSpPr txBox="1"/>
          <p:nvPr/>
        </p:nvSpPr>
        <p:spPr>
          <a:xfrm>
            <a:off x="4599432" y="2542032"/>
            <a:ext cx="3108960" cy="365760"/>
          </a:xfrm>
          <a:prstGeom prst="rect">
            <a:avLst/>
          </a:prstGeom>
          <a:noFill/>
        </p:spPr>
        <p:txBody>
          <a:bodyPr wrap="square" lIns="0" tIns="0" rIns="0" bIns="0" anchor="t">
            <a:noAutofit/>
          </a:bodyPr>
          <a:lstStyle/>
          <a:p>
            <a:pPr algn="l">
              <a:lnSpc>
                <a:spcPct val="118000"/>
              </a:lnSpc>
              <a:spcBef>
                <a:spcPts val="0"/>
              </a:spcBef>
              <a:spcAft>
                <a:spcPts val="400"/>
              </a:spcAft>
            </a:pPr>
            <a:r>
              <a:rPr sz="1000" b="1" i="0" spc="140">
                <a:solidFill>
                  <a:srgbClr val="5A7480"/>
                </a:solidFill>
                <a:latin typeface="Consolas"/>
              </a:rPr>
              <a:t>NEAR-MAXIMUM</a:t>
            </a:r>
          </a:p>
        </p:txBody>
      </p:sp>
      <p:sp>
        <p:nvSpPr>
          <p:cNvPr id="11" name="TextBox 10"/>
          <p:cNvSpPr txBox="1"/>
          <p:nvPr/>
        </p:nvSpPr>
        <p:spPr>
          <a:xfrm>
            <a:off x="4599432" y="2871216"/>
            <a:ext cx="3108960" cy="914400"/>
          </a:xfrm>
          <a:prstGeom prst="rect">
            <a:avLst/>
          </a:prstGeom>
          <a:noFill/>
        </p:spPr>
        <p:txBody>
          <a:bodyPr wrap="square" lIns="0" tIns="0" rIns="0" bIns="0" anchor="t">
            <a:noAutofit/>
          </a:bodyPr>
          <a:lstStyle/>
          <a:p>
            <a:pPr algn="l">
              <a:lnSpc>
                <a:spcPct val="128000"/>
              </a:lnSpc>
              <a:spcBef>
                <a:spcPts val="0"/>
              </a:spcBef>
              <a:spcAft>
                <a:spcPts val="400"/>
              </a:spcAft>
            </a:pPr>
            <a:r>
              <a:rPr sz="1200" b="0" i="0">
                <a:solidFill>
                  <a:srgbClr val="5A7480"/>
                </a:solidFill>
                <a:latin typeface="Calibri"/>
              </a:rPr>
              <a:t>Dose received by 2% of the volume. The robust stand-in for Dmax.</a:t>
            </a:r>
          </a:p>
        </p:txBody>
      </p:sp>
      <p:sp>
        <p:nvSpPr>
          <p:cNvPr id="12" name="Rounded Rectangle 11"/>
          <p:cNvSpPr/>
          <p:nvPr/>
        </p:nvSpPr>
        <p:spPr>
          <a:xfrm>
            <a:off x="8046720" y="1783080"/>
            <a:ext cx="3584448" cy="2121408"/>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39328" y="1975104"/>
            <a:ext cx="3017520" cy="640080"/>
          </a:xfrm>
          <a:prstGeom prst="rect">
            <a:avLst/>
          </a:prstGeom>
          <a:noFill/>
        </p:spPr>
        <p:txBody>
          <a:bodyPr wrap="square" lIns="0" tIns="0" rIns="0" bIns="0" anchor="t">
            <a:noAutofit/>
          </a:bodyPr>
          <a:lstStyle/>
          <a:p>
            <a:pPr algn="l">
              <a:lnSpc>
                <a:spcPct val="118000"/>
              </a:lnSpc>
              <a:spcBef>
                <a:spcPts val="0"/>
              </a:spcBef>
              <a:spcAft>
                <a:spcPts val="400"/>
              </a:spcAft>
            </a:pPr>
            <a:r>
              <a:rPr sz="2700" b="1" i="0" dirty="0">
                <a:solidFill>
                  <a:srgbClr val="BF1A7F"/>
                </a:solidFill>
                <a:latin typeface="Georgia"/>
              </a:rPr>
              <a:t>D50%</a:t>
            </a:r>
          </a:p>
        </p:txBody>
      </p:sp>
      <p:sp>
        <p:nvSpPr>
          <p:cNvPr id="14" name="TextBox 13"/>
          <p:cNvSpPr txBox="1"/>
          <p:nvPr/>
        </p:nvSpPr>
        <p:spPr>
          <a:xfrm>
            <a:off x="8339328" y="2542032"/>
            <a:ext cx="3108960" cy="365760"/>
          </a:xfrm>
          <a:prstGeom prst="rect">
            <a:avLst/>
          </a:prstGeom>
          <a:noFill/>
        </p:spPr>
        <p:txBody>
          <a:bodyPr wrap="square" lIns="0" tIns="0" rIns="0" bIns="0" anchor="t">
            <a:noAutofit/>
          </a:bodyPr>
          <a:lstStyle/>
          <a:p>
            <a:pPr algn="l">
              <a:lnSpc>
                <a:spcPct val="118000"/>
              </a:lnSpc>
              <a:spcBef>
                <a:spcPts val="0"/>
              </a:spcBef>
              <a:spcAft>
                <a:spcPts val="400"/>
              </a:spcAft>
            </a:pPr>
            <a:r>
              <a:rPr sz="1000" b="1" i="0" spc="140">
                <a:solidFill>
                  <a:srgbClr val="5A7480"/>
                </a:solidFill>
                <a:latin typeface="Consolas"/>
              </a:rPr>
              <a:t>MEDIAN DOSE</a:t>
            </a:r>
          </a:p>
        </p:txBody>
      </p:sp>
      <p:sp>
        <p:nvSpPr>
          <p:cNvPr id="15" name="TextBox 14"/>
          <p:cNvSpPr txBox="1"/>
          <p:nvPr/>
        </p:nvSpPr>
        <p:spPr>
          <a:xfrm>
            <a:off x="8339328" y="2871216"/>
            <a:ext cx="3108960" cy="914400"/>
          </a:xfrm>
          <a:prstGeom prst="rect">
            <a:avLst/>
          </a:prstGeom>
          <a:noFill/>
        </p:spPr>
        <p:txBody>
          <a:bodyPr wrap="square" lIns="0" tIns="0" rIns="0" bIns="0" anchor="t">
            <a:noAutofit/>
          </a:bodyPr>
          <a:lstStyle/>
          <a:p>
            <a:pPr algn="l">
              <a:lnSpc>
                <a:spcPct val="128000"/>
              </a:lnSpc>
              <a:spcBef>
                <a:spcPts val="0"/>
              </a:spcBef>
              <a:spcAft>
                <a:spcPts val="400"/>
              </a:spcAft>
            </a:pPr>
            <a:r>
              <a:rPr sz="1200" b="0" i="0">
                <a:solidFill>
                  <a:srgbClr val="5A7480"/>
                </a:solidFill>
                <a:latin typeface="Calibri"/>
              </a:rPr>
              <a:t>Dose to half the volume — the denominator of the homogeneity index.</a:t>
            </a:r>
          </a:p>
        </p:txBody>
      </p:sp>
      <p:sp>
        <p:nvSpPr>
          <p:cNvPr id="16" name="Rounded Rectangle 15"/>
          <p:cNvSpPr/>
          <p:nvPr/>
        </p:nvSpPr>
        <p:spPr>
          <a:xfrm>
            <a:off x="566928" y="4114800"/>
            <a:ext cx="11064240" cy="2121408"/>
          </a:xfrm>
          <a:prstGeom prst="roundRect">
            <a:avLst>
              <a:gd name="adj" fmla="val 4500"/>
            </a:avLst>
          </a:prstGeom>
          <a:solidFill>
            <a:srgbClr val="E2EFF4"/>
          </a:solidFill>
          <a:ln w="15240">
            <a:solidFill>
              <a:srgbClr val="DA3B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 y="4297680"/>
            <a:ext cx="10515600" cy="365760"/>
          </a:xfrm>
          <a:prstGeom prst="rect">
            <a:avLst/>
          </a:prstGeom>
          <a:noFill/>
        </p:spPr>
        <p:txBody>
          <a:bodyPr wrap="square" lIns="0" tIns="0" rIns="0" bIns="0" anchor="t">
            <a:noAutofit/>
          </a:bodyPr>
          <a:lstStyle/>
          <a:p>
            <a:pPr algn="l">
              <a:lnSpc>
                <a:spcPct val="118000"/>
              </a:lnSpc>
              <a:spcBef>
                <a:spcPts val="0"/>
              </a:spcBef>
              <a:spcAft>
                <a:spcPts val="400"/>
              </a:spcAft>
            </a:pPr>
            <a:r>
              <a:rPr sz="1050" b="1" i="0" spc="160">
                <a:solidFill>
                  <a:srgbClr val="DA3B40"/>
                </a:solidFill>
                <a:latin typeface="Consolas"/>
              </a:rPr>
              <a:t>WHY NOT JUST USE Dmin AND Dmax?</a:t>
            </a:r>
          </a:p>
        </p:txBody>
      </p:sp>
      <p:sp>
        <p:nvSpPr>
          <p:cNvPr id="18" name="TextBox 17"/>
          <p:cNvSpPr txBox="1"/>
          <p:nvPr/>
        </p:nvSpPr>
        <p:spPr>
          <a:xfrm>
            <a:off x="841248" y="4645152"/>
            <a:ext cx="10698480" cy="1554480"/>
          </a:xfrm>
          <a:prstGeom prst="rect">
            <a:avLst/>
          </a:prstGeom>
          <a:noFill/>
        </p:spPr>
        <p:txBody>
          <a:bodyPr wrap="square" lIns="0" tIns="0" rIns="0" bIns="0" anchor="t">
            <a:noAutofit/>
          </a:bodyPr>
          <a:lstStyle/>
          <a:p>
            <a:pPr algn="l">
              <a:lnSpc>
                <a:spcPct val="136000"/>
              </a:lnSpc>
              <a:spcBef>
                <a:spcPts val="0"/>
              </a:spcBef>
              <a:spcAft>
                <a:spcPts val="400"/>
              </a:spcAft>
            </a:pPr>
            <a:r>
              <a:rPr sz="1320" b="0" i="0">
                <a:solidFill>
                  <a:srgbClr val="5A7480"/>
                </a:solidFill>
                <a:latin typeface="Calibri"/>
              </a:rPr>
              <a:t>Dmin and Dmax are </a:t>
            </a:r>
            <a:r>
              <a:rPr sz="1320" b="1" i="0">
                <a:solidFill>
                  <a:srgbClr val="14313C"/>
                </a:solidFill>
                <a:latin typeface="Calibri"/>
              </a:rPr>
              <a:t>single-voxel point doses</a:t>
            </a:r>
            <a:r>
              <a:rPr sz="1320" b="0" i="0">
                <a:solidFill>
                  <a:srgbClr val="5A7480"/>
                </a:solidFill>
                <a:latin typeface="Calibri"/>
              </a:rPr>
              <a:t>. A lone voxel is statistically noisy — it shifts with calculation grid size, resolution and contouring jitter, so it is not reproducible. ICRU 83 replaced them with </a:t>
            </a:r>
            <a:r>
              <a:rPr sz="1320" b="1" i="0">
                <a:solidFill>
                  <a:srgbClr val="14313C"/>
                </a:solidFill>
                <a:latin typeface="Calibri"/>
              </a:rPr>
              <a:t>D98% and D2%</a:t>
            </a:r>
            <a:r>
              <a:rPr sz="1320" b="0" i="0">
                <a:solidFill>
                  <a:srgbClr val="5A7480"/>
                </a:solidFill>
                <a:latin typeface="Calibri"/>
              </a:rPr>
              <a:t>: near-minimum and near-maximum doses that mean almost the same thing clinically but are stable plan-to-plan and scanner-to-scanner. </a:t>
            </a:r>
            <a:r>
              <a:rPr sz="1320" b="1" i="1">
                <a:solidFill>
                  <a:srgbClr val="14313C"/>
                </a:solidFill>
                <a:latin typeface="Calibri"/>
              </a:rPr>
              <a:t>Trust a near-max over a Dmax.</a:t>
            </a:r>
          </a:p>
        </p:txBody>
      </p:sp>
      <p:sp>
        <p:nvSpPr>
          <p:cNvPr id="19" name="TextBox 18"/>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20" name="TextBox 19"/>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13 / 34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00A9E0"/>
                </a:solidFill>
                <a:latin typeface="Consolas"/>
              </a:rPr>
              <a:t>BLOCK 1 · TARGET COVERAGE</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a:solidFill>
                  <a:srgbClr val="00A9E0"/>
                </a:solidFill>
                <a:latin typeface="Georgia"/>
              </a:rPr>
              <a:t>Conformity — is the dose the right shape?</a:t>
            </a:r>
          </a:p>
        </p:txBody>
      </p:sp>
      <p:pic>
        <p:nvPicPr>
          <p:cNvPr id="4" name="Picture 3" descr="b_conformity.png"/>
          <p:cNvPicPr>
            <a:picLocks noChangeAspect="1"/>
          </p:cNvPicPr>
          <p:nvPr/>
        </p:nvPicPr>
        <p:blipFill>
          <a:blip r:embed="rId3"/>
          <a:stretch>
            <a:fillRect/>
          </a:stretch>
        </p:blipFill>
        <p:spPr>
          <a:xfrm>
            <a:off x="4800600" y="1783080"/>
            <a:ext cx="6858000" cy="4015222"/>
          </a:xfrm>
          <a:prstGeom prst="rect">
            <a:avLst/>
          </a:prstGeom>
        </p:spPr>
      </p:pic>
      <p:sp>
        <p:nvSpPr>
          <p:cNvPr id="5" name="TextBox 4"/>
          <p:cNvSpPr txBox="1"/>
          <p:nvPr/>
        </p:nvSpPr>
        <p:spPr>
          <a:xfrm>
            <a:off x="566928" y="1810512"/>
            <a:ext cx="4023360" cy="868680"/>
          </a:xfrm>
          <a:prstGeom prst="rect">
            <a:avLst/>
          </a:prstGeom>
          <a:noFill/>
        </p:spPr>
        <p:txBody>
          <a:bodyPr wrap="square" lIns="0" tIns="0" rIns="0" bIns="0" anchor="t">
            <a:noAutofit/>
          </a:bodyPr>
          <a:lstStyle/>
          <a:p>
            <a:pPr algn="l">
              <a:lnSpc>
                <a:spcPct val="130000"/>
              </a:lnSpc>
              <a:spcBef>
                <a:spcPts val="0"/>
              </a:spcBef>
              <a:spcAft>
                <a:spcPts val="400"/>
              </a:spcAft>
            </a:pPr>
            <a:r>
              <a:rPr sz="1330" b="1" i="0">
                <a:solidFill>
                  <a:srgbClr val="14313C"/>
                </a:solidFill>
                <a:latin typeface="Calibri"/>
              </a:rPr>
              <a:t>Conformity </a:t>
            </a:r>
            <a:r>
              <a:rPr sz="1330" b="0" i="0">
                <a:solidFill>
                  <a:srgbClr val="5A7480"/>
                </a:solidFill>
                <a:latin typeface="Calibri"/>
              </a:rPr>
              <a:t>asks: does the prescription dose wrap the target — or is it spilling into normal tissue?</a:t>
            </a:r>
          </a:p>
        </p:txBody>
      </p:sp>
      <p:sp>
        <p:nvSpPr>
          <p:cNvPr id="6" name="Rounded Rectangle 5"/>
          <p:cNvSpPr/>
          <p:nvPr/>
        </p:nvSpPr>
        <p:spPr>
          <a:xfrm>
            <a:off x="566928" y="2743200"/>
            <a:ext cx="4069080" cy="960120"/>
          </a:xfrm>
          <a:prstGeom prst="roundRect">
            <a:avLst>
              <a:gd name="adj" fmla="val 4500"/>
            </a:avLst>
          </a:prstGeom>
          <a:solidFill>
            <a:srgbClr val="E2EFF4"/>
          </a:solidFill>
          <a:ln w="15240">
            <a:solidFill>
              <a:srgbClr val="00A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2889504"/>
            <a:ext cx="3657600" cy="731520"/>
          </a:xfrm>
          <a:prstGeom prst="rect">
            <a:avLst/>
          </a:prstGeom>
          <a:noFill/>
        </p:spPr>
        <p:txBody>
          <a:bodyPr wrap="square" lIns="0" tIns="0" rIns="0" bIns="0" anchor="t">
            <a:noAutofit/>
          </a:bodyPr>
          <a:lstStyle/>
          <a:p>
            <a:pPr algn="l">
              <a:lnSpc>
                <a:spcPct val="125000"/>
              </a:lnSpc>
              <a:spcBef>
                <a:spcPts val="0"/>
              </a:spcBef>
              <a:spcAft>
                <a:spcPts val="200"/>
              </a:spcAft>
            </a:pPr>
            <a:r>
              <a:rPr sz="1250" b="1" i="0">
                <a:solidFill>
                  <a:srgbClr val="14313C"/>
                </a:solidFill>
                <a:latin typeface="Calibri"/>
              </a:rPr>
              <a:t>Look at the isodose lines on every slice.</a:t>
            </a:r>
          </a:p>
          <a:p>
            <a:pPr algn="l">
              <a:lnSpc>
                <a:spcPct val="125000"/>
              </a:lnSpc>
              <a:spcBef>
                <a:spcPts val="0"/>
              </a:spcBef>
              <a:spcAft>
                <a:spcPts val="200"/>
              </a:spcAft>
            </a:pPr>
            <a:r>
              <a:rPr sz="1150" b="0" i="0">
                <a:solidFill>
                  <a:srgbClr val="5A7480"/>
                </a:solidFill>
                <a:latin typeface="Calibri"/>
              </a:rPr>
              <a:t>The prescription isodose should hug the target — not bulge out beyond it or fall short of it.</a:t>
            </a:r>
          </a:p>
        </p:txBody>
      </p:sp>
      <p:sp>
        <p:nvSpPr>
          <p:cNvPr id="8" name="TextBox 7"/>
          <p:cNvSpPr txBox="1"/>
          <p:nvPr/>
        </p:nvSpPr>
        <p:spPr>
          <a:xfrm>
            <a:off x="566928" y="3886200"/>
            <a:ext cx="4069080" cy="1295400"/>
          </a:xfrm>
          <a:prstGeom prst="rect">
            <a:avLst/>
          </a:prstGeom>
          <a:noFill/>
        </p:spPr>
        <p:txBody>
          <a:bodyPr wrap="square" lIns="0" tIns="0" rIns="0" bIns="0" anchor="t">
            <a:noAutofit/>
          </a:bodyPr>
          <a:lstStyle/>
          <a:p>
            <a:pPr algn="l">
              <a:lnSpc>
                <a:spcPct val="122000"/>
              </a:lnSpc>
              <a:spcBef>
                <a:spcPts val="0"/>
              </a:spcBef>
              <a:spcAft>
                <a:spcPts val="720"/>
              </a:spcAft>
            </a:pPr>
            <a:r>
              <a:rPr sz="1240" b="1" i="0">
                <a:solidFill>
                  <a:srgbClr val="1FA85C"/>
                </a:solidFill>
                <a:latin typeface="Calibri"/>
              </a:rPr>
              <a:t>Good </a:t>
            </a:r>
            <a:r>
              <a:rPr sz="1240" b="0" i="0">
                <a:solidFill>
                  <a:srgbClr val="5A7480"/>
                </a:solidFill>
                <a:latin typeface="Calibri"/>
              </a:rPr>
              <a:t>— isodose closely follows the target outline on most slices</a:t>
            </a:r>
          </a:p>
          <a:p>
            <a:pPr algn="l">
              <a:lnSpc>
                <a:spcPct val="122000"/>
              </a:lnSpc>
              <a:spcBef>
                <a:spcPts val="0"/>
              </a:spcBef>
              <a:spcAft>
                <a:spcPts val="720"/>
              </a:spcAft>
            </a:pPr>
            <a:r>
              <a:rPr sz="1240" b="1" i="0">
                <a:solidFill>
                  <a:srgbClr val="F07D2E"/>
                </a:solidFill>
                <a:latin typeface="Calibri"/>
              </a:rPr>
              <a:t>Marginal </a:t>
            </a:r>
            <a:r>
              <a:rPr sz="1240" b="0" i="0">
                <a:solidFill>
                  <a:srgbClr val="5A7480"/>
                </a:solidFill>
                <a:latin typeface="Calibri"/>
              </a:rPr>
              <a:t>— dose bulges noticeably beyond the target in places; more normal tissue than needed is included</a:t>
            </a:r>
          </a:p>
          <a:p>
            <a:pPr algn="l">
              <a:lnSpc>
                <a:spcPct val="122000"/>
              </a:lnSpc>
              <a:spcBef>
                <a:spcPts val="0"/>
              </a:spcBef>
              <a:spcAft>
                <a:spcPts val="720"/>
              </a:spcAft>
            </a:pPr>
            <a:r>
              <a:rPr sz="1240" b="1" i="0">
                <a:solidFill>
                  <a:srgbClr val="C92E33"/>
                </a:solidFill>
                <a:latin typeface="Calibri"/>
              </a:rPr>
              <a:t>Poor </a:t>
            </a:r>
            <a:r>
              <a:rPr sz="1240" b="0" i="0">
                <a:solidFill>
                  <a:srgbClr val="5A7480"/>
                </a:solidFill>
                <a:latin typeface="Calibri"/>
              </a:rPr>
              <a:t>— isodose falls short of the target or misses an edge entirely; target is underdosed</a:t>
            </a:r>
          </a:p>
        </p:txBody>
      </p:sp>
      <p:sp>
        <p:nvSpPr>
          <p:cNvPr id="9" name="Rounded Rectangle 8"/>
          <p:cNvSpPr/>
          <p:nvPr/>
        </p:nvSpPr>
        <p:spPr>
          <a:xfrm>
            <a:off x="566928" y="5230368"/>
            <a:ext cx="4069080" cy="1024128"/>
          </a:xfrm>
          <a:prstGeom prst="roundRect">
            <a:avLst>
              <a:gd name="adj" fmla="val 4500"/>
            </a:avLst>
          </a:prstGeom>
          <a:solidFill>
            <a:srgbClr val="E2EFF4"/>
          </a:solidFill>
          <a:ln w="15240">
            <a:solidFill>
              <a:srgbClr val="DA3B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384" y="5367528"/>
            <a:ext cx="3657600" cy="822960"/>
          </a:xfrm>
          <a:prstGeom prst="rect">
            <a:avLst/>
          </a:prstGeom>
          <a:noFill/>
        </p:spPr>
        <p:txBody>
          <a:bodyPr wrap="square" lIns="0" tIns="0" rIns="0" bIns="0" anchor="t">
            <a:noAutofit/>
          </a:bodyPr>
          <a:lstStyle/>
          <a:p>
            <a:pPr algn="l">
              <a:lnSpc>
                <a:spcPct val="126000"/>
              </a:lnSpc>
              <a:spcBef>
                <a:spcPts val="0"/>
              </a:spcBef>
              <a:spcAft>
                <a:spcPts val="300"/>
              </a:spcAft>
            </a:pPr>
            <a:r>
              <a:rPr sz="1150" b="1" i="0">
                <a:solidFill>
                  <a:srgbClr val="DA3B40"/>
                </a:solidFill>
                <a:latin typeface="Calibri"/>
              </a:rPr>
              <a:t>3DCRT context:  </a:t>
            </a:r>
            <a:r>
              <a:rPr sz="1150" b="0" i="0">
                <a:solidFill>
                  <a:srgbClr val="5A7480"/>
                </a:solidFill>
                <a:latin typeface="Calibri"/>
              </a:rPr>
              <a:t>shaped static beams cannot wrap dose as tightly as VMAT — some bulge beyond the target is expected and acceptable. Judge what you see against the technique, not an abstract ideal.</a:t>
            </a:r>
          </a:p>
        </p:txBody>
      </p:sp>
      <p:sp>
        <p:nvSpPr>
          <p:cNvPr id="11" name="TextBox 10"/>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12" name="TextBox 11"/>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11 / 34</a:t>
            </a:r>
          </a:p>
        </p:txBody>
      </p:sp>
    </p:spTree>
    <p:extLst>
      <p:ext uri="{BB962C8B-B14F-4D97-AF65-F5344CB8AC3E}">
        <p14:creationId xmlns:p14="http://schemas.microsoft.com/office/powerpoint/2010/main" val="1943356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00A9E0"/>
                </a:solidFill>
                <a:latin typeface="Consolas"/>
              </a:rPr>
              <a:t>BLOCK 1 · TARGET COVERAGE</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a:solidFill>
                  <a:srgbClr val="00A9E0"/>
                </a:solidFill>
                <a:latin typeface="Georgia"/>
              </a:rPr>
              <a:t>Homogeneity — is the dose evenly spread?</a:t>
            </a:r>
          </a:p>
        </p:txBody>
      </p:sp>
      <p:pic>
        <p:nvPicPr>
          <p:cNvPr id="4" name="Picture 3" descr="c_homogeneity.png"/>
          <p:cNvPicPr>
            <a:picLocks noChangeAspect="1"/>
          </p:cNvPicPr>
          <p:nvPr/>
        </p:nvPicPr>
        <p:blipFill>
          <a:blip r:embed="rId3"/>
          <a:stretch>
            <a:fillRect/>
          </a:stretch>
        </p:blipFill>
        <p:spPr>
          <a:xfrm>
            <a:off x="4846320" y="1810512"/>
            <a:ext cx="6812280" cy="3621626"/>
          </a:xfrm>
          <a:prstGeom prst="rect">
            <a:avLst/>
          </a:prstGeom>
        </p:spPr>
      </p:pic>
      <p:sp>
        <p:nvSpPr>
          <p:cNvPr id="5" name="TextBox 4"/>
          <p:cNvSpPr txBox="1"/>
          <p:nvPr/>
        </p:nvSpPr>
        <p:spPr>
          <a:xfrm>
            <a:off x="566928" y="1810512"/>
            <a:ext cx="4114800" cy="868680"/>
          </a:xfrm>
          <a:prstGeom prst="rect">
            <a:avLst/>
          </a:prstGeom>
          <a:noFill/>
        </p:spPr>
        <p:txBody>
          <a:bodyPr wrap="square" lIns="0" tIns="0" rIns="0" bIns="0" anchor="t">
            <a:noAutofit/>
          </a:bodyPr>
          <a:lstStyle/>
          <a:p>
            <a:pPr algn="l">
              <a:lnSpc>
                <a:spcPct val="130000"/>
              </a:lnSpc>
              <a:spcBef>
                <a:spcPts val="0"/>
              </a:spcBef>
              <a:spcAft>
                <a:spcPts val="400"/>
              </a:spcAft>
            </a:pPr>
            <a:r>
              <a:rPr sz="1330" b="1" i="0">
                <a:solidFill>
                  <a:srgbClr val="14313C"/>
                </a:solidFill>
                <a:latin typeface="Calibri"/>
              </a:rPr>
              <a:t>Homogeneity </a:t>
            </a:r>
            <a:r>
              <a:rPr sz="1330" b="0" i="0">
                <a:solidFill>
                  <a:srgbClr val="5A7480"/>
                </a:solidFill>
                <a:latin typeface="Calibri"/>
              </a:rPr>
              <a:t>asks whether dose is uniform across the target — no hot core, no cold shoulders.</a:t>
            </a:r>
          </a:p>
        </p:txBody>
      </p:sp>
      <p:sp>
        <p:nvSpPr>
          <p:cNvPr id="6" name="Rounded Rectangle 5"/>
          <p:cNvSpPr/>
          <p:nvPr/>
        </p:nvSpPr>
        <p:spPr>
          <a:xfrm>
            <a:off x="566928" y="2743200"/>
            <a:ext cx="4160520" cy="868680"/>
          </a:xfrm>
          <a:prstGeom prst="roundRect">
            <a:avLst>
              <a:gd name="adj" fmla="val 4500"/>
            </a:avLst>
          </a:prstGeom>
          <a:solidFill>
            <a:srgbClr val="E2EFF4"/>
          </a:solidFill>
          <a:ln w="15240">
            <a:solidFill>
              <a:srgbClr val="00A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2962656"/>
            <a:ext cx="3840480" cy="548640"/>
          </a:xfrm>
          <a:prstGeom prst="rect">
            <a:avLst/>
          </a:prstGeom>
          <a:noFill/>
        </p:spPr>
        <p:txBody>
          <a:bodyPr wrap="square" lIns="0" tIns="0" rIns="0" bIns="0" anchor="ctr">
            <a:noAutofit/>
          </a:bodyPr>
          <a:lstStyle/>
          <a:p>
            <a:pPr algn="ctr">
              <a:lnSpc>
                <a:spcPct val="118000"/>
              </a:lnSpc>
              <a:spcBef>
                <a:spcPts val="0"/>
              </a:spcBef>
              <a:spcAft>
                <a:spcPts val="400"/>
              </a:spcAft>
            </a:pPr>
            <a:r>
              <a:rPr sz="1350" b="1" i="0">
                <a:solidFill>
                  <a:srgbClr val="00A9E0"/>
                </a:solidFill>
                <a:latin typeface="Consolas"/>
              </a:rPr>
              <a:t>HI  =  (D2% − D98%) ÷ D50%</a:t>
            </a:r>
          </a:p>
        </p:txBody>
      </p:sp>
      <p:sp>
        <p:nvSpPr>
          <p:cNvPr id="8" name="TextBox 7"/>
          <p:cNvSpPr txBox="1"/>
          <p:nvPr/>
        </p:nvSpPr>
        <p:spPr>
          <a:xfrm>
            <a:off x="566928" y="3794760"/>
            <a:ext cx="4160520" cy="4572000"/>
          </a:xfrm>
          <a:prstGeom prst="rect">
            <a:avLst/>
          </a:prstGeom>
          <a:noFill/>
        </p:spPr>
        <p:txBody>
          <a:bodyPr wrap="square" lIns="0" tIns="0" rIns="0" bIns="0" anchor="t">
            <a:noAutofit/>
          </a:bodyPr>
          <a:lstStyle/>
          <a:p>
            <a:pPr algn="l">
              <a:lnSpc>
                <a:spcPct val="122000"/>
              </a:lnSpc>
              <a:spcBef>
                <a:spcPts val="0"/>
              </a:spcBef>
              <a:spcAft>
                <a:spcPts val="612"/>
              </a:spcAft>
            </a:pPr>
            <a:r>
              <a:rPr sz="1230" b="1" i="0">
                <a:solidFill>
                  <a:srgbClr val="00A9E0"/>
                </a:solidFill>
                <a:latin typeface="Calibri"/>
              </a:rPr>
              <a:t>▸  </a:t>
            </a:r>
            <a:r>
              <a:rPr sz="1230" b="1" i="0">
                <a:solidFill>
                  <a:srgbClr val="14313C"/>
                </a:solidFill>
                <a:latin typeface="Calibri"/>
              </a:rPr>
              <a:t>Lower is flatter </a:t>
            </a:r>
            <a:r>
              <a:rPr sz="1230" b="0" i="0">
                <a:solidFill>
                  <a:srgbClr val="5A7480"/>
                </a:solidFill>
                <a:latin typeface="Calibri"/>
              </a:rPr>
              <a:t>— ICRU 83; ideal near 0, &lt; 0.1 good</a:t>
            </a:r>
          </a:p>
          <a:p>
            <a:pPr algn="l">
              <a:lnSpc>
                <a:spcPct val="122000"/>
              </a:lnSpc>
              <a:spcBef>
                <a:spcPts val="0"/>
              </a:spcBef>
              <a:spcAft>
                <a:spcPts val="612"/>
              </a:spcAft>
            </a:pPr>
            <a:r>
              <a:rPr sz="1230" b="1" i="0">
                <a:solidFill>
                  <a:srgbClr val="00A9E0"/>
                </a:solidFill>
                <a:latin typeface="Calibri"/>
              </a:rPr>
              <a:t>▸  </a:t>
            </a:r>
            <a:r>
              <a:rPr sz="1230" b="1" i="0">
                <a:solidFill>
                  <a:srgbClr val="14313C"/>
                </a:solidFill>
                <a:latin typeface="Calibri"/>
              </a:rPr>
              <a:t>Hot spots </a:t>
            </a:r>
            <a:r>
              <a:rPr sz="1230" b="0" i="0">
                <a:solidFill>
                  <a:srgbClr val="5A7480"/>
                </a:solidFill>
                <a:latin typeface="Calibri"/>
              </a:rPr>
              <a:t>→ normal-tissue toxicity</a:t>
            </a:r>
          </a:p>
          <a:p>
            <a:pPr algn="l">
              <a:lnSpc>
                <a:spcPct val="122000"/>
              </a:lnSpc>
              <a:spcBef>
                <a:spcPts val="0"/>
              </a:spcBef>
              <a:spcAft>
                <a:spcPts val="612"/>
              </a:spcAft>
            </a:pPr>
            <a:r>
              <a:rPr sz="1230" b="1" i="0">
                <a:solidFill>
                  <a:srgbClr val="00A9E0"/>
                </a:solidFill>
                <a:latin typeface="Calibri"/>
              </a:rPr>
              <a:t>▸  </a:t>
            </a:r>
            <a:r>
              <a:rPr sz="1230" b="1" i="0">
                <a:solidFill>
                  <a:srgbClr val="14313C"/>
                </a:solidFill>
                <a:latin typeface="Calibri"/>
              </a:rPr>
              <a:t>Cold spots </a:t>
            </a:r>
            <a:r>
              <a:rPr sz="1230" b="0" i="0">
                <a:solidFill>
                  <a:srgbClr val="5A7480"/>
                </a:solidFill>
                <a:latin typeface="Calibri"/>
              </a:rPr>
              <a:t>→ risk of local recurrence</a:t>
            </a:r>
          </a:p>
          <a:p>
            <a:pPr algn="l">
              <a:lnSpc>
                <a:spcPct val="122000"/>
              </a:lnSpc>
              <a:spcBef>
                <a:spcPts val="0"/>
              </a:spcBef>
              <a:spcAft>
                <a:spcPts val="612"/>
              </a:spcAft>
            </a:pPr>
            <a:r>
              <a:rPr sz="1230" b="1" i="0">
                <a:solidFill>
                  <a:srgbClr val="00A9E0"/>
                </a:solidFill>
                <a:latin typeface="Calibri"/>
              </a:rPr>
              <a:t>▸  </a:t>
            </a:r>
            <a:r>
              <a:rPr sz="1230" b="1" i="0">
                <a:solidFill>
                  <a:srgbClr val="14313C"/>
                </a:solidFill>
                <a:latin typeface="Calibri"/>
              </a:rPr>
              <a:t>3DCRT tools </a:t>
            </a:r>
            <a:r>
              <a:rPr sz="1230" b="0" i="0">
                <a:solidFill>
                  <a:srgbClr val="5A7480"/>
                </a:solidFill>
                <a:latin typeface="Calibri"/>
              </a:rPr>
              <a:t>— wedges, field-in-field, compensators</a:t>
            </a:r>
          </a:p>
        </p:txBody>
      </p:sp>
      <p:sp>
        <p:nvSpPr>
          <p:cNvPr id="9" name="Rounded Rectangle 8"/>
          <p:cNvSpPr/>
          <p:nvPr/>
        </p:nvSpPr>
        <p:spPr>
          <a:xfrm>
            <a:off x="566928" y="5440680"/>
            <a:ext cx="4160520" cy="822960"/>
          </a:xfrm>
          <a:prstGeom prst="roundRect">
            <a:avLst>
              <a:gd name="adj" fmla="val 4500"/>
            </a:avLst>
          </a:prstGeom>
          <a:solidFill>
            <a:srgbClr val="E2EFF4"/>
          </a:solidFill>
          <a:ln w="15240">
            <a:solidFill>
              <a:srgbClr val="F07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384" y="5559552"/>
            <a:ext cx="3749039" cy="640080"/>
          </a:xfrm>
          <a:prstGeom prst="rect">
            <a:avLst/>
          </a:prstGeom>
          <a:noFill/>
        </p:spPr>
        <p:txBody>
          <a:bodyPr wrap="square" lIns="0" tIns="0" rIns="0" bIns="0" anchor="t">
            <a:noAutofit/>
          </a:bodyPr>
          <a:lstStyle/>
          <a:p>
            <a:pPr algn="l">
              <a:lnSpc>
                <a:spcPct val="124000"/>
              </a:lnSpc>
              <a:spcBef>
                <a:spcPts val="0"/>
              </a:spcBef>
              <a:spcAft>
                <a:spcPts val="400"/>
              </a:spcAft>
            </a:pPr>
            <a:r>
              <a:rPr sz="1130" b="1" i="0">
                <a:solidFill>
                  <a:srgbClr val="F07D2E"/>
                </a:solidFill>
                <a:latin typeface="Calibri"/>
              </a:rPr>
              <a:t>Note:  </a:t>
            </a:r>
            <a:r>
              <a:rPr sz="1130" b="0" i="0">
                <a:solidFill>
                  <a:srgbClr val="5A7480"/>
                </a:solidFill>
                <a:latin typeface="Calibri"/>
              </a:rPr>
              <a:t>SBRT deliberately runs inhomogeneous — a hot core is intended.</a:t>
            </a:r>
          </a:p>
        </p:txBody>
      </p:sp>
      <p:sp>
        <p:nvSpPr>
          <p:cNvPr id="11" name="TextBox 10"/>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12" name="TextBox 11"/>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12 / 34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00A9E0"/>
                </a:solidFill>
                <a:latin typeface="Consolas"/>
              </a:rPr>
              <a:t>BLOCK 1 · TARGET COVERAGE</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a:solidFill>
                  <a:srgbClr val="00A9E0"/>
                </a:solidFill>
                <a:latin typeface="Georgia"/>
              </a:rPr>
              <a:t>“What is good enough?”</a:t>
            </a:r>
          </a:p>
        </p:txBody>
      </p:sp>
      <p:sp>
        <p:nvSpPr>
          <p:cNvPr id="4" name="TextBox 3"/>
          <p:cNvSpPr txBox="1"/>
          <p:nvPr/>
        </p:nvSpPr>
        <p:spPr>
          <a:xfrm>
            <a:off x="566928" y="1572768"/>
            <a:ext cx="11064240" cy="502920"/>
          </a:xfrm>
          <a:prstGeom prst="rect">
            <a:avLst/>
          </a:prstGeom>
          <a:noFill/>
        </p:spPr>
        <p:txBody>
          <a:bodyPr wrap="square" lIns="0" tIns="0" rIns="0" bIns="0" anchor="t">
            <a:noAutofit/>
          </a:bodyPr>
          <a:lstStyle/>
          <a:p>
            <a:pPr algn="l">
              <a:lnSpc>
                <a:spcPct val="118000"/>
              </a:lnSpc>
              <a:spcBef>
                <a:spcPts val="0"/>
              </a:spcBef>
              <a:spcAft>
                <a:spcPts val="400"/>
              </a:spcAft>
            </a:pPr>
            <a:r>
              <a:rPr sz="1340" b="0" i="1">
                <a:solidFill>
                  <a:srgbClr val="5A7480"/>
                </a:solidFill>
                <a:latin typeface="Calibri"/>
              </a:rPr>
              <a:t>Coverage numbers are not pass/fail laws. They are negotiated — against OAR safety, intent and what the technique can deliver.</a:t>
            </a:r>
          </a:p>
        </p:txBody>
      </p:sp>
      <p:sp>
        <p:nvSpPr>
          <p:cNvPr id="5" name="Rounded Rectangle 4"/>
          <p:cNvSpPr/>
          <p:nvPr/>
        </p:nvSpPr>
        <p:spPr>
          <a:xfrm>
            <a:off x="566928" y="2212848"/>
            <a:ext cx="5458968" cy="1828800"/>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66928" y="2212848"/>
            <a:ext cx="64008" cy="1828800"/>
          </a:xfrm>
          <a:prstGeom prst="rect">
            <a:avLst/>
          </a:prstGeom>
          <a:solidFill>
            <a:srgbClr val="C92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77824" y="2432304"/>
            <a:ext cx="4937760" cy="457200"/>
          </a:xfrm>
          <a:prstGeom prst="rect">
            <a:avLst/>
          </a:prstGeom>
          <a:noFill/>
        </p:spPr>
        <p:txBody>
          <a:bodyPr wrap="square" lIns="0" tIns="0" rIns="0" bIns="0" anchor="t">
            <a:noAutofit/>
          </a:bodyPr>
          <a:lstStyle/>
          <a:p>
            <a:pPr algn="l">
              <a:lnSpc>
                <a:spcPct val="118000"/>
              </a:lnSpc>
              <a:spcBef>
                <a:spcPts val="0"/>
              </a:spcBef>
              <a:spcAft>
                <a:spcPts val="400"/>
              </a:spcAft>
            </a:pPr>
            <a:r>
              <a:rPr sz="1600" b="1" i="0">
                <a:solidFill>
                  <a:srgbClr val="14313C"/>
                </a:solidFill>
                <a:latin typeface="Georgia"/>
              </a:rPr>
              <a:t>Coverage is negotiable</a:t>
            </a:r>
          </a:p>
        </p:txBody>
      </p:sp>
      <p:sp>
        <p:nvSpPr>
          <p:cNvPr id="8" name="TextBox 7"/>
          <p:cNvSpPr txBox="1"/>
          <p:nvPr/>
        </p:nvSpPr>
        <p:spPr>
          <a:xfrm>
            <a:off x="877824" y="2871215"/>
            <a:ext cx="4983480" cy="1097280"/>
          </a:xfrm>
          <a:prstGeom prst="rect">
            <a:avLst/>
          </a:prstGeom>
          <a:noFill/>
        </p:spPr>
        <p:txBody>
          <a:bodyPr wrap="square" lIns="0" tIns="0" rIns="0" bIns="0" anchor="t">
            <a:noAutofit/>
          </a:bodyPr>
          <a:lstStyle/>
          <a:p>
            <a:pPr algn="l">
              <a:lnSpc>
                <a:spcPct val="130000"/>
              </a:lnSpc>
              <a:spcBef>
                <a:spcPts val="0"/>
              </a:spcBef>
              <a:spcAft>
                <a:spcPts val="400"/>
              </a:spcAft>
            </a:pPr>
            <a:r>
              <a:rPr sz="1250" b="0" i="0">
                <a:solidFill>
                  <a:srgbClr val="5A7480"/>
                </a:solidFill>
                <a:latin typeface="Calibri"/>
              </a:rPr>
              <a:t>Where the PTV abuts a serial OAR, you accept a small underdose at the overlap rather than breach a hard tolerance. Safety wins.</a:t>
            </a:r>
          </a:p>
        </p:txBody>
      </p:sp>
      <p:sp>
        <p:nvSpPr>
          <p:cNvPr id="9" name="Rounded Rectangle 8"/>
          <p:cNvSpPr/>
          <p:nvPr/>
        </p:nvSpPr>
        <p:spPr>
          <a:xfrm>
            <a:off x="6172200" y="2212848"/>
            <a:ext cx="5458968" cy="1828800"/>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72200" y="2212848"/>
            <a:ext cx="64008" cy="1828800"/>
          </a:xfrm>
          <a:prstGeom prst="rect">
            <a:avLst/>
          </a:prstGeom>
          <a:solidFill>
            <a:srgbClr val="00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83096" y="2432304"/>
            <a:ext cx="4937760" cy="457200"/>
          </a:xfrm>
          <a:prstGeom prst="rect">
            <a:avLst/>
          </a:prstGeom>
          <a:noFill/>
        </p:spPr>
        <p:txBody>
          <a:bodyPr wrap="square" lIns="0" tIns="0" rIns="0" bIns="0" anchor="t">
            <a:noAutofit/>
          </a:bodyPr>
          <a:lstStyle/>
          <a:p>
            <a:pPr algn="l">
              <a:lnSpc>
                <a:spcPct val="118000"/>
              </a:lnSpc>
              <a:spcBef>
                <a:spcPts val="0"/>
              </a:spcBef>
              <a:spcAft>
                <a:spcPts val="400"/>
              </a:spcAft>
            </a:pPr>
            <a:r>
              <a:rPr sz="1600" b="1" i="0">
                <a:solidFill>
                  <a:srgbClr val="14313C"/>
                </a:solidFill>
                <a:latin typeface="Georgia"/>
              </a:rPr>
              <a:t>Know where the cold sits</a:t>
            </a:r>
          </a:p>
        </p:txBody>
      </p:sp>
      <p:sp>
        <p:nvSpPr>
          <p:cNvPr id="12" name="TextBox 11"/>
          <p:cNvSpPr txBox="1"/>
          <p:nvPr/>
        </p:nvSpPr>
        <p:spPr>
          <a:xfrm>
            <a:off x="6483096" y="2871215"/>
            <a:ext cx="4983480" cy="1097280"/>
          </a:xfrm>
          <a:prstGeom prst="rect">
            <a:avLst/>
          </a:prstGeom>
          <a:noFill/>
        </p:spPr>
        <p:txBody>
          <a:bodyPr wrap="square" lIns="0" tIns="0" rIns="0" bIns="0" anchor="t">
            <a:noAutofit/>
          </a:bodyPr>
          <a:lstStyle/>
          <a:p>
            <a:pPr algn="l">
              <a:lnSpc>
                <a:spcPct val="130000"/>
              </a:lnSpc>
              <a:spcBef>
                <a:spcPts val="0"/>
              </a:spcBef>
              <a:spcAft>
                <a:spcPts val="400"/>
              </a:spcAft>
            </a:pPr>
            <a:r>
              <a:rPr sz="1250" b="0" i="0">
                <a:solidFill>
                  <a:srgbClr val="5A7480"/>
                </a:solidFill>
                <a:latin typeface="Calibri"/>
              </a:rPr>
              <a:t>Underdose at the PTV margin may leave the CTV intact. Underdose reaching into the CTV is a different, serious problem.</a:t>
            </a:r>
          </a:p>
        </p:txBody>
      </p:sp>
      <p:sp>
        <p:nvSpPr>
          <p:cNvPr id="13" name="Rounded Rectangle 12"/>
          <p:cNvSpPr/>
          <p:nvPr/>
        </p:nvSpPr>
        <p:spPr>
          <a:xfrm>
            <a:off x="566928" y="4206240"/>
            <a:ext cx="5458968" cy="1828800"/>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66928" y="4206240"/>
            <a:ext cx="64008" cy="1828800"/>
          </a:xfrm>
          <a:prstGeom prst="rect">
            <a:avLst/>
          </a:prstGeom>
          <a:solidFill>
            <a:srgbClr val="1F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77824" y="4425696"/>
            <a:ext cx="4937760" cy="457200"/>
          </a:xfrm>
          <a:prstGeom prst="rect">
            <a:avLst/>
          </a:prstGeom>
          <a:noFill/>
        </p:spPr>
        <p:txBody>
          <a:bodyPr wrap="square" lIns="0" tIns="0" rIns="0" bIns="0" anchor="t">
            <a:noAutofit/>
          </a:bodyPr>
          <a:lstStyle/>
          <a:p>
            <a:pPr algn="l">
              <a:lnSpc>
                <a:spcPct val="118000"/>
              </a:lnSpc>
              <a:spcBef>
                <a:spcPts val="0"/>
              </a:spcBef>
              <a:spcAft>
                <a:spcPts val="400"/>
              </a:spcAft>
            </a:pPr>
            <a:r>
              <a:rPr sz="1600" b="1" i="0">
                <a:solidFill>
                  <a:srgbClr val="14313C"/>
                </a:solidFill>
                <a:latin typeface="Georgia"/>
              </a:rPr>
              <a:t>Intent sets the bar</a:t>
            </a:r>
          </a:p>
        </p:txBody>
      </p:sp>
      <p:sp>
        <p:nvSpPr>
          <p:cNvPr id="16" name="TextBox 15"/>
          <p:cNvSpPr txBox="1"/>
          <p:nvPr/>
        </p:nvSpPr>
        <p:spPr>
          <a:xfrm>
            <a:off x="877824" y="4864607"/>
            <a:ext cx="4983480" cy="1097280"/>
          </a:xfrm>
          <a:prstGeom prst="rect">
            <a:avLst/>
          </a:prstGeom>
          <a:noFill/>
        </p:spPr>
        <p:txBody>
          <a:bodyPr wrap="square" lIns="0" tIns="0" rIns="0" bIns="0" anchor="t">
            <a:noAutofit/>
          </a:bodyPr>
          <a:lstStyle/>
          <a:p>
            <a:pPr algn="l">
              <a:lnSpc>
                <a:spcPct val="130000"/>
              </a:lnSpc>
              <a:spcBef>
                <a:spcPts val="0"/>
              </a:spcBef>
              <a:spcAft>
                <a:spcPts val="400"/>
              </a:spcAft>
            </a:pPr>
            <a:r>
              <a:rPr sz="1250" b="0" i="0">
                <a:solidFill>
                  <a:srgbClr val="5A7480"/>
                </a:solidFill>
                <a:latin typeface="Calibri"/>
              </a:rPr>
              <a:t>Radical treatment demands tighter coverage than palliation. “Good enough” for pain relief is not “good enough” for cure.</a:t>
            </a:r>
          </a:p>
        </p:txBody>
      </p:sp>
      <p:sp>
        <p:nvSpPr>
          <p:cNvPr id="17" name="Rounded Rectangle 16"/>
          <p:cNvSpPr/>
          <p:nvPr/>
        </p:nvSpPr>
        <p:spPr>
          <a:xfrm>
            <a:off x="6172200" y="4206240"/>
            <a:ext cx="5458968" cy="1828800"/>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72200" y="4206240"/>
            <a:ext cx="64008" cy="1828800"/>
          </a:xfrm>
          <a:prstGeom prst="rect">
            <a:avLst/>
          </a:prstGeom>
          <a:solidFill>
            <a:srgbClr val="F07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83096" y="4425696"/>
            <a:ext cx="4937760" cy="457200"/>
          </a:xfrm>
          <a:prstGeom prst="rect">
            <a:avLst/>
          </a:prstGeom>
          <a:noFill/>
        </p:spPr>
        <p:txBody>
          <a:bodyPr wrap="square" lIns="0" tIns="0" rIns="0" bIns="0" anchor="t">
            <a:noAutofit/>
          </a:bodyPr>
          <a:lstStyle/>
          <a:p>
            <a:pPr algn="l">
              <a:lnSpc>
                <a:spcPct val="118000"/>
              </a:lnSpc>
              <a:spcBef>
                <a:spcPts val="0"/>
              </a:spcBef>
              <a:spcAft>
                <a:spcPts val="400"/>
              </a:spcAft>
            </a:pPr>
            <a:r>
              <a:rPr sz="1600" b="1" i="0">
                <a:solidFill>
                  <a:srgbClr val="14313C"/>
                </a:solidFill>
                <a:latin typeface="Georgia"/>
              </a:rPr>
              <a:t>Achievable, not ideal</a:t>
            </a:r>
          </a:p>
        </p:txBody>
      </p:sp>
      <p:sp>
        <p:nvSpPr>
          <p:cNvPr id="20" name="TextBox 19"/>
          <p:cNvSpPr txBox="1"/>
          <p:nvPr/>
        </p:nvSpPr>
        <p:spPr>
          <a:xfrm>
            <a:off x="6483096" y="4864607"/>
            <a:ext cx="4983480" cy="1097280"/>
          </a:xfrm>
          <a:prstGeom prst="rect">
            <a:avLst/>
          </a:prstGeom>
          <a:noFill/>
        </p:spPr>
        <p:txBody>
          <a:bodyPr wrap="square" lIns="0" tIns="0" rIns="0" bIns="0" anchor="t">
            <a:noAutofit/>
          </a:bodyPr>
          <a:lstStyle/>
          <a:p>
            <a:pPr algn="l">
              <a:lnSpc>
                <a:spcPct val="130000"/>
              </a:lnSpc>
              <a:spcBef>
                <a:spcPts val="0"/>
              </a:spcBef>
              <a:spcAft>
                <a:spcPts val="400"/>
              </a:spcAft>
            </a:pPr>
            <a:r>
              <a:rPr sz="1250" b="0" i="0">
                <a:solidFill>
                  <a:srgbClr val="5A7480"/>
                </a:solidFill>
                <a:latin typeface="Calibri"/>
              </a:rPr>
              <a:t>Judge against what 3DCRT can realistically do for this anatomy — not against an inverse-planned VMAT distribution.</a:t>
            </a:r>
          </a:p>
        </p:txBody>
      </p:sp>
      <p:sp>
        <p:nvSpPr>
          <p:cNvPr id="21" name="TextBox 20"/>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22" name="TextBox 21"/>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13 / 34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FA85C"/>
        </a:solidFill>
        <a:effectLst/>
      </p:bgPr>
    </p:bg>
    <p:spTree>
      <p:nvGrpSpPr>
        <p:cNvPr id="1" name=""/>
        <p:cNvGrpSpPr/>
        <p:nvPr/>
      </p:nvGrpSpPr>
      <p:grpSpPr>
        <a:xfrm>
          <a:off x="0" y="0"/>
          <a:ext cx="0" cy="0"/>
          <a:chOff x="0" y="0"/>
          <a:chExt cx="0" cy="0"/>
        </a:xfrm>
      </p:grpSpPr>
      <p:sp>
        <p:nvSpPr>
          <p:cNvPr id="2" name="TextBox 1"/>
          <p:cNvSpPr txBox="1"/>
          <p:nvPr/>
        </p:nvSpPr>
        <p:spPr>
          <a:xfrm>
            <a:off x="749808" y="1170432"/>
            <a:ext cx="4206240" cy="2743200"/>
          </a:xfrm>
          <a:prstGeom prst="rect">
            <a:avLst/>
          </a:prstGeom>
          <a:noFill/>
        </p:spPr>
        <p:txBody>
          <a:bodyPr wrap="square" lIns="0" tIns="0" rIns="0" bIns="0" anchor="t">
            <a:noAutofit/>
          </a:bodyPr>
          <a:lstStyle/>
          <a:p>
            <a:pPr algn="l">
              <a:lnSpc>
                <a:spcPct val="118000"/>
              </a:lnSpc>
              <a:spcBef>
                <a:spcPts val="0"/>
              </a:spcBef>
              <a:spcAft>
                <a:spcPts val="400"/>
              </a:spcAft>
            </a:pPr>
            <a:r>
              <a:rPr sz="16800" b="1" i="0">
                <a:solidFill>
                  <a:srgbClr val="126437"/>
                </a:solidFill>
                <a:latin typeface="Georgia"/>
              </a:rPr>
              <a:t>02</a:t>
            </a:r>
          </a:p>
        </p:txBody>
      </p:sp>
      <p:sp>
        <p:nvSpPr>
          <p:cNvPr id="3" name="TextBox 2"/>
          <p:cNvSpPr txBox="1"/>
          <p:nvPr/>
        </p:nvSpPr>
        <p:spPr>
          <a:xfrm>
            <a:off x="932688" y="4224528"/>
            <a:ext cx="4023360" cy="365760"/>
          </a:xfrm>
          <a:prstGeom prst="rect">
            <a:avLst/>
          </a:prstGeom>
          <a:noFill/>
        </p:spPr>
        <p:txBody>
          <a:bodyPr wrap="square" lIns="0" tIns="0" rIns="0" bIns="0" anchor="t">
            <a:noAutofit/>
          </a:bodyPr>
          <a:lstStyle/>
          <a:p>
            <a:pPr algn="l">
              <a:lnSpc>
                <a:spcPct val="118000"/>
              </a:lnSpc>
              <a:spcBef>
                <a:spcPts val="0"/>
              </a:spcBef>
              <a:spcAft>
                <a:spcPts val="400"/>
              </a:spcAft>
            </a:pPr>
            <a:r>
              <a:rPr sz="1300" b="1" i="0" spc="300">
                <a:solidFill>
                  <a:srgbClr val="FFFFFF"/>
                </a:solidFill>
                <a:latin typeface="Consolas"/>
              </a:rPr>
              <a:t>BLOCK TWO</a:t>
            </a:r>
          </a:p>
        </p:txBody>
      </p:sp>
      <p:sp>
        <p:nvSpPr>
          <p:cNvPr id="4" name="Rectangle 3"/>
          <p:cNvSpPr/>
          <p:nvPr/>
        </p:nvSpPr>
        <p:spPr>
          <a:xfrm>
            <a:off x="4526280" y="1810512"/>
            <a:ext cx="4572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56048" y="1737360"/>
            <a:ext cx="6766560" cy="1188720"/>
          </a:xfrm>
          <a:prstGeom prst="rect">
            <a:avLst/>
          </a:prstGeom>
          <a:noFill/>
        </p:spPr>
        <p:txBody>
          <a:bodyPr wrap="square" lIns="0" tIns="0" rIns="0" bIns="0" anchor="t">
            <a:noAutofit/>
          </a:bodyPr>
          <a:lstStyle/>
          <a:p>
            <a:pPr algn="l">
              <a:lnSpc>
                <a:spcPct val="118000"/>
              </a:lnSpc>
              <a:spcBef>
                <a:spcPts val="0"/>
              </a:spcBef>
              <a:spcAft>
                <a:spcPts val="400"/>
              </a:spcAft>
            </a:pPr>
            <a:r>
              <a:rPr sz="4400" b="1" i="0">
                <a:solidFill>
                  <a:srgbClr val="FFFFFF"/>
                </a:solidFill>
                <a:latin typeface="Georgia"/>
              </a:rPr>
              <a:t>OAR Constraints</a:t>
            </a:r>
          </a:p>
        </p:txBody>
      </p:sp>
      <p:sp>
        <p:nvSpPr>
          <p:cNvPr id="6" name="Rounded Rectangle 5"/>
          <p:cNvSpPr/>
          <p:nvPr/>
        </p:nvSpPr>
        <p:spPr>
          <a:xfrm>
            <a:off x="4992624" y="2798064"/>
            <a:ext cx="1783080" cy="402336"/>
          </a:xfrm>
          <a:prstGeom prst="roundRect">
            <a:avLst>
              <a:gd name="adj" fmla="val 50000"/>
            </a:avLst>
          </a:prstGeom>
          <a:solidFill>
            <a:srgbClr val="1FA8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992624" y="2816352"/>
            <a:ext cx="1783080" cy="384048"/>
          </a:xfrm>
          <a:prstGeom prst="rect">
            <a:avLst/>
          </a:prstGeom>
          <a:noFill/>
        </p:spPr>
        <p:txBody>
          <a:bodyPr wrap="square" lIns="0" tIns="0" rIns="0" bIns="0" anchor="ctr">
            <a:noAutofit/>
          </a:bodyPr>
          <a:lstStyle/>
          <a:p>
            <a:pPr algn="ctr">
              <a:lnSpc>
                <a:spcPct val="118000"/>
              </a:lnSpc>
              <a:spcBef>
                <a:spcPts val="0"/>
              </a:spcBef>
              <a:spcAft>
                <a:spcPts val="400"/>
              </a:spcAft>
            </a:pPr>
            <a:r>
              <a:rPr sz="950" b="1" i="0" spc="130">
                <a:solidFill>
                  <a:srgbClr val="FFFFFF"/>
                </a:solidFill>
                <a:latin typeface="Consolas"/>
              </a:rPr>
              <a:t>10 MINUTES</a:t>
            </a:r>
          </a:p>
        </p:txBody>
      </p:sp>
      <p:sp>
        <p:nvSpPr>
          <p:cNvPr id="8" name="Oval 7"/>
          <p:cNvSpPr/>
          <p:nvPr/>
        </p:nvSpPr>
        <p:spPr>
          <a:xfrm>
            <a:off x="5010912" y="3639312"/>
            <a:ext cx="137160" cy="137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0" y="3547872"/>
            <a:ext cx="6309360" cy="457200"/>
          </a:xfrm>
          <a:prstGeom prst="rect">
            <a:avLst/>
          </a:prstGeom>
          <a:noFill/>
        </p:spPr>
        <p:txBody>
          <a:bodyPr wrap="square" lIns="0" tIns="0" rIns="0" bIns="0" anchor="t">
            <a:noAutofit/>
          </a:bodyPr>
          <a:lstStyle/>
          <a:p>
            <a:pPr algn="l">
              <a:lnSpc>
                <a:spcPct val="118000"/>
              </a:lnSpc>
              <a:spcBef>
                <a:spcPts val="0"/>
              </a:spcBef>
              <a:spcAft>
                <a:spcPts val="400"/>
              </a:spcAft>
            </a:pPr>
            <a:r>
              <a:rPr sz="1450" b="0" i="0">
                <a:solidFill>
                  <a:srgbClr val="FFFFFF"/>
                </a:solidFill>
                <a:latin typeface="Calibri"/>
              </a:rPr>
              <a:t>Serial vs parallel organs — architecture decides the metric</a:t>
            </a:r>
          </a:p>
        </p:txBody>
      </p:sp>
      <p:sp>
        <p:nvSpPr>
          <p:cNvPr id="10" name="Oval 9"/>
          <p:cNvSpPr/>
          <p:nvPr/>
        </p:nvSpPr>
        <p:spPr>
          <a:xfrm>
            <a:off x="5010912" y="4151376"/>
            <a:ext cx="137160" cy="137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303520" y="4059936"/>
            <a:ext cx="6309360" cy="457200"/>
          </a:xfrm>
          <a:prstGeom prst="rect">
            <a:avLst/>
          </a:prstGeom>
          <a:noFill/>
        </p:spPr>
        <p:txBody>
          <a:bodyPr wrap="square" lIns="0" tIns="0" rIns="0" bIns="0" anchor="t">
            <a:noAutofit/>
          </a:bodyPr>
          <a:lstStyle/>
          <a:p>
            <a:pPr algn="l">
              <a:lnSpc>
                <a:spcPct val="118000"/>
              </a:lnSpc>
              <a:spcBef>
                <a:spcPts val="0"/>
              </a:spcBef>
              <a:spcAft>
                <a:spcPts val="400"/>
              </a:spcAft>
            </a:pPr>
            <a:r>
              <a:rPr sz="1450" b="0" i="0">
                <a:solidFill>
                  <a:srgbClr val="FFFFFF"/>
                </a:solidFill>
                <a:latin typeface="Calibri"/>
              </a:rPr>
              <a:t>Tolerance doses, QUANTEC and dose–response</a:t>
            </a:r>
          </a:p>
        </p:txBody>
      </p:sp>
      <p:sp>
        <p:nvSpPr>
          <p:cNvPr id="12" name="Oval 11"/>
          <p:cNvSpPr/>
          <p:nvPr/>
        </p:nvSpPr>
        <p:spPr>
          <a:xfrm>
            <a:off x="5010912" y="4663440"/>
            <a:ext cx="137160" cy="137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03520" y="4572000"/>
            <a:ext cx="6309360" cy="457200"/>
          </a:xfrm>
          <a:prstGeom prst="rect">
            <a:avLst/>
          </a:prstGeom>
          <a:noFill/>
        </p:spPr>
        <p:txBody>
          <a:bodyPr wrap="square" lIns="0" tIns="0" rIns="0" bIns="0" anchor="t">
            <a:noAutofit/>
          </a:bodyPr>
          <a:lstStyle/>
          <a:p>
            <a:pPr algn="l">
              <a:lnSpc>
                <a:spcPct val="118000"/>
              </a:lnSpc>
              <a:spcBef>
                <a:spcPts val="0"/>
              </a:spcBef>
              <a:spcAft>
                <a:spcPts val="400"/>
              </a:spcAft>
            </a:pPr>
            <a:r>
              <a:rPr sz="1450" b="0" i="0">
                <a:solidFill>
                  <a:srgbClr val="FFFFFF"/>
                </a:solidFill>
                <a:latin typeface="Calibri"/>
              </a:rPr>
              <a:t>Clinical context, modifiers and the PRV</a:t>
            </a:r>
          </a:p>
        </p:txBody>
      </p:sp>
      <p:sp>
        <p:nvSpPr>
          <p:cNvPr id="14" name="TextBox 13"/>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CDEBF8"/>
                </a:solidFill>
                <a:latin typeface="Consolas"/>
              </a:rPr>
              <a:t>3DCRT PLAN EVALUATION  /  THEORY MODULE</a:t>
            </a:r>
          </a:p>
        </p:txBody>
      </p:sp>
      <p:sp>
        <p:nvSpPr>
          <p:cNvPr id="15" name="TextBox 14"/>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CDEBF8"/>
                </a:solidFill>
                <a:latin typeface="Consolas"/>
              </a:rPr>
              <a:t>14 / 34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1FA85C"/>
                </a:solidFill>
                <a:latin typeface="Consolas"/>
              </a:rPr>
              <a:t>BLOCK 2 · OAR CONSTRAINTS</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a:solidFill>
                  <a:srgbClr val="00A9E0"/>
                </a:solidFill>
                <a:latin typeface="Georgia"/>
              </a:rPr>
              <a:t>Serial vs parallel — architecture sets the rule</a:t>
            </a:r>
          </a:p>
        </p:txBody>
      </p:sp>
      <p:pic>
        <p:nvPicPr>
          <p:cNvPr id="4" name="Picture 3" descr="e_serial_parallel.png"/>
          <p:cNvPicPr>
            <a:picLocks noChangeAspect="1"/>
          </p:cNvPicPr>
          <p:nvPr/>
        </p:nvPicPr>
        <p:blipFill>
          <a:blip r:embed="rId3"/>
          <a:stretch>
            <a:fillRect/>
          </a:stretch>
        </p:blipFill>
        <p:spPr>
          <a:xfrm>
            <a:off x="3657600" y="1783080"/>
            <a:ext cx="8001000" cy="3939438"/>
          </a:xfrm>
          <a:prstGeom prst="rect">
            <a:avLst/>
          </a:prstGeom>
        </p:spPr>
      </p:pic>
      <p:sp>
        <p:nvSpPr>
          <p:cNvPr id="5" name="TextBox 4"/>
          <p:cNvSpPr txBox="1"/>
          <p:nvPr/>
        </p:nvSpPr>
        <p:spPr>
          <a:xfrm>
            <a:off x="566928" y="1828800"/>
            <a:ext cx="2926080" cy="502920"/>
          </a:xfrm>
          <a:prstGeom prst="rect">
            <a:avLst/>
          </a:prstGeom>
          <a:noFill/>
        </p:spPr>
        <p:txBody>
          <a:bodyPr wrap="square" lIns="0" tIns="0" rIns="0" bIns="0" anchor="t">
            <a:noAutofit/>
          </a:bodyPr>
          <a:lstStyle/>
          <a:p>
            <a:pPr algn="l">
              <a:lnSpc>
                <a:spcPct val="130000"/>
              </a:lnSpc>
              <a:spcBef>
                <a:spcPts val="0"/>
              </a:spcBef>
              <a:spcAft>
                <a:spcPts val="400"/>
              </a:spcAft>
            </a:pPr>
            <a:r>
              <a:rPr sz="1280" b="0" i="0">
                <a:solidFill>
                  <a:srgbClr val="5A7480"/>
                </a:solidFill>
                <a:latin typeface="Calibri"/>
              </a:rPr>
              <a:t>How an organ is wired decides which number on the DVH actually matters.</a:t>
            </a:r>
          </a:p>
        </p:txBody>
      </p:sp>
      <p:sp>
        <p:nvSpPr>
          <p:cNvPr id="6" name="Rounded Rectangle 5"/>
          <p:cNvSpPr/>
          <p:nvPr/>
        </p:nvSpPr>
        <p:spPr>
          <a:xfrm>
            <a:off x="566928" y="2697480"/>
            <a:ext cx="2926080" cy="1627632"/>
          </a:xfrm>
          <a:prstGeom prst="roundRect">
            <a:avLst>
              <a:gd name="adj" fmla="val 4500"/>
            </a:avLst>
          </a:prstGeom>
          <a:solidFill>
            <a:srgbClr val="E2EFF4"/>
          </a:solidFill>
          <a:ln w="15240">
            <a:solidFill>
              <a:srgbClr val="F07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096" y="2852928"/>
            <a:ext cx="2560320" cy="365760"/>
          </a:xfrm>
          <a:prstGeom prst="rect">
            <a:avLst/>
          </a:prstGeom>
          <a:noFill/>
        </p:spPr>
        <p:txBody>
          <a:bodyPr wrap="square" lIns="0" tIns="0" rIns="0" bIns="0" anchor="t">
            <a:noAutofit/>
          </a:bodyPr>
          <a:lstStyle/>
          <a:p>
            <a:pPr algn="l">
              <a:lnSpc>
                <a:spcPct val="118000"/>
              </a:lnSpc>
              <a:spcBef>
                <a:spcPts val="0"/>
              </a:spcBef>
              <a:spcAft>
                <a:spcPts val="400"/>
              </a:spcAft>
            </a:pPr>
            <a:r>
              <a:rPr sz="1150" b="1" i="0" spc="180">
                <a:solidFill>
                  <a:srgbClr val="F07D2E"/>
                </a:solidFill>
                <a:latin typeface="Consolas"/>
              </a:rPr>
              <a:t>SERIAL</a:t>
            </a:r>
          </a:p>
        </p:txBody>
      </p:sp>
      <p:sp>
        <p:nvSpPr>
          <p:cNvPr id="8" name="TextBox 7"/>
          <p:cNvSpPr txBox="1"/>
          <p:nvPr/>
        </p:nvSpPr>
        <p:spPr>
          <a:xfrm>
            <a:off x="768096" y="3200400"/>
            <a:ext cx="2606040" cy="1097280"/>
          </a:xfrm>
          <a:prstGeom prst="rect">
            <a:avLst/>
          </a:prstGeom>
          <a:noFill/>
        </p:spPr>
        <p:txBody>
          <a:bodyPr wrap="square" lIns="0" tIns="0" rIns="0" bIns="0" anchor="t">
            <a:noAutofit/>
          </a:bodyPr>
          <a:lstStyle/>
          <a:p>
            <a:pPr algn="l">
              <a:lnSpc>
                <a:spcPct val="126000"/>
              </a:lnSpc>
              <a:spcBef>
                <a:spcPts val="0"/>
              </a:spcBef>
              <a:spcAft>
                <a:spcPts val="400"/>
              </a:spcAft>
            </a:pPr>
            <a:r>
              <a:rPr sz="1150" b="0" i="0">
                <a:solidFill>
                  <a:srgbClr val="5A7480"/>
                </a:solidFill>
                <a:latin typeface="Calibri"/>
              </a:rPr>
              <a:t>One destroyed sub-unit fails the whole organ. Governed by </a:t>
            </a:r>
            <a:r>
              <a:rPr sz="1150" b="1" i="0">
                <a:solidFill>
                  <a:srgbClr val="14313C"/>
                </a:solidFill>
                <a:latin typeface="Calibri"/>
              </a:rPr>
              <a:t>Dmax</a:t>
            </a:r>
            <a:r>
              <a:rPr sz="1150" b="0" i="0">
                <a:solidFill>
                  <a:srgbClr val="5A7480"/>
                </a:solidFill>
                <a:latin typeface="Calibri"/>
              </a:rPr>
              <a:t>.</a:t>
            </a:r>
          </a:p>
        </p:txBody>
      </p:sp>
      <p:sp>
        <p:nvSpPr>
          <p:cNvPr id="9" name="Rounded Rectangle 8"/>
          <p:cNvSpPr/>
          <p:nvPr/>
        </p:nvSpPr>
        <p:spPr>
          <a:xfrm>
            <a:off x="566928" y="4498848"/>
            <a:ext cx="2926080" cy="1627632"/>
          </a:xfrm>
          <a:prstGeom prst="roundRect">
            <a:avLst>
              <a:gd name="adj" fmla="val 4500"/>
            </a:avLst>
          </a:prstGeom>
          <a:solidFill>
            <a:srgbClr val="E2EFF4"/>
          </a:solidFill>
          <a:ln w="15240">
            <a:solidFill>
              <a:srgbClr val="00A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8096" y="4654296"/>
            <a:ext cx="2560320" cy="365760"/>
          </a:xfrm>
          <a:prstGeom prst="rect">
            <a:avLst/>
          </a:prstGeom>
          <a:noFill/>
        </p:spPr>
        <p:txBody>
          <a:bodyPr wrap="square" lIns="0" tIns="0" rIns="0" bIns="0" anchor="t">
            <a:noAutofit/>
          </a:bodyPr>
          <a:lstStyle/>
          <a:p>
            <a:pPr algn="l">
              <a:lnSpc>
                <a:spcPct val="118000"/>
              </a:lnSpc>
              <a:spcBef>
                <a:spcPts val="0"/>
              </a:spcBef>
              <a:spcAft>
                <a:spcPts val="400"/>
              </a:spcAft>
            </a:pPr>
            <a:r>
              <a:rPr sz="1150" b="1" i="0" spc="180">
                <a:solidFill>
                  <a:srgbClr val="00A9E0"/>
                </a:solidFill>
                <a:latin typeface="Consolas"/>
              </a:rPr>
              <a:t>PARALLEL</a:t>
            </a:r>
          </a:p>
        </p:txBody>
      </p:sp>
      <p:sp>
        <p:nvSpPr>
          <p:cNvPr id="11" name="TextBox 10"/>
          <p:cNvSpPr txBox="1"/>
          <p:nvPr/>
        </p:nvSpPr>
        <p:spPr>
          <a:xfrm>
            <a:off x="768096" y="5001768"/>
            <a:ext cx="2606040" cy="1097280"/>
          </a:xfrm>
          <a:prstGeom prst="rect">
            <a:avLst/>
          </a:prstGeom>
          <a:noFill/>
        </p:spPr>
        <p:txBody>
          <a:bodyPr wrap="square" lIns="0" tIns="0" rIns="0" bIns="0" anchor="t">
            <a:noAutofit/>
          </a:bodyPr>
          <a:lstStyle/>
          <a:p>
            <a:pPr algn="l">
              <a:lnSpc>
                <a:spcPct val="126000"/>
              </a:lnSpc>
              <a:spcBef>
                <a:spcPts val="0"/>
              </a:spcBef>
              <a:spcAft>
                <a:spcPts val="400"/>
              </a:spcAft>
            </a:pPr>
            <a:r>
              <a:rPr sz="1150" b="0" i="0">
                <a:solidFill>
                  <a:srgbClr val="5A7480"/>
                </a:solidFill>
                <a:latin typeface="Calibri"/>
              </a:rPr>
              <a:t>Redundant sub-units; function survives if enough remain. Governed by </a:t>
            </a:r>
            <a:r>
              <a:rPr sz="1150" b="1" i="0">
                <a:solidFill>
                  <a:srgbClr val="14313C"/>
                </a:solidFill>
                <a:latin typeface="Calibri"/>
              </a:rPr>
              <a:t>mean dose / Vx.</a:t>
            </a:r>
          </a:p>
        </p:txBody>
      </p:sp>
      <p:sp>
        <p:nvSpPr>
          <p:cNvPr id="12" name="TextBox 11"/>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13" name="TextBox 12"/>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15 / 34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1FA85C"/>
                </a:solidFill>
                <a:latin typeface="Consolas"/>
              </a:rPr>
              <a:t>BLOCK 2 · OAR CONSTRAINTS</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a:solidFill>
                  <a:srgbClr val="00A9E0"/>
                </a:solidFill>
                <a:latin typeface="Georgia"/>
              </a:rPr>
              <a:t>Tolerance doses — where the limits come from</a:t>
            </a:r>
          </a:p>
        </p:txBody>
      </p:sp>
      <p:sp>
        <p:nvSpPr>
          <p:cNvPr id="4" name="Rounded Rectangle 3"/>
          <p:cNvSpPr/>
          <p:nvPr/>
        </p:nvSpPr>
        <p:spPr>
          <a:xfrm>
            <a:off x="566928" y="1810512"/>
            <a:ext cx="3584448" cy="2697480"/>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1810512"/>
            <a:ext cx="3584448" cy="64008"/>
          </a:xfrm>
          <a:prstGeom prst="rect">
            <a:avLst/>
          </a:prstGeom>
          <a:solidFill>
            <a:srgbClr val="96A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2011680"/>
            <a:ext cx="3017520" cy="411480"/>
          </a:xfrm>
          <a:prstGeom prst="rect">
            <a:avLst/>
          </a:prstGeom>
          <a:noFill/>
        </p:spPr>
        <p:txBody>
          <a:bodyPr wrap="square" lIns="0" tIns="0" rIns="0" bIns="0" anchor="t">
            <a:noAutofit/>
          </a:bodyPr>
          <a:lstStyle/>
          <a:p>
            <a:pPr algn="l">
              <a:lnSpc>
                <a:spcPct val="118000"/>
              </a:lnSpc>
              <a:spcBef>
                <a:spcPts val="0"/>
              </a:spcBef>
              <a:spcAft>
                <a:spcPts val="400"/>
              </a:spcAft>
            </a:pPr>
            <a:r>
              <a:rPr sz="1100" b="1" i="0" spc="160">
                <a:solidFill>
                  <a:srgbClr val="96AAB4"/>
                </a:solidFill>
                <a:latin typeface="Consolas"/>
              </a:rPr>
              <a:t>1991</a:t>
            </a:r>
          </a:p>
        </p:txBody>
      </p:sp>
      <p:sp>
        <p:nvSpPr>
          <p:cNvPr id="7" name="TextBox 6"/>
          <p:cNvSpPr txBox="1"/>
          <p:nvPr/>
        </p:nvSpPr>
        <p:spPr>
          <a:xfrm>
            <a:off x="859536" y="2340864"/>
            <a:ext cx="3108960" cy="502920"/>
          </a:xfrm>
          <a:prstGeom prst="rect">
            <a:avLst/>
          </a:prstGeom>
          <a:noFill/>
        </p:spPr>
        <p:txBody>
          <a:bodyPr wrap="square" lIns="0" tIns="0" rIns="0" bIns="0" anchor="t">
            <a:noAutofit/>
          </a:bodyPr>
          <a:lstStyle/>
          <a:p>
            <a:pPr algn="l">
              <a:lnSpc>
                <a:spcPct val="118000"/>
              </a:lnSpc>
              <a:spcBef>
                <a:spcPts val="0"/>
              </a:spcBef>
              <a:spcAft>
                <a:spcPts val="400"/>
              </a:spcAft>
            </a:pPr>
            <a:r>
              <a:rPr sz="1900" b="1" i="0">
                <a:solidFill>
                  <a:srgbClr val="14313C"/>
                </a:solidFill>
                <a:latin typeface="Georgia"/>
              </a:rPr>
              <a:t>Emami</a:t>
            </a:r>
          </a:p>
        </p:txBody>
      </p:sp>
      <p:sp>
        <p:nvSpPr>
          <p:cNvPr id="8" name="TextBox 7"/>
          <p:cNvSpPr txBox="1"/>
          <p:nvPr/>
        </p:nvSpPr>
        <p:spPr>
          <a:xfrm>
            <a:off x="859536" y="2889504"/>
            <a:ext cx="3127248" cy="1554480"/>
          </a:xfrm>
          <a:prstGeom prst="rect">
            <a:avLst/>
          </a:prstGeom>
          <a:noFill/>
        </p:spPr>
        <p:txBody>
          <a:bodyPr wrap="square" lIns="0" tIns="0" rIns="0" bIns="0" anchor="t">
            <a:noAutofit/>
          </a:bodyPr>
          <a:lstStyle/>
          <a:p>
            <a:pPr algn="l">
              <a:lnSpc>
                <a:spcPct val="130000"/>
              </a:lnSpc>
              <a:spcBef>
                <a:spcPts val="0"/>
              </a:spcBef>
              <a:spcAft>
                <a:spcPts val="400"/>
              </a:spcAft>
            </a:pPr>
            <a:r>
              <a:rPr sz="1170" b="0" i="0">
                <a:solidFill>
                  <a:srgbClr val="5A7480"/>
                </a:solidFill>
                <a:latin typeface="Calibri"/>
              </a:rPr>
              <a:t>First systematic tolerance table — TD5/5 and TD50/5 for 1/3, 2/3 and whole-organ volumes. Largely expert consensus.</a:t>
            </a:r>
          </a:p>
        </p:txBody>
      </p:sp>
      <p:sp>
        <p:nvSpPr>
          <p:cNvPr id="9" name="Rounded Rectangle 8"/>
          <p:cNvSpPr/>
          <p:nvPr/>
        </p:nvSpPr>
        <p:spPr>
          <a:xfrm>
            <a:off x="4306824" y="1810512"/>
            <a:ext cx="3584448" cy="2697480"/>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06824" y="1810512"/>
            <a:ext cx="3584448" cy="64008"/>
          </a:xfrm>
          <a:prstGeom prst="rect">
            <a:avLst/>
          </a:prstGeom>
          <a:solidFill>
            <a:srgbClr val="1F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99432" y="2011680"/>
            <a:ext cx="3017520" cy="411480"/>
          </a:xfrm>
          <a:prstGeom prst="rect">
            <a:avLst/>
          </a:prstGeom>
          <a:noFill/>
        </p:spPr>
        <p:txBody>
          <a:bodyPr wrap="square" lIns="0" tIns="0" rIns="0" bIns="0" anchor="t">
            <a:noAutofit/>
          </a:bodyPr>
          <a:lstStyle/>
          <a:p>
            <a:pPr algn="l">
              <a:lnSpc>
                <a:spcPct val="118000"/>
              </a:lnSpc>
              <a:spcBef>
                <a:spcPts val="0"/>
              </a:spcBef>
              <a:spcAft>
                <a:spcPts val="400"/>
              </a:spcAft>
            </a:pPr>
            <a:r>
              <a:rPr sz="1100" b="1" i="0" spc="160">
                <a:solidFill>
                  <a:srgbClr val="1FA85C"/>
                </a:solidFill>
                <a:latin typeface="Consolas"/>
              </a:rPr>
              <a:t>2010</a:t>
            </a:r>
          </a:p>
        </p:txBody>
      </p:sp>
      <p:sp>
        <p:nvSpPr>
          <p:cNvPr id="12" name="TextBox 11"/>
          <p:cNvSpPr txBox="1"/>
          <p:nvPr/>
        </p:nvSpPr>
        <p:spPr>
          <a:xfrm>
            <a:off x="4599432" y="2340864"/>
            <a:ext cx="3108960" cy="502920"/>
          </a:xfrm>
          <a:prstGeom prst="rect">
            <a:avLst/>
          </a:prstGeom>
          <a:noFill/>
        </p:spPr>
        <p:txBody>
          <a:bodyPr wrap="square" lIns="0" tIns="0" rIns="0" bIns="0" anchor="t">
            <a:noAutofit/>
          </a:bodyPr>
          <a:lstStyle/>
          <a:p>
            <a:pPr algn="l">
              <a:lnSpc>
                <a:spcPct val="118000"/>
              </a:lnSpc>
              <a:spcBef>
                <a:spcPts val="0"/>
              </a:spcBef>
              <a:spcAft>
                <a:spcPts val="400"/>
              </a:spcAft>
            </a:pPr>
            <a:r>
              <a:rPr sz="1900" b="1" i="0">
                <a:solidFill>
                  <a:srgbClr val="14313C"/>
                </a:solidFill>
                <a:latin typeface="Georgia"/>
              </a:rPr>
              <a:t>QUANTEC</a:t>
            </a:r>
          </a:p>
        </p:txBody>
      </p:sp>
      <p:sp>
        <p:nvSpPr>
          <p:cNvPr id="13" name="TextBox 12"/>
          <p:cNvSpPr txBox="1"/>
          <p:nvPr/>
        </p:nvSpPr>
        <p:spPr>
          <a:xfrm>
            <a:off x="4599432" y="2889504"/>
            <a:ext cx="3127248" cy="1554480"/>
          </a:xfrm>
          <a:prstGeom prst="rect">
            <a:avLst/>
          </a:prstGeom>
          <a:noFill/>
        </p:spPr>
        <p:txBody>
          <a:bodyPr wrap="square" lIns="0" tIns="0" rIns="0" bIns="0" anchor="t">
            <a:noAutofit/>
          </a:bodyPr>
          <a:lstStyle/>
          <a:p>
            <a:pPr algn="l">
              <a:lnSpc>
                <a:spcPct val="130000"/>
              </a:lnSpc>
              <a:spcBef>
                <a:spcPts val="0"/>
              </a:spcBef>
              <a:spcAft>
                <a:spcPts val="400"/>
              </a:spcAft>
            </a:pPr>
            <a:r>
              <a:rPr sz="1170" b="0" i="0">
                <a:solidFill>
                  <a:srgbClr val="5A7480"/>
                </a:solidFill>
                <a:latin typeface="Calibri"/>
              </a:rPr>
              <a:t>Quantitative Analysis of Normal Tissue Effects in the Clinic — evidence-based, organ-by-organ dose–volume limits with defined endpoints. The working reference.</a:t>
            </a:r>
          </a:p>
        </p:txBody>
      </p:sp>
      <p:sp>
        <p:nvSpPr>
          <p:cNvPr id="14" name="Rounded Rectangle 13"/>
          <p:cNvSpPr/>
          <p:nvPr/>
        </p:nvSpPr>
        <p:spPr>
          <a:xfrm>
            <a:off x="8046720" y="1810512"/>
            <a:ext cx="3584448" cy="2697480"/>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0" y="1810512"/>
            <a:ext cx="3584448" cy="64008"/>
          </a:xfrm>
          <a:prstGeom prst="rect">
            <a:avLst/>
          </a:prstGeom>
          <a:solidFill>
            <a:srgbClr val="00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39328" y="2011680"/>
            <a:ext cx="3017520" cy="411480"/>
          </a:xfrm>
          <a:prstGeom prst="rect">
            <a:avLst/>
          </a:prstGeom>
          <a:noFill/>
        </p:spPr>
        <p:txBody>
          <a:bodyPr wrap="square" lIns="0" tIns="0" rIns="0" bIns="0" anchor="t">
            <a:noAutofit/>
          </a:bodyPr>
          <a:lstStyle/>
          <a:p>
            <a:pPr algn="l">
              <a:lnSpc>
                <a:spcPct val="118000"/>
              </a:lnSpc>
              <a:spcBef>
                <a:spcPts val="0"/>
              </a:spcBef>
              <a:spcAft>
                <a:spcPts val="400"/>
              </a:spcAft>
            </a:pPr>
            <a:r>
              <a:rPr sz="1100" b="1" i="0" spc="160">
                <a:solidFill>
                  <a:srgbClr val="00A9E0"/>
                </a:solidFill>
                <a:latin typeface="Consolas"/>
              </a:rPr>
              <a:t>NOW</a:t>
            </a:r>
          </a:p>
        </p:txBody>
      </p:sp>
      <p:sp>
        <p:nvSpPr>
          <p:cNvPr id="17" name="TextBox 16"/>
          <p:cNvSpPr txBox="1"/>
          <p:nvPr/>
        </p:nvSpPr>
        <p:spPr>
          <a:xfrm>
            <a:off x="8339328" y="2340864"/>
            <a:ext cx="3108960" cy="502920"/>
          </a:xfrm>
          <a:prstGeom prst="rect">
            <a:avLst/>
          </a:prstGeom>
          <a:noFill/>
        </p:spPr>
        <p:txBody>
          <a:bodyPr wrap="square" lIns="0" tIns="0" rIns="0" bIns="0" anchor="t">
            <a:noAutofit/>
          </a:bodyPr>
          <a:lstStyle/>
          <a:p>
            <a:pPr algn="l">
              <a:lnSpc>
                <a:spcPct val="118000"/>
              </a:lnSpc>
              <a:spcBef>
                <a:spcPts val="0"/>
              </a:spcBef>
              <a:spcAft>
                <a:spcPts val="400"/>
              </a:spcAft>
            </a:pPr>
            <a:r>
              <a:rPr sz="1900" b="1" i="0">
                <a:solidFill>
                  <a:srgbClr val="14313C"/>
                </a:solidFill>
                <a:latin typeface="Georgia"/>
              </a:rPr>
              <a:t>Protocol sets</a:t>
            </a:r>
          </a:p>
        </p:txBody>
      </p:sp>
      <p:sp>
        <p:nvSpPr>
          <p:cNvPr id="18" name="TextBox 17"/>
          <p:cNvSpPr txBox="1"/>
          <p:nvPr/>
        </p:nvSpPr>
        <p:spPr>
          <a:xfrm>
            <a:off x="8339328" y="2889504"/>
            <a:ext cx="3127248" cy="1554480"/>
          </a:xfrm>
          <a:prstGeom prst="rect">
            <a:avLst/>
          </a:prstGeom>
          <a:noFill/>
        </p:spPr>
        <p:txBody>
          <a:bodyPr wrap="square" lIns="0" tIns="0" rIns="0" bIns="0" anchor="t">
            <a:noAutofit/>
          </a:bodyPr>
          <a:lstStyle/>
          <a:p>
            <a:pPr algn="l">
              <a:lnSpc>
                <a:spcPct val="130000"/>
              </a:lnSpc>
              <a:spcBef>
                <a:spcPts val="0"/>
              </a:spcBef>
              <a:spcAft>
                <a:spcPts val="400"/>
              </a:spcAft>
            </a:pPr>
            <a:r>
              <a:rPr sz="1170" b="0" i="0">
                <a:solidFill>
                  <a:srgbClr val="5A7480"/>
                </a:solidFill>
                <a:latin typeface="Calibri"/>
              </a:rPr>
              <a:t>RTOG / NRG and national protocol constraints; HyTEC for hypofractionation and SBRT. Always plan to the named protocol.</a:t>
            </a:r>
          </a:p>
        </p:txBody>
      </p:sp>
      <p:sp>
        <p:nvSpPr>
          <p:cNvPr id="19" name="Rounded Rectangle 18"/>
          <p:cNvSpPr/>
          <p:nvPr/>
        </p:nvSpPr>
        <p:spPr>
          <a:xfrm>
            <a:off x="566928" y="4736592"/>
            <a:ext cx="11064240" cy="1499616"/>
          </a:xfrm>
          <a:prstGeom prst="roundRect">
            <a:avLst>
              <a:gd name="adj" fmla="val 4500"/>
            </a:avLst>
          </a:prstGeom>
          <a:solidFill>
            <a:srgbClr val="E2EFF4"/>
          </a:solidFill>
          <a:ln w="15240">
            <a:solidFill>
              <a:srgbClr val="F07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8" y="4882896"/>
            <a:ext cx="10515600" cy="365760"/>
          </a:xfrm>
          <a:prstGeom prst="rect">
            <a:avLst/>
          </a:prstGeom>
          <a:noFill/>
        </p:spPr>
        <p:txBody>
          <a:bodyPr wrap="square" lIns="0" tIns="0" rIns="0" bIns="0" anchor="t">
            <a:noAutofit/>
          </a:bodyPr>
          <a:lstStyle/>
          <a:p>
            <a:pPr algn="l">
              <a:lnSpc>
                <a:spcPct val="118000"/>
              </a:lnSpc>
              <a:spcBef>
                <a:spcPts val="0"/>
              </a:spcBef>
              <a:spcAft>
                <a:spcPts val="400"/>
              </a:spcAft>
            </a:pPr>
            <a:r>
              <a:rPr sz="1050" b="1" i="0" spc="160">
                <a:solidFill>
                  <a:srgbClr val="F07D2E"/>
                </a:solidFill>
                <a:latin typeface="Consolas"/>
              </a:rPr>
              <a:t>THE CAVEAT THAT MATTERS</a:t>
            </a:r>
          </a:p>
        </p:txBody>
      </p:sp>
      <p:sp>
        <p:nvSpPr>
          <p:cNvPr id="21" name="TextBox 20"/>
          <p:cNvSpPr txBox="1"/>
          <p:nvPr/>
        </p:nvSpPr>
        <p:spPr>
          <a:xfrm>
            <a:off x="841248" y="5230368"/>
            <a:ext cx="10698480" cy="868680"/>
          </a:xfrm>
          <a:prstGeom prst="rect">
            <a:avLst/>
          </a:prstGeom>
          <a:noFill/>
        </p:spPr>
        <p:txBody>
          <a:bodyPr wrap="square" lIns="0" tIns="0" rIns="0" bIns="0" anchor="t">
            <a:noAutofit/>
          </a:bodyPr>
          <a:lstStyle/>
          <a:p>
            <a:pPr algn="l">
              <a:lnSpc>
                <a:spcPct val="132000"/>
              </a:lnSpc>
              <a:spcBef>
                <a:spcPts val="0"/>
              </a:spcBef>
              <a:spcAft>
                <a:spcPts val="400"/>
              </a:spcAft>
            </a:pPr>
            <a:r>
              <a:rPr sz="1280" b="0" i="0">
                <a:solidFill>
                  <a:srgbClr val="5A7480"/>
                </a:solidFill>
                <a:latin typeface="Calibri"/>
              </a:rPr>
              <a:t>Most QUANTEC data come from conventionally fractionated 3DCRT (~1.8–2 Gy per fraction). Constraints assume that schedule. Change the fractionation, or re-irradiate, and you must think in </a:t>
            </a:r>
            <a:r>
              <a:rPr sz="1280" b="1" i="0">
                <a:solidFill>
                  <a:srgbClr val="14313C"/>
                </a:solidFill>
                <a:latin typeface="Calibri"/>
              </a:rPr>
              <a:t>BED / EQD2</a:t>
            </a:r>
            <a:r>
              <a:rPr sz="1280" b="0" i="0">
                <a:solidFill>
                  <a:srgbClr val="5A7480"/>
                </a:solidFill>
                <a:latin typeface="Calibri"/>
              </a:rPr>
              <a:t> — never read a 2 Gy/fraction number straight onto an SBRT plan.</a:t>
            </a:r>
          </a:p>
        </p:txBody>
      </p:sp>
      <p:sp>
        <p:nvSpPr>
          <p:cNvPr id="22" name="TextBox 21"/>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23" name="TextBox 22"/>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16 / 34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1FA85C"/>
                </a:solidFill>
                <a:latin typeface="Consolas"/>
              </a:rPr>
              <a:t>BLOCK 2 · OAR CONSTRAINTS</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a:solidFill>
                  <a:srgbClr val="00A9E0"/>
                </a:solidFill>
                <a:latin typeface="Georgia"/>
              </a:rPr>
              <a:t>Match the metric to the organ</a:t>
            </a:r>
          </a:p>
        </p:txBody>
      </p:sp>
      <p:sp>
        <p:nvSpPr>
          <p:cNvPr id="4" name="TextBox 3"/>
          <p:cNvSpPr txBox="1"/>
          <p:nvPr/>
        </p:nvSpPr>
        <p:spPr>
          <a:xfrm>
            <a:off x="566928" y="1572768"/>
            <a:ext cx="10972800" cy="457200"/>
          </a:xfrm>
          <a:prstGeom prst="rect">
            <a:avLst/>
          </a:prstGeom>
          <a:noFill/>
        </p:spPr>
        <p:txBody>
          <a:bodyPr wrap="square" lIns="0" tIns="0" rIns="0" bIns="0" anchor="t">
            <a:noAutofit/>
          </a:bodyPr>
          <a:lstStyle/>
          <a:p>
            <a:pPr algn="l">
              <a:lnSpc>
                <a:spcPct val="118000"/>
              </a:lnSpc>
              <a:spcBef>
                <a:spcPts val="0"/>
              </a:spcBef>
              <a:spcAft>
                <a:spcPts val="400"/>
              </a:spcAft>
            </a:pPr>
            <a:r>
              <a:rPr sz="1300" b="0" i="1">
                <a:solidFill>
                  <a:srgbClr val="5A7480"/>
                </a:solidFill>
                <a:latin typeface="Calibri"/>
              </a:rPr>
              <a:t>Read the constraint, identify the organ type, then pull the matching number off the DVH. Mismatched metrics are a classic error.</a:t>
            </a:r>
          </a:p>
        </p:txBody>
      </p:sp>
      <p:sp>
        <p:nvSpPr>
          <p:cNvPr id="5" name="Rounded Rectangle 4"/>
          <p:cNvSpPr/>
          <p:nvPr/>
        </p:nvSpPr>
        <p:spPr>
          <a:xfrm>
            <a:off x="566928" y="2194560"/>
            <a:ext cx="11064240" cy="914400"/>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66928" y="2194560"/>
            <a:ext cx="64008" cy="914400"/>
          </a:xfrm>
          <a:prstGeom prst="rect">
            <a:avLst/>
          </a:prstGeom>
          <a:solidFill>
            <a:srgbClr val="F07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313432"/>
            <a:ext cx="2743200" cy="685800"/>
          </a:xfrm>
          <a:prstGeom prst="rect">
            <a:avLst/>
          </a:prstGeom>
          <a:noFill/>
        </p:spPr>
        <p:txBody>
          <a:bodyPr wrap="square" lIns="0" tIns="0" rIns="0" bIns="0" anchor="ctr">
            <a:noAutofit/>
          </a:bodyPr>
          <a:lstStyle/>
          <a:p>
            <a:pPr algn="l">
              <a:lnSpc>
                <a:spcPct val="106000"/>
              </a:lnSpc>
              <a:spcBef>
                <a:spcPts val="0"/>
              </a:spcBef>
              <a:spcAft>
                <a:spcPts val="400"/>
              </a:spcAft>
            </a:pPr>
            <a:r>
              <a:rPr sz="1550" b="1" i="0">
                <a:solidFill>
                  <a:srgbClr val="14313C"/>
                </a:solidFill>
                <a:latin typeface="Georgia"/>
              </a:rPr>
              <a:t>Dmax / near-max</a:t>
            </a:r>
          </a:p>
        </p:txBody>
      </p:sp>
      <p:sp>
        <p:nvSpPr>
          <p:cNvPr id="8" name="Rounded Rectangle 7"/>
          <p:cNvSpPr/>
          <p:nvPr/>
        </p:nvSpPr>
        <p:spPr>
          <a:xfrm>
            <a:off x="3749039" y="2478024"/>
            <a:ext cx="1481328" cy="347472"/>
          </a:xfrm>
          <a:prstGeom prst="roundRect">
            <a:avLst>
              <a:gd name="adj" fmla="val 50000"/>
            </a:avLst>
          </a:prstGeom>
          <a:solidFill>
            <a:srgbClr val="E2EFF4"/>
          </a:solidFill>
          <a:ln w="12700">
            <a:solidFill>
              <a:srgbClr val="F07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49039" y="2491740"/>
            <a:ext cx="1481328" cy="329184"/>
          </a:xfrm>
          <a:prstGeom prst="rect">
            <a:avLst/>
          </a:prstGeom>
          <a:noFill/>
        </p:spPr>
        <p:txBody>
          <a:bodyPr wrap="square" lIns="0" tIns="0" rIns="0" bIns="0" anchor="ctr">
            <a:noAutofit/>
          </a:bodyPr>
          <a:lstStyle/>
          <a:p>
            <a:pPr algn="ctr">
              <a:lnSpc>
                <a:spcPct val="118000"/>
              </a:lnSpc>
              <a:spcBef>
                <a:spcPts val="0"/>
              </a:spcBef>
              <a:spcAft>
                <a:spcPts val="400"/>
              </a:spcAft>
            </a:pPr>
            <a:r>
              <a:rPr sz="1050" b="1" i="0">
                <a:solidFill>
                  <a:srgbClr val="F07D2E"/>
                </a:solidFill>
                <a:latin typeface="Consolas"/>
              </a:rPr>
              <a:t>D0.03cc · D1cc</a:t>
            </a:r>
          </a:p>
        </p:txBody>
      </p:sp>
      <p:sp>
        <p:nvSpPr>
          <p:cNvPr id="10" name="TextBox 9"/>
          <p:cNvSpPr txBox="1"/>
          <p:nvPr/>
        </p:nvSpPr>
        <p:spPr>
          <a:xfrm>
            <a:off x="5486400" y="2313432"/>
            <a:ext cx="5943600" cy="685800"/>
          </a:xfrm>
          <a:prstGeom prst="rect">
            <a:avLst/>
          </a:prstGeom>
          <a:noFill/>
        </p:spPr>
        <p:txBody>
          <a:bodyPr wrap="square" lIns="0" tIns="0" rIns="0" bIns="0" anchor="ctr">
            <a:noAutofit/>
          </a:bodyPr>
          <a:lstStyle/>
          <a:p>
            <a:pPr algn="l">
              <a:lnSpc>
                <a:spcPct val="122000"/>
              </a:lnSpc>
              <a:spcBef>
                <a:spcPts val="0"/>
              </a:spcBef>
              <a:spcAft>
                <a:spcPts val="400"/>
              </a:spcAft>
            </a:pPr>
            <a:r>
              <a:rPr sz="1230" b="0" i="0">
                <a:solidFill>
                  <a:srgbClr val="5A7480"/>
                </a:solidFill>
                <a:latin typeface="Calibri"/>
              </a:rPr>
              <a:t>Serial organs — spinal cord, brainstem, optic chiasm &amp; nerves</a:t>
            </a:r>
          </a:p>
        </p:txBody>
      </p:sp>
      <p:sp>
        <p:nvSpPr>
          <p:cNvPr id="11" name="Rounded Rectangle 10"/>
          <p:cNvSpPr/>
          <p:nvPr/>
        </p:nvSpPr>
        <p:spPr>
          <a:xfrm>
            <a:off x="566928" y="3218688"/>
            <a:ext cx="11064240" cy="914400"/>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66928" y="3218688"/>
            <a:ext cx="64008" cy="914400"/>
          </a:xfrm>
          <a:prstGeom prst="rect">
            <a:avLst/>
          </a:prstGeom>
          <a:solidFill>
            <a:srgbClr val="00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337560"/>
            <a:ext cx="2743200" cy="685800"/>
          </a:xfrm>
          <a:prstGeom prst="rect">
            <a:avLst/>
          </a:prstGeom>
          <a:noFill/>
        </p:spPr>
        <p:txBody>
          <a:bodyPr wrap="square" lIns="0" tIns="0" rIns="0" bIns="0" anchor="ctr">
            <a:noAutofit/>
          </a:bodyPr>
          <a:lstStyle/>
          <a:p>
            <a:pPr algn="l">
              <a:lnSpc>
                <a:spcPct val="106000"/>
              </a:lnSpc>
              <a:spcBef>
                <a:spcPts val="0"/>
              </a:spcBef>
              <a:spcAft>
                <a:spcPts val="400"/>
              </a:spcAft>
            </a:pPr>
            <a:r>
              <a:rPr sz="1550" b="1" i="0">
                <a:solidFill>
                  <a:srgbClr val="14313C"/>
                </a:solidFill>
                <a:latin typeface="Georgia"/>
              </a:rPr>
              <a:t>Mean dose</a:t>
            </a:r>
          </a:p>
        </p:txBody>
      </p:sp>
      <p:sp>
        <p:nvSpPr>
          <p:cNvPr id="14" name="Rounded Rectangle 13"/>
          <p:cNvSpPr/>
          <p:nvPr/>
        </p:nvSpPr>
        <p:spPr>
          <a:xfrm>
            <a:off x="3749039" y="3502152"/>
            <a:ext cx="1481328" cy="347472"/>
          </a:xfrm>
          <a:prstGeom prst="roundRect">
            <a:avLst>
              <a:gd name="adj" fmla="val 50000"/>
            </a:avLst>
          </a:prstGeom>
          <a:solidFill>
            <a:srgbClr val="E2EFF4"/>
          </a:solidFill>
          <a:ln w="12700">
            <a:solidFill>
              <a:srgbClr val="00A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39" y="3515868"/>
            <a:ext cx="1481328" cy="329184"/>
          </a:xfrm>
          <a:prstGeom prst="rect">
            <a:avLst/>
          </a:prstGeom>
          <a:noFill/>
        </p:spPr>
        <p:txBody>
          <a:bodyPr wrap="square" lIns="0" tIns="0" rIns="0" bIns="0" anchor="ctr">
            <a:noAutofit/>
          </a:bodyPr>
          <a:lstStyle/>
          <a:p>
            <a:pPr algn="ctr">
              <a:lnSpc>
                <a:spcPct val="118000"/>
              </a:lnSpc>
              <a:spcBef>
                <a:spcPts val="0"/>
              </a:spcBef>
              <a:spcAft>
                <a:spcPts val="400"/>
              </a:spcAft>
            </a:pPr>
            <a:r>
              <a:rPr sz="1050" b="1" i="0">
                <a:solidFill>
                  <a:srgbClr val="00A9E0"/>
                </a:solidFill>
                <a:latin typeface="Consolas"/>
              </a:rPr>
              <a:t>Dmean</a:t>
            </a:r>
          </a:p>
        </p:txBody>
      </p:sp>
      <p:sp>
        <p:nvSpPr>
          <p:cNvPr id="16" name="TextBox 15"/>
          <p:cNvSpPr txBox="1"/>
          <p:nvPr/>
        </p:nvSpPr>
        <p:spPr>
          <a:xfrm>
            <a:off x="5486400" y="3337560"/>
            <a:ext cx="5943600" cy="685800"/>
          </a:xfrm>
          <a:prstGeom prst="rect">
            <a:avLst/>
          </a:prstGeom>
          <a:noFill/>
        </p:spPr>
        <p:txBody>
          <a:bodyPr wrap="square" lIns="0" tIns="0" rIns="0" bIns="0" anchor="ctr">
            <a:noAutofit/>
          </a:bodyPr>
          <a:lstStyle/>
          <a:p>
            <a:pPr algn="l">
              <a:lnSpc>
                <a:spcPct val="122000"/>
              </a:lnSpc>
              <a:spcBef>
                <a:spcPts val="0"/>
              </a:spcBef>
              <a:spcAft>
                <a:spcPts val="400"/>
              </a:spcAft>
            </a:pPr>
            <a:r>
              <a:rPr sz="1230" b="0" i="0">
                <a:solidFill>
                  <a:srgbClr val="5A7480"/>
                </a:solidFill>
                <a:latin typeface="Calibri"/>
              </a:rPr>
              <a:t>Parallel organs — parotid (xerostomia), lung (pneumonitis), liver, kidney</a:t>
            </a:r>
          </a:p>
        </p:txBody>
      </p:sp>
      <p:sp>
        <p:nvSpPr>
          <p:cNvPr id="17" name="Rounded Rectangle 16"/>
          <p:cNvSpPr/>
          <p:nvPr/>
        </p:nvSpPr>
        <p:spPr>
          <a:xfrm>
            <a:off x="566928" y="4242816"/>
            <a:ext cx="11064240" cy="914400"/>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66928" y="4242816"/>
            <a:ext cx="64008" cy="914400"/>
          </a:xfrm>
          <a:prstGeom prst="rect">
            <a:avLst/>
          </a:prstGeom>
          <a:solidFill>
            <a:srgbClr val="1F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4361688"/>
            <a:ext cx="2743200" cy="685800"/>
          </a:xfrm>
          <a:prstGeom prst="rect">
            <a:avLst/>
          </a:prstGeom>
          <a:noFill/>
        </p:spPr>
        <p:txBody>
          <a:bodyPr wrap="square" lIns="0" tIns="0" rIns="0" bIns="0" anchor="ctr">
            <a:noAutofit/>
          </a:bodyPr>
          <a:lstStyle/>
          <a:p>
            <a:pPr algn="l">
              <a:lnSpc>
                <a:spcPct val="106000"/>
              </a:lnSpc>
              <a:spcBef>
                <a:spcPts val="0"/>
              </a:spcBef>
              <a:spcAft>
                <a:spcPts val="400"/>
              </a:spcAft>
            </a:pPr>
            <a:r>
              <a:rPr sz="1550" b="1" i="0">
                <a:solidFill>
                  <a:srgbClr val="14313C"/>
                </a:solidFill>
                <a:latin typeface="Georgia"/>
              </a:rPr>
              <a:t>Volume at a dose</a:t>
            </a:r>
          </a:p>
        </p:txBody>
      </p:sp>
      <p:sp>
        <p:nvSpPr>
          <p:cNvPr id="20" name="Rounded Rectangle 19"/>
          <p:cNvSpPr/>
          <p:nvPr/>
        </p:nvSpPr>
        <p:spPr>
          <a:xfrm>
            <a:off x="3749039" y="4526280"/>
            <a:ext cx="1481328" cy="347472"/>
          </a:xfrm>
          <a:prstGeom prst="roundRect">
            <a:avLst>
              <a:gd name="adj" fmla="val 50000"/>
            </a:avLst>
          </a:prstGeom>
          <a:solidFill>
            <a:srgbClr val="E2EFF4"/>
          </a:solidFill>
          <a:ln w="12700">
            <a:solidFill>
              <a:srgbClr val="1FA8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49039" y="4539996"/>
            <a:ext cx="1481328" cy="329184"/>
          </a:xfrm>
          <a:prstGeom prst="rect">
            <a:avLst/>
          </a:prstGeom>
          <a:noFill/>
        </p:spPr>
        <p:txBody>
          <a:bodyPr wrap="square" lIns="0" tIns="0" rIns="0" bIns="0" anchor="ctr">
            <a:noAutofit/>
          </a:bodyPr>
          <a:lstStyle/>
          <a:p>
            <a:pPr algn="ctr">
              <a:lnSpc>
                <a:spcPct val="118000"/>
              </a:lnSpc>
              <a:spcBef>
                <a:spcPts val="0"/>
              </a:spcBef>
              <a:spcAft>
                <a:spcPts val="400"/>
              </a:spcAft>
            </a:pPr>
            <a:r>
              <a:rPr sz="1050" b="1" i="0">
                <a:solidFill>
                  <a:srgbClr val="1FA85C"/>
                </a:solidFill>
                <a:latin typeface="Consolas"/>
              </a:rPr>
              <a:t>Vx Gy</a:t>
            </a:r>
          </a:p>
        </p:txBody>
      </p:sp>
      <p:sp>
        <p:nvSpPr>
          <p:cNvPr id="22" name="TextBox 21"/>
          <p:cNvSpPr txBox="1"/>
          <p:nvPr/>
        </p:nvSpPr>
        <p:spPr>
          <a:xfrm>
            <a:off x="5486400" y="4361688"/>
            <a:ext cx="5943600" cy="685800"/>
          </a:xfrm>
          <a:prstGeom prst="rect">
            <a:avLst/>
          </a:prstGeom>
          <a:noFill/>
        </p:spPr>
        <p:txBody>
          <a:bodyPr wrap="square" lIns="0" tIns="0" rIns="0" bIns="0" anchor="ctr">
            <a:noAutofit/>
          </a:bodyPr>
          <a:lstStyle/>
          <a:p>
            <a:pPr algn="l">
              <a:lnSpc>
                <a:spcPct val="122000"/>
              </a:lnSpc>
              <a:spcBef>
                <a:spcPts val="0"/>
              </a:spcBef>
              <a:spcAft>
                <a:spcPts val="400"/>
              </a:spcAft>
            </a:pPr>
            <a:r>
              <a:rPr sz="1230" b="0" i="0">
                <a:solidFill>
                  <a:srgbClr val="5A7480"/>
                </a:solidFill>
                <a:latin typeface="Calibri"/>
              </a:rPr>
              <a:t>Threshold / mixed organs — lung V20, rectum V70 &amp; V50, heart V25</a:t>
            </a:r>
          </a:p>
        </p:txBody>
      </p:sp>
      <p:sp>
        <p:nvSpPr>
          <p:cNvPr id="23" name="Rounded Rectangle 22"/>
          <p:cNvSpPr/>
          <p:nvPr/>
        </p:nvSpPr>
        <p:spPr>
          <a:xfrm>
            <a:off x="566928" y="5266944"/>
            <a:ext cx="11064240" cy="914400"/>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66928" y="5266944"/>
            <a:ext cx="64008" cy="914400"/>
          </a:xfrm>
          <a:prstGeom prst="rect">
            <a:avLst/>
          </a:prstGeom>
          <a:solidFill>
            <a:srgbClr val="DA3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385816"/>
            <a:ext cx="2743200" cy="685800"/>
          </a:xfrm>
          <a:prstGeom prst="rect">
            <a:avLst/>
          </a:prstGeom>
          <a:noFill/>
        </p:spPr>
        <p:txBody>
          <a:bodyPr wrap="square" lIns="0" tIns="0" rIns="0" bIns="0" anchor="ctr">
            <a:noAutofit/>
          </a:bodyPr>
          <a:lstStyle/>
          <a:p>
            <a:pPr algn="l">
              <a:lnSpc>
                <a:spcPct val="106000"/>
              </a:lnSpc>
              <a:spcBef>
                <a:spcPts val="0"/>
              </a:spcBef>
              <a:spcAft>
                <a:spcPts val="400"/>
              </a:spcAft>
            </a:pPr>
            <a:r>
              <a:rPr sz="1550" b="1" i="0">
                <a:solidFill>
                  <a:srgbClr val="14313C"/>
                </a:solidFill>
                <a:latin typeface="Georgia"/>
              </a:rPr>
              <a:t>Dose to a sub-volume</a:t>
            </a:r>
          </a:p>
        </p:txBody>
      </p:sp>
      <p:sp>
        <p:nvSpPr>
          <p:cNvPr id="26" name="Rounded Rectangle 25"/>
          <p:cNvSpPr/>
          <p:nvPr/>
        </p:nvSpPr>
        <p:spPr>
          <a:xfrm>
            <a:off x="3749039" y="5550408"/>
            <a:ext cx="1481328" cy="347472"/>
          </a:xfrm>
          <a:prstGeom prst="roundRect">
            <a:avLst>
              <a:gd name="adj" fmla="val 50000"/>
            </a:avLst>
          </a:prstGeom>
          <a:solidFill>
            <a:srgbClr val="E2EFF4"/>
          </a:solidFill>
          <a:ln w="12700">
            <a:solidFill>
              <a:srgbClr val="DA3B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749039" y="5564124"/>
            <a:ext cx="1481328" cy="329184"/>
          </a:xfrm>
          <a:prstGeom prst="rect">
            <a:avLst/>
          </a:prstGeom>
          <a:noFill/>
        </p:spPr>
        <p:txBody>
          <a:bodyPr wrap="square" lIns="0" tIns="0" rIns="0" bIns="0" anchor="ctr">
            <a:noAutofit/>
          </a:bodyPr>
          <a:lstStyle/>
          <a:p>
            <a:pPr algn="ctr">
              <a:lnSpc>
                <a:spcPct val="118000"/>
              </a:lnSpc>
              <a:spcBef>
                <a:spcPts val="0"/>
              </a:spcBef>
              <a:spcAft>
                <a:spcPts val="400"/>
              </a:spcAft>
            </a:pPr>
            <a:r>
              <a:rPr sz="1050" b="1" i="0">
                <a:solidFill>
                  <a:srgbClr val="DA3B40"/>
                </a:solidFill>
                <a:latin typeface="Consolas"/>
              </a:rPr>
              <a:t>Dx cc</a:t>
            </a:r>
          </a:p>
        </p:txBody>
      </p:sp>
      <p:sp>
        <p:nvSpPr>
          <p:cNvPr id="28" name="TextBox 27"/>
          <p:cNvSpPr txBox="1"/>
          <p:nvPr/>
        </p:nvSpPr>
        <p:spPr>
          <a:xfrm>
            <a:off x="5486400" y="5385816"/>
            <a:ext cx="5943600" cy="685800"/>
          </a:xfrm>
          <a:prstGeom prst="rect">
            <a:avLst/>
          </a:prstGeom>
          <a:noFill/>
        </p:spPr>
        <p:txBody>
          <a:bodyPr wrap="square" lIns="0" tIns="0" rIns="0" bIns="0" anchor="ctr">
            <a:noAutofit/>
          </a:bodyPr>
          <a:lstStyle/>
          <a:p>
            <a:pPr algn="l">
              <a:lnSpc>
                <a:spcPct val="122000"/>
              </a:lnSpc>
              <a:spcBef>
                <a:spcPts val="0"/>
              </a:spcBef>
              <a:spcAft>
                <a:spcPts val="400"/>
              </a:spcAft>
            </a:pPr>
            <a:r>
              <a:rPr sz="1230" b="0" i="0">
                <a:solidFill>
                  <a:srgbClr val="5A7480"/>
                </a:solidFill>
                <a:latin typeface="Calibri"/>
              </a:rPr>
              <a:t>Near-max to a small absolute volume — robust for serial structures</a:t>
            </a:r>
          </a:p>
        </p:txBody>
      </p:sp>
      <p:sp>
        <p:nvSpPr>
          <p:cNvPr id="29" name="TextBox 28"/>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30" name="TextBox 29"/>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17 / 34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1FA85C"/>
                </a:solidFill>
                <a:latin typeface="Consolas"/>
              </a:rPr>
              <a:t>BLOCK 2 · OAR CONSTRAINTS</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a:solidFill>
                  <a:srgbClr val="00A9E0"/>
                </a:solidFill>
                <a:latin typeface="Georgia"/>
              </a:rPr>
              <a:t>Constraints are not absolutes — context shifts them</a:t>
            </a:r>
          </a:p>
        </p:txBody>
      </p:sp>
      <p:sp>
        <p:nvSpPr>
          <p:cNvPr id="4" name="Rounded Rectangle 3"/>
          <p:cNvSpPr/>
          <p:nvPr/>
        </p:nvSpPr>
        <p:spPr>
          <a:xfrm>
            <a:off x="566928" y="2121408"/>
            <a:ext cx="5458968" cy="1335024"/>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22960" y="2377439"/>
            <a:ext cx="182880" cy="182880"/>
          </a:xfrm>
          <a:prstGeom prst="ellipse">
            <a:avLst/>
          </a:prstGeom>
          <a:solidFill>
            <a:srgbClr val="DA3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3856" y="2304288"/>
            <a:ext cx="4754880" cy="384048"/>
          </a:xfrm>
          <a:prstGeom prst="rect">
            <a:avLst/>
          </a:prstGeom>
          <a:noFill/>
        </p:spPr>
        <p:txBody>
          <a:bodyPr wrap="square" lIns="0" tIns="0" rIns="0" bIns="0" anchor="t">
            <a:noAutofit/>
          </a:bodyPr>
          <a:lstStyle/>
          <a:p>
            <a:pPr algn="l">
              <a:lnSpc>
                <a:spcPct val="118000"/>
              </a:lnSpc>
              <a:spcBef>
                <a:spcPts val="0"/>
              </a:spcBef>
              <a:spcAft>
                <a:spcPts val="400"/>
              </a:spcAft>
            </a:pPr>
            <a:r>
              <a:rPr sz="1450" b="1" i="0">
                <a:solidFill>
                  <a:srgbClr val="14313C"/>
                </a:solidFill>
                <a:latin typeface="Georgia"/>
              </a:rPr>
              <a:t>Re-irradiation</a:t>
            </a:r>
          </a:p>
        </p:txBody>
      </p:sp>
      <p:sp>
        <p:nvSpPr>
          <p:cNvPr id="7" name="TextBox 6"/>
          <p:cNvSpPr txBox="1"/>
          <p:nvPr/>
        </p:nvSpPr>
        <p:spPr>
          <a:xfrm>
            <a:off x="1133856" y="2670048"/>
            <a:ext cx="4800600" cy="777240"/>
          </a:xfrm>
          <a:prstGeom prst="rect">
            <a:avLst/>
          </a:prstGeom>
          <a:noFill/>
        </p:spPr>
        <p:txBody>
          <a:bodyPr wrap="square" lIns="0" tIns="0" rIns="0" bIns="0" anchor="t">
            <a:noAutofit/>
          </a:bodyPr>
          <a:lstStyle/>
          <a:p>
            <a:pPr algn="l">
              <a:lnSpc>
                <a:spcPct val="126000"/>
              </a:lnSpc>
              <a:spcBef>
                <a:spcPts val="0"/>
              </a:spcBef>
              <a:spcAft>
                <a:spcPts val="400"/>
              </a:spcAft>
            </a:pPr>
            <a:r>
              <a:rPr sz="1150" b="0" i="0">
                <a:solidFill>
                  <a:srgbClr val="5A7480"/>
                </a:solidFill>
                <a:latin typeface="Calibri"/>
              </a:rPr>
              <a:t>Prior dose has spent part of the tolerance budget. Some organs recover partially over time — but stay conservative.</a:t>
            </a:r>
          </a:p>
        </p:txBody>
      </p:sp>
      <p:sp>
        <p:nvSpPr>
          <p:cNvPr id="8" name="Rounded Rectangle 7"/>
          <p:cNvSpPr/>
          <p:nvPr/>
        </p:nvSpPr>
        <p:spPr>
          <a:xfrm>
            <a:off x="6172200" y="2121408"/>
            <a:ext cx="5458968" cy="1335024"/>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428232" y="2377439"/>
            <a:ext cx="182880" cy="182880"/>
          </a:xfrm>
          <a:prstGeom prst="ellipse">
            <a:avLst/>
          </a:prstGeom>
          <a:solidFill>
            <a:srgbClr val="F07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739128" y="2304288"/>
            <a:ext cx="4754880" cy="384048"/>
          </a:xfrm>
          <a:prstGeom prst="rect">
            <a:avLst/>
          </a:prstGeom>
          <a:noFill/>
        </p:spPr>
        <p:txBody>
          <a:bodyPr wrap="square" lIns="0" tIns="0" rIns="0" bIns="0" anchor="t">
            <a:noAutofit/>
          </a:bodyPr>
          <a:lstStyle/>
          <a:p>
            <a:pPr algn="l">
              <a:lnSpc>
                <a:spcPct val="118000"/>
              </a:lnSpc>
              <a:spcBef>
                <a:spcPts val="0"/>
              </a:spcBef>
              <a:spcAft>
                <a:spcPts val="400"/>
              </a:spcAft>
            </a:pPr>
            <a:r>
              <a:rPr sz="1450" b="1" i="0">
                <a:solidFill>
                  <a:srgbClr val="14313C"/>
                </a:solidFill>
                <a:latin typeface="Georgia"/>
              </a:rPr>
              <a:t>Concurrent systemic therapy</a:t>
            </a:r>
          </a:p>
        </p:txBody>
      </p:sp>
      <p:sp>
        <p:nvSpPr>
          <p:cNvPr id="11" name="TextBox 10"/>
          <p:cNvSpPr txBox="1"/>
          <p:nvPr/>
        </p:nvSpPr>
        <p:spPr>
          <a:xfrm>
            <a:off x="6739128" y="2670048"/>
            <a:ext cx="4800600" cy="777240"/>
          </a:xfrm>
          <a:prstGeom prst="rect">
            <a:avLst/>
          </a:prstGeom>
          <a:noFill/>
        </p:spPr>
        <p:txBody>
          <a:bodyPr wrap="square" lIns="0" tIns="0" rIns="0" bIns="0" anchor="t">
            <a:noAutofit/>
          </a:bodyPr>
          <a:lstStyle/>
          <a:p>
            <a:pPr algn="l">
              <a:lnSpc>
                <a:spcPct val="126000"/>
              </a:lnSpc>
              <a:spcBef>
                <a:spcPts val="0"/>
              </a:spcBef>
              <a:spcAft>
                <a:spcPts val="400"/>
              </a:spcAft>
            </a:pPr>
            <a:r>
              <a:rPr sz="1150" b="0" i="0">
                <a:solidFill>
                  <a:srgbClr val="5A7480"/>
                </a:solidFill>
                <a:latin typeface="Calibri"/>
              </a:rPr>
              <a:t>Chemo lowers tolerance — e.g. cisplatin + cochlea, several agents + lung. The constraint tightens.</a:t>
            </a:r>
          </a:p>
        </p:txBody>
      </p:sp>
      <p:sp>
        <p:nvSpPr>
          <p:cNvPr id="12" name="Rounded Rectangle 11"/>
          <p:cNvSpPr/>
          <p:nvPr/>
        </p:nvSpPr>
        <p:spPr>
          <a:xfrm>
            <a:off x="566928" y="3602736"/>
            <a:ext cx="5458968" cy="1335024"/>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22960" y="3858768"/>
            <a:ext cx="182880" cy="182880"/>
          </a:xfrm>
          <a:prstGeom prst="ellipse">
            <a:avLst/>
          </a:prstGeom>
          <a:solidFill>
            <a:srgbClr val="00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33856" y="3785615"/>
            <a:ext cx="4754880" cy="384048"/>
          </a:xfrm>
          <a:prstGeom prst="rect">
            <a:avLst/>
          </a:prstGeom>
          <a:noFill/>
        </p:spPr>
        <p:txBody>
          <a:bodyPr wrap="square" lIns="0" tIns="0" rIns="0" bIns="0" anchor="t">
            <a:noAutofit/>
          </a:bodyPr>
          <a:lstStyle/>
          <a:p>
            <a:pPr algn="l">
              <a:lnSpc>
                <a:spcPct val="118000"/>
              </a:lnSpc>
              <a:spcBef>
                <a:spcPts val="0"/>
              </a:spcBef>
              <a:spcAft>
                <a:spcPts val="400"/>
              </a:spcAft>
            </a:pPr>
            <a:r>
              <a:rPr sz="1450" b="1" i="0">
                <a:solidFill>
                  <a:srgbClr val="14313C"/>
                </a:solidFill>
                <a:latin typeface="Georgia"/>
              </a:rPr>
              <a:t>Patient factors</a:t>
            </a:r>
          </a:p>
        </p:txBody>
      </p:sp>
      <p:sp>
        <p:nvSpPr>
          <p:cNvPr id="15" name="TextBox 14"/>
          <p:cNvSpPr txBox="1"/>
          <p:nvPr/>
        </p:nvSpPr>
        <p:spPr>
          <a:xfrm>
            <a:off x="1133856" y="4151376"/>
            <a:ext cx="4800600" cy="777240"/>
          </a:xfrm>
          <a:prstGeom prst="rect">
            <a:avLst/>
          </a:prstGeom>
          <a:noFill/>
        </p:spPr>
        <p:txBody>
          <a:bodyPr wrap="square" lIns="0" tIns="0" rIns="0" bIns="0" anchor="t">
            <a:noAutofit/>
          </a:bodyPr>
          <a:lstStyle/>
          <a:p>
            <a:pPr algn="l">
              <a:lnSpc>
                <a:spcPct val="126000"/>
              </a:lnSpc>
              <a:spcBef>
                <a:spcPts val="0"/>
              </a:spcBef>
              <a:spcAft>
                <a:spcPts val="400"/>
              </a:spcAft>
            </a:pPr>
            <a:r>
              <a:rPr sz="1150" b="0" i="0">
                <a:solidFill>
                  <a:srgbClr val="5A7480"/>
                </a:solidFill>
                <a:latin typeface="Calibri"/>
              </a:rPr>
              <a:t>Age, smoking, diabetes, connective-tissue disease, prior surgery and baseline organ function all move the line.</a:t>
            </a:r>
          </a:p>
        </p:txBody>
      </p:sp>
      <p:sp>
        <p:nvSpPr>
          <p:cNvPr id="16" name="Rounded Rectangle 15"/>
          <p:cNvSpPr/>
          <p:nvPr/>
        </p:nvSpPr>
        <p:spPr>
          <a:xfrm>
            <a:off x="6172200" y="3602736"/>
            <a:ext cx="5458968" cy="1335024"/>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28232" y="3858768"/>
            <a:ext cx="182880" cy="182880"/>
          </a:xfrm>
          <a:prstGeom prst="ellipse">
            <a:avLst/>
          </a:prstGeom>
          <a:solidFill>
            <a:srgbClr val="1F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39128" y="3785615"/>
            <a:ext cx="4754880" cy="384048"/>
          </a:xfrm>
          <a:prstGeom prst="rect">
            <a:avLst/>
          </a:prstGeom>
          <a:noFill/>
        </p:spPr>
        <p:txBody>
          <a:bodyPr wrap="square" lIns="0" tIns="0" rIns="0" bIns="0" anchor="t">
            <a:noAutofit/>
          </a:bodyPr>
          <a:lstStyle/>
          <a:p>
            <a:pPr algn="l">
              <a:lnSpc>
                <a:spcPct val="118000"/>
              </a:lnSpc>
              <a:spcBef>
                <a:spcPts val="0"/>
              </a:spcBef>
              <a:spcAft>
                <a:spcPts val="400"/>
              </a:spcAft>
            </a:pPr>
            <a:r>
              <a:rPr sz="1450" b="1" i="0">
                <a:solidFill>
                  <a:srgbClr val="14313C"/>
                </a:solidFill>
                <a:latin typeface="Georgia"/>
              </a:rPr>
              <a:t>Treatment intent</a:t>
            </a:r>
          </a:p>
        </p:txBody>
      </p:sp>
      <p:sp>
        <p:nvSpPr>
          <p:cNvPr id="19" name="TextBox 18"/>
          <p:cNvSpPr txBox="1"/>
          <p:nvPr/>
        </p:nvSpPr>
        <p:spPr>
          <a:xfrm>
            <a:off x="6739128" y="4151376"/>
            <a:ext cx="4800600" cy="777240"/>
          </a:xfrm>
          <a:prstGeom prst="rect">
            <a:avLst/>
          </a:prstGeom>
          <a:noFill/>
        </p:spPr>
        <p:txBody>
          <a:bodyPr wrap="square" lIns="0" tIns="0" rIns="0" bIns="0" anchor="t">
            <a:noAutofit/>
          </a:bodyPr>
          <a:lstStyle/>
          <a:p>
            <a:pPr algn="l">
              <a:lnSpc>
                <a:spcPct val="126000"/>
              </a:lnSpc>
              <a:spcBef>
                <a:spcPts val="0"/>
              </a:spcBef>
              <a:spcAft>
                <a:spcPts val="400"/>
              </a:spcAft>
            </a:pPr>
            <a:r>
              <a:rPr sz="1150" b="0" i="0">
                <a:solidFill>
                  <a:srgbClr val="5A7480"/>
                </a:solidFill>
                <a:latin typeface="Calibri"/>
              </a:rPr>
              <a:t>Radical treatment justifies accepting more risk than palliation. The acceptable trade-off depends on the goal.</a:t>
            </a:r>
          </a:p>
        </p:txBody>
      </p:sp>
      <p:sp>
        <p:nvSpPr>
          <p:cNvPr id="20" name="Rounded Rectangle 19"/>
          <p:cNvSpPr/>
          <p:nvPr/>
        </p:nvSpPr>
        <p:spPr>
          <a:xfrm>
            <a:off x="566928" y="5138928"/>
            <a:ext cx="11064240" cy="1097280"/>
          </a:xfrm>
          <a:prstGeom prst="roundRect">
            <a:avLst>
              <a:gd name="adj" fmla="val 4500"/>
            </a:avLst>
          </a:prstGeom>
          <a:solidFill>
            <a:srgbClr val="E2EFF4"/>
          </a:solidFill>
          <a:ln w="16510">
            <a:solidFill>
              <a:srgbClr val="1FA8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1248" y="5248656"/>
            <a:ext cx="2194560" cy="365760"/>
          </a:xfrm>
          <a:prstGeom prst="rect">
            <a:avLst/>
          </a:prstGeom>
          <a:noFill/>
        </p:spPr>
        <p:txBody>
          <a:bodyPr wrap="square" lIns="0" tIns="0" rIns="0" bIns="0" anchor="t">
            <a:noAutofit/>
          </a:bodyPr>
          <a:lstStyle/>
          <a:p>
            <a:pPr algn="l">
              <a:lnSpc>
                <a:spcPct val="118000"/>
              </a:lnSpc>
              <a:spcBef>
                <a:spcPts val="0"/>
              </a:spcBef>
              <a:spcAft>
                <a:spcPts val="400"/>
              </a:spcAft>
            </a:pPr>
            <a:r>
              <a:rPr sz="1100" b="1" i="0" spc="180">
                <a:solidFill>
                  <a:srgbClr val="1FA85C"/>
                </a:solidFill>
                <a:latin typeface="Consolas"/>
              </a:rPr>
              <a:t>THE PRV</a:t>
            </a:r>
          </a:p>
        </p:txBody>
      </p:sp>
      <p:sp>
        <p:nvSpPr>
          <p:cNvPr id="22" name="TextBox 21"/>
          <p:cNvSpPr txBox="1"/>
          <p:nvPr/>
        </p:nvSpPr>
        <p:spPr>
          <a:xfrm>
            <a:off x="841248" y="5559552"/>
            <a:ext cx="10698480" cy="640080"/>
          </a:xfrm>
          <a:prstGeom prst="rect">
            <a:avLst/>
          </a:prstGeom>
          <a:noFill/>
        </p:spPr>
        <p:txBody>
          <a:bodyPr wrap="square" lIns="0" tIns="0" rIns="0" bIns="0" anchor="t">
            <a:noAutofit/>
          </a:bodyPr>
          <a:lstStyle/>
          <a:p>
            <a:pPr algn="l">
              <a:lnSpc>
                <a:spcPct val="130000"/>
              </a:lnSpc>
              <a:spcBef>
                <a:spcPts val="0"/>
              </a:spcBef>
              <a:spcAft>
                <a:spcPts val="400"/>
              </a:spcAft>
            </a:pPr>
            <a:r>
              <a:rPr sz="1260" b="1" i="0">
                <a:solidFill>
                  <a:srgbClr val="14313C"/>
                </a:solidFill>
                <a:latin typeface="Calibri"/>
              </a:rPr>
              <a:t>Planning organ-at-risk volume</a:t>
            </a:r>
            <a:r>
              <a:rPr sz="1260" b="0" i="0">
                <a:solidFill>
                  <a:srgbClr val="5A7480"/>
                </a:solidFill>
                <a:latin typeface="Calibri"/>
              </a:rPr>
              <a:t> — a margin grown around a serial OAR for set-up and motion uncertainty, exactly as the PTV is grown around the CTV. For critical serial organs, evaluate dose to the PRV, not the bare organ.</a:t>
            </a:r>
          </a:p>
        </p:txBody>
      </p:sp>
      <p:sp>
        <p:nvSpPr>
          <p:cNvPr id="23" name="TextBox 22"/>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24" name="TextBox 23"/>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18 / 34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07D2E"/>
        </a:solidFill>
        <a:effectLst/>
      </p:bgPr>
    </p:bg>
    <p:spTree>
      <p:nvGrpSpPr>
        <p:cNvPr id="1" name=""/>
        <p:cNvGrpSpPr/>
        <p:nvPr/>
      </p:nvGrpSpPr>
      <p:grpSpPr>
        <a:xfrm>
          <a:off x="0" y="0"/>
          <a:ext cx="0" cy="0"/>
          <a:chOff x="0" y="0"/>
          <a:chExt cx="0" cy="0"/>
        </a:xfrm>
      </p:grpSpPr>
      <p:sp>
        <p:nvSpPr>
          <p:cNvPr id="2" name="TextBox 1"/>
          <p:cNvSpPr txBox="1"/>
          <p:nvPr/>
        </p:nvSpPr>
        <p:spPr>
          <a:xfrm>
            <a:off x="749808" y="1170432"/>
            <a:ext cx="4206240" cy="2743200"/>
          </a:xfrm>
          <a:prstGeom prst="rect">
            <a:avLst/>
          </a:prstGeom>
          <a:noFill/>
        </p:spPr>
        <p:txBody>
          <a:bodyPr wrap="square" lIns="0" tIns="0" rIns="0" bIns="0" anchor="t">
            <a:noAutofit/>
          </a:bodyPr>
          <a:lstStyle/>
          <a:p>
            <a:pPr algn="l">
              <a:lnSpc>
                <a:spcPct val="118000"/>
              </a:lnSpc>
              <a:spcBef>
                <a:spcPts val="0"/>
              </a:spcBef>
              <a:spcAft>
                <a:spcPts val="400"/>
              </a:spcAft>
            </a:pPr>
            <a:r>
              <a:rPr sz="16800" b="1" i="0">
                <a:solidFill>
                  <a:srgbClr val="904B1B"/>
                </a:solidFill>
                <a:latin typeface="Georgia"/>
              </a:rPr>
              <a:t>03</a:t>
            </a:r>
          </a:p>
        </p:txBody>
      </p:sp>
      <p:sp>
        <p:nvSpPr>
          <p:cNvPr id="3" name="TextBox 2"/>
          <p:cNvSpPr txBox="1"/>
          <p:nvPr/>
        </p:nvSpPr>
        <p:spPr>
          <a:xfrm>
            <a:off x="932688" y="4224528"/>
            <a:ext cx="4023360" cy="365760"/>
          </a:xfrm>
          <a:prstGeom prst="rect">
            <a:avLst/>
          </a:prstGeom>
          <a:noFill/>
        </p:spPr>
        <p:txBody>
          <a:bodyPr wrap="square" lIns="0" tIns="0" rIns="0" bIns="0" anchor="t">
            <a:noAutofit/>
          </a:bodyPr>
          <a:lstStyle/>
          <a:p>
            <a:pPr algn="l">
              <a:lnSpc>
                <a:spcPct val="118000"/>
              </a:lnSpc>
              <a:spcBef>
                <a:spcPts val="0"/>
              </a:spcBef>
              <a:spcAft>
                <a:spcPts val="400"/>
              </a:spcAft>
            </a:pPr>
            <a:r>
              <a:rPr sz="1300" b="1" i="0" spc="300">
                <a:solidFill>
                  <a:srgbClr val="FFFFFF"/>
                </a:solidFill>
                <a:latin typeface="Consolas"/>
              </a:rPr>
              <a:t>BLOCK THREE</a:t>
            </a:r>
          </a:p>
        </p:txBody>
      </p:sp>
      <p:sp>
        <p:nvSpPr>
          <p:cNvPr id="4" name="Rectangle 3"/>
          <p:cNvSpPr/>
          <p:nvPr/>
        </p:nvSpPr>
        <p:spPr>
          <a:xfrm>
            <a:off x="4526280" y="1810512"/>
            <a:ext cx="4572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56048" y="1737360"/>
            <a:ext cx="6766560" cy="1188720"/>
          </a:xfrm>
          <a:prstGeom prst="rect">
            <a:avLst/>
          </a:prstGeom>
          <a:noFill/>
        </p:spPr>
        <p:txBody>
          <a:bodyPr wrap="square" lIns="0" tIns="0" rIns="0" bIns="0" anchor="t">
            <a:noAutofit/>
          </a:bodyPr>
          <a:lstStyle/>
          <a:p>
            <a:pPr algn="l">
              <a:lnSpc>
                <a:spcPct val="118000"/>
              </a:lnSpc>
              <a:spcBef>
                <a:spcPts val="0"/>
              </a:spcBef>
              <a:spcAft>
                <a:spcPts val="400"/>
              </a:spcAft>
            </a:pPr>
            <a:r>
              <a:rPr sz="4400" b="1" i="0">
                <a:solidFill>
                  <a:srgbClr val="FFFFFF"/>
                </a:solidFill>
                <a:latin typeface="Georgia"/>
              </a:rPr>
              <a:t>Technical Quality</a:t>
            </a:r>
          </a:p>
        </p:txBody>
      </p:sp>
      <p:sp>
        <p:nvSpPr>
          <p:cNvPr id="6" name="Rounded Rectangle 5"/>
          <p:cNvSpPr/>
          <p:nvPr/>
        </p:nvSpPr>
        <p:spPr>
          <a:xfrm>
            <a:off x="4992624" y="2798064"/>
            <a:ext cx="1783080" cy="402336"/>
          </a:xfrm>
          <a:prstGeom prst="roundRect">
            <a:avLst>
              <a:gd name="adj" fmla="val 50000"/>
            </a:avLst>
          </a:prstGeom>
          <a:solidFill>
            <a:srgbClr val="F07D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992624" y="2816352"/>
            <a:ext cx="1783080" cy="384048"/>
          </a:xfrm>
          <a:prstGeom prst="rect">
            <a:avLst/>
          </a:prstGeom>
          <a:noFill/>
        </p:spPr>
        <p:txBody>
          <a:bodyPr wrap="square" lIns="0" tIns="0" rIns="0" bIns="0" anchor="ctr">
            <a:noAutofit/>
          </a:bodyPr>
          <a:lstStyle/>
          <a:p>
            <a:pPr algn="ctr">
              <a:lnSpc>
                <a:spcPct val="118000"/>
              </a:lnSpc>
              <a:spcBef>
                <a:spcPts val="0"/>
              </a:spcBef>
              <a:spcAft>
                <a:spcPts val="400"/>
              </a:spcAft>
            </a:pPr>
            <a:r>
              <a:rPr sz="950" b="1" i="0" spc="130">
                <a:solidFill>
                  <a:srgbClr val="FFFFFF"/>
                </a:solidFill>
                <a:latin typeface="Consolas"/>
              </a:rPr>
              <a:t>10 MINUTES</a:t>
            </a:r>
          </a:p>
        </p:txBody>
      </p:sp>
      <p:sp>
        <p:nvSpPr>
          <p:cNvPr id="8" name="Oval 7"/>
          <p:cNvSpPr/>
          <p:nvPr/>
        </p:nvSpPr>
        <p:spPr>
          <a:xfrm>
            <a:off x="5010912" y="3639312"/>
            <a:ext cx="137160" cy="137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0" y="3547872"/>
            <a:ext cx="6309360" cy="457200"/>
          </a:xfrm>
          <a:prstGeom prst="rect">
            <a:avLst/>
          </a:prstGeom>
          <a:noFill/>
        </p:spPr>
        <p:txBody>
          <a:bodyPr wrap="square" lIns="0" tIns="0" rIns="0" bIns="0" anchor="t">
            <a:noAutofit/>
          </a:bodyPr>
          <a:lstStyle/>
          <a:p>
            <a:pPr algn="l">
              <a:lnSpc>
                <a:spcPct val="118000"/>
              </a:lnSpc>
              <a:spcBef>
                <a:spcPts val="0"/>
              </a:spcBef>
              <a:spcAft>
                <a:spcPts val="400"/>
              </a:spcAft>
            </a:pPr>
            <a:r>
              <a:rPr sz="1450" b="0" i="0">
                <a:solidFill>
                  <a:srgbClr val="FFFFFF"/>
                </a:solidFill>
                <a:latin typeface="Calibri"/>
              </a:rPr>
              <a:t>Isocentre, beam angles and field arrangement</a:t>
            </a:r>
          </a:p>
        </p:txBody>
      </p:sp>
      <p:sp>
        <p:nvSpPr>
          <p:cNvPr id="10" name="Oval 9"/>
          <p:cNvSpPr/>
          <p:nvPr/>
        </p:nvSpPr>
        <p:spPr>
          <a:xfrm>
            <a:off x="5010912" y="4151376"/>
            <a:ext cx="137160" cy="137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303520" y="4059936"/>
            <a:ext cx="6309360" cy="457200"/>
          </a:xfrm>
          <a:prstGeom prst="rect">
            <a:avLst/>
          </a:prstGeom>
          <a:noFill/>
        </p:spPr>
        <p:txBody>
          <a:bodyPr wrap="square" lIns="0" tIns="0" rIns="0" bIns="0" anchor="t">
            <a:noAutofit/>
          </a:bodyPr>
          <a:lstStyle/>
          <a:p>
            <a:pPr algn="l">
              <a:lnSpc>
                <a:spcPct val="118000"/>
              </a:lnSpc>
              <a:spcBef>
                <a:spcPts val="0"/>
              </a:spcBef>
              <a:spcAft>
                <a:spcPts val="400"/>
              </a:spcAft>
            </a:pPr>
            <a:r>
              <a:rPr sz="1450" b="0" i="0">
                <a:solidFill>
                  <a:srgbClr val="FFFFFF"/>
                </a:solidFill>
                <a:latin typeface="Calibri"/>
              </a:rPr>
              <a:t>Beam weighting, wedges, collimation and MLC shaping</a:t>
            </a:r>
          </a:p>
        </p:txBody>
      </p:sp>
      <p:sp>
        <p:nvSpPr>
          <p:cNvPr id="12" name="Oval 11"/>
          <p:cNvSpPr/>
          <p:nvPr/>
        </p:nvSpPr>
        <p:spPr>
          <a:xfrm>
            <a:off x="5010912" y="4663440"/>
            <a:ext cx="137160" cy="137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03520" y="4572000"/>
            <a:ext cx="6309360" cy="457200"/>
          </a:xfrm>
          <a:prstGeom prst="rect">
            <a:avLst/>
          </a:prstGeom>
          <a:noFill/>
        </p:spPr>
        <p:txBody>
          <a:bodyPr wrap="square" lIns="0" tIns="0" rIns="0" bIns="0" anchor="t">
            <a:noAutofit/>
          </a:bodyPr>
          <a:lstStyle/>
          <a:p>
            <a:pPr algn="l">
              <a:lnSpc>
                <a:spcPct val="118000"/>
              </a:lnSpc>
              <a:spcBef>
                <a:spcPts val="0"/>
              </a:spcBef>
              <a:spcAft>
                <a:spcPts val="400"/>
              </a:spcAft>
            </a:pPr>
            <a:r>
              <a:rPr sz="1450" b="0" i="0">
                <a:solidFill>
                  <a:srgbClr val="FFFFFF"/>
                </a:solidFill>
                <a:latin typeface="Calibri"/>
              </a:rPr>
              <a:t>Hot spots, dose gradient and integral dose</a:t>
            </a:r>
          </a:p>
        </p:txBody>
      </p:sp>
      <p:sp>
        <p:nvSpPr>
          <p:cNvPr id="14" name="TextBox 13"/>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CDEBF8"/>
                </a:solidFill>
                <a:latin typeface="Consolas"/>
              </a:rPr>
              <a:t>3DCRT PLAN EVALUATION  /  THEORY MODULE</a:t>
            </a:r>
          </a:p>
        </p:txBody>
      </p:sp>
      <p:sp>
        <p:nvSpPr>
          <p:cNvPr id="15" name="TextBox 14"/>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CDEBF8"/>
                </a:solidFill>
                <a:latin typeface="Consolas"/>
              </a:rPr>
              <a:t>19 / 34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F07D2E"/>
                </a:solidFill>
                <a:latin typeface="Consolas"/>
              </a:rPr>
              <a:t>BLOCK 3 · TECHNICAL QUALITY</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a:solidFill>
                  <a:srgbClr val="00A9E0"/>
                </a:solidFill>
                <a:latin typeface="Georgia"/>
              </a:rPr>
              <a:t>Technical quality — what to evaluate</a:t>
            </a:r>
          </a:p>
        </p:txBody>
      </p:sp>
      <p:sp>
        <p:nvSpPr>
          <p:cNvPr id="4" name="TextBox 3"/>
          <p:cNvSpPr txBox="1"/>
          <p:nvPr/>
        </p:nvSpPr>
        <p:spPr>
          <a:xfrm>
            <a:off x="566928" y="1591056"/>
            <a:ext cx="10972800" cy="457200"/>
          </a:xfrm>
          <a:prstGeom prst="rect">
            <a:avLst/>
          </a:prstGeom>
          <a:noFill/>
        </p:spPr>
        <p:txBody>
          <a:bodyPr wrap="square" lIns="0" tIns="0" rIns="0" bIns="0" anchor="t">
            <a:noAutofit/>
          </a:bodyPr>
          <a:lstStyle/>
          <a:p>
            <a:pPr algn="l">
              <a:lnSpc>
                <a:spcPct val="118000"/>
              </a:lnSpc>
              <a:spcBef>
                <a:spcPts val="0"/>
              </a:spcBef>
              <a:spcAft>
                <a:spcPts val="400"/>
              </a:spcAft>
            </a:pPr>
            <a:r>
              <a:rPr sz="1320" b="0" i="1" dirty="0">
                <a:solidFill>
                  <a:srgbClr val="5A7480"/>
                </a:solidFill>
                <a:latin typeface="Calibri"/>
              </a:rPr>
              <a:t>Here the question shifts: not “how does it work” but “is it used well in this plan?”</a:t>
            </a:r>
          </a:p>
        </p:txBody>
      </p:sp>
      <p:sp>
        <p:nvSpPr>
          <p:cNvPr id="5" name="Rounded Rectangle 4"/>
          <p:cNvSpPr/>
          <p:nvPr/>
        </p:nvSpPr>
        <p:spPr>
          <a:xfrm>
            <a:off x="566928" y="2194560"/>
            <a:ext cx="5458968" cy="3977639"/>
          </a:xfrm>
          <a:prstGeom prst="roundRect">
            <a:avLst>
              <a:gd name="adj" fmla="val 4500"/>
            </a:avLst>
          </a:prstGeom>
          <a:solidFill>
            <a:srgbClr val="F0F7FA"/>
          </a:solidFill>
          <a:ln w="16510">
            <a:solidFill>
              <a:srgbClr val="1FA8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2395728"/>
            <a:ext cx="4846320" cy="365760"/>
          </a:xfrm>
          <a:prstGeom prst="rect">
            <a:avLst/>
          </a:prstGeom>
          <a:noFill/>
        </p:spPr>
        <p:txBody>
          <a:bodyPr wrap="square" lIns="0" tIns="0" rIns="0" bIns="0" anchor="t">
            <a:noAutofit/>
          </a:bodyPr>
          <a:lstStyle/>
          <a:p>
            <a:pPr algn="l">
              <a:lnSpc>
                <a:spcPct val="118000"/>
              </a:lnSpc>
              <a:spcBef>
                <a:spcPts val="0"/>
              </a:spcBef>
              <a:spcAft>
                <a:spcPts val="400"/>
              </a:spcAft>
            </a:pPr>
            <a:r>
              <a:rPr sz="1100" b="1" i="0" spc="180">
                <a:solidFill>
                  <a:srgbClr val="1FA85C"/>
                </a:solidFill>
                <a:latin typeface="Consolas"/>
              </a:rPr>
              <a:t>ISOCENTRE</a:t>
            </a:r>
          </a:p>
        </p:txBody>
      </p:sp>
      <p:sp>
        <p:nvSpPr>
          <p:cNvPr id="7" name="TextBox 6"/>
          <p:cNvSpPr txBox="1"/>
          <p:nvPr/>
        </p:nvSpPr>
        <p:spPr>
          <a:xfrm>
            <a:off x="859536" y="2816352"/>
            <a:ext cx="4937760" cy="4572000"/>
          </a:xfrm>
          <a:prstGeom prst="rect">
            <a:avLst/>
          </a:prstGeom>
          <a:noFill/>
        </p:spPr>
        <p:txBody>
          <a:bodyPr wrap="square" lIns="0" tIns="0" rIns="0" bIns="0" anchor="t">
            <a:noAutofit/>
          </a:bodyPr>
          <a:lstStyle/>
          <a:p>
            <a:pPr algn="l">
              <a:lnSpc>
                <a:spcPct val="122000"/>
              </a:lnSpc>
              <a:spcBef>
                <a:spcPts val="0"/>
              </a:spcBef>
              <a:spcAft>
                <a:spcPts val="1152"/>
              </a:spcAft>
            </a:pPr>
            <a:r>
              <a:rPr sz="1250" b="1" i="0">
                <a:solidFill>
                  <a:srgbClr val="1FA85C"/>
                </a:solidFill>
                <a:latin typeface="Calibri"/>
              </a:rPr>
              <a:t>▸  </a:t>
            </a:r>
            <a:r>
              <a:rPr sz="1250" b="1" i="0">
                <a:solidFill>
                  <a:srgbClr val="14313C"/>
                </a:solidFill>
                <a:latin typeface="Calibri"/>
              </a:rPr>
              <a:t>Centred in the PTV </a:t>
            </a:r>
            <a:r>
              <a:rPr sz="1250" b="0" i="0">
                <a:solidFill>
                  <a:srgbClr val="5A7480"/>
                </a:solidFill>
                <a:latin typeface="Calibri"/>
              </a:rPr>
              <a:t>— balances field sizes, keeps the target away from field edges</a:t>
            </a:r>
          </a:p>
          <a:p>
            <a:pPr algn="l">
              <a:lnSpc>
                <a:spcPct val="122000"/>
              </a:lnSpc>
              <a:spcBef>
                <a:spcPts val="0"/>
              </a:spcBef>
              <a:spcAft>
                <a:spcPts val="1152"/>
              </a:spcAft>
            </a:pPr>
            <a:r>
              <a:rPr sz="1250" b="1" i="0">
                <a:solidFill>
                  <a:srgbClr val="1FA85C"/>
                </a:solidFill>
                <a:latin typeface="Calibri"/>
              </a:rPr>
              <a:t>▸  </a:t>
            </a:r>
            <a:r>
              <a:rPr sz="1250" b="1" i="0">
                <a:solidFill>
                  <a:srgbClr val="14313C"/>
                </a:solidFill>
                <a:latin typeface="Calibri"/>
              </a:rPr>
              <a:t>Not in lung or at a density interface </a:t>
            </a:r>
            <a:r>
              <a:rPr sz="1250" b="0" i="0">
                <a:solidFill>
                  <a:srgbClr val="5A7480"/>
                </a:solidFill>
                <a:latin typeface="Calibri"/>
              </a:rPr>
              <a:t>— dosimetrically unstable positions</a:t>
            </a:r>
          </a:p>
          <a:p>
            <a:pPr algn="l">
              <a:lnSpc>
                <a:spcPct val="122000"/>
              </a:lnSpc>
              <a:spcBef>
                <a:spcPts val="0"/>
              </a:spcBef>
              <a:spcAft>
                <a:spcPts val="1152"/>
              </a:spcAft>
            </a:pPr>
            <a:r>
              <a:rPr sz="1250" b="1" i="0">
                <a:solidFill>
                  <a:srgbClr val="1FA85C"/>
                </a:solidFill>
                <a:latin typeface="Calibri"/>
              </a:rPr>
              <a:t>▸  </a:t>
            </a:r>
            <a:r>
              <a:rPr sz="1250" b="1" i="0">
                <a:solidFill>
                  <a:srgbClr val="14313C"/>
                </a:solidFill>
                <a:latin typeface="Calibri"/>
              </a:rPr>
              <a:t>Beam angles </a:t>
            </a:r>
            <a:r>
              <a:rPr sz="1250" b="0" i="0">
                <a:solidFill>
                  <a:srgbClr val="5A7480"/>
                </a:solidFill>
                <a:latin typeface="Calibri"/>
              </a:rPr>
              <a:t>— converge on the target, avoid transiting through OARs</a:t>
            </a:r>
          </a:p>
          <a:p>
            <a:pPr algn="l">
              <a:lnSpc>
                <a:spcPct val="122000"/>
              </a:lnSpc>
              <a:spcBef>
                <a:spcPts val="0"/>
              </a:spcBef>
              <a:spcAft>
                <a:spcPts val="1152"/>
              </a:spcAft>
            </a:pPr>
            <a:r>
              <a:rPr sz="1250" b="1" i="0">
                <a:solidFill>
                  <a:srgbClr val="1FA85C"/>
                </a:solidFill>
                <a:latin typeface="Calibri"/>
              </a:rPr>
              <a:t>▸  </a:t>
            </a:r>
            <a:r>
              <a:rPr sz="1250" b="1" i="0">
                <a:solidFill>
                  <a:srgbClr val="14313C"/>
                </a:solidFill>
                <a:latin typeface="Calibri"/>
              </a:rPr>
              <a:t>Wedges / FiF </a:t>
            </a:r>
            <a:r>
              <a:rPr sz="1250" b="0" i="0">
                <a:solidFill>
                  <a:srgbClr val="5A7480"/>
                </a:solidFill>
                <a:latin typeface="Calibri"/>
              </a:rPr>
              <a:t>— applied where the contour slopes or hot spots emerge</a:t>
            </a:r>
          </a:p>
        </p:txBody>
      </p:sp>
      <p:sp>
        <p:nvSpPr>
          <p:cNvPr id="8" name="Rounded Rectangle 7"/>
          <p:cNvSpPr/>
          <p:nvPr/>
        </p:nvSpPr>
        <p:spPr>
          <a:xfrm>
            <a:off x="6172200" y="2194560"/>
            <a:ext cx="5458968" cy="3977639"/>
          </a:xfrm>
          <a:prstGeom prst="roundRect">
            <a:avLst>
              <a:gd name="adj" fmla="val 4500"/>
            </a:avLst>
          </a:prstGeom>
          <a:solidFill>
            <a:srgbClr val="F0F7FA"/>
          </a:solidFill>
          <a:ln w="16510">
            <a:solidFill>
              <a:srgbClr val="DA3B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64808" y="2395728"/>
            <a:ext cx="4846320" cy="365760"/>
          </a:xfrm>
          <a:prstGeom prst="rect">
            <a:avLst/>
          </a:prstGeom>
          <a:noFill/>
        </p:spPr>
        <p:txBody>
          <a:bodyPr wrap="square" lIns="0" tIns="0" rIns="0" bIns="0" anchor="t">
            <a:noAutofit/>
          </a:bodyPr>
          <a:lstStyle/>
          <a:p>
            <a:pPr algn="l">
              <a:lnSpc>
                <a:spcPct val="118000"/>
              </a:lnSpc>
              <a:spcBef>
                <a:spcPts val="0"/>
              </a:spcBef>
              <a:spcAft>
                <a:spcPts val="400"/>
              </a:spcAft>
            </a:pPr>
            <a:r>
              <a:rPr sz="1100" b="1" i="0" spc="180">
                <a:solidFill>
                  <a:srgbClr val="DA3B40"/>
                </a:solidFill>
                <a:latin typeface="Consolas"/>
              </a:rPr>
              <a:t>COLLIMATION &amp; SHAPING</a:t>
            </a:r>
          </a:p>
        </p:txBody>
      </p:sp>
      <p:sp>
        <p:nvSpPr>
          <p:cNvPr id="10" name="TextBox 9"/>
          <p:cNvSpPr txBox="1"/>
          <p:nvPr/>
        </p:nvSpPr>
        <p:spPr>
          <a:xfrm>
            <a:off x="6464808" y="2816352"/>
            <a:ext cx="4937760" cy="4572000"/>
          </a:xfrm>
          <a:prstGeom prst="rect">
            <a:avLst/>
          </a:prstGeom>
          <a:noFill/>
        </p:spPr>
        <p:txBody>
          <a:bodyPr wrap="square" lIns="0" tIns="0" rIns="0" bIns="0" anchor="t">
            <a:noAutofit/>
          </a:bodyPr>
          <a:lstStyle/>
          <a:p>
            <a:pPr algn="l">
              <a:lnSpc>
                <a:spcPct val="122000"/>
              </a:lnSpc>
              <a:spcBef>
                <a:spcPts val="0"/>
              </a:spcBef>
              <a:spcAft>
                <a:spcPts val="1152"/>
              </a:spcAft>
            </a:pPr>
            <a:r>
              <a:rPr sz="1250" b="1" i="0">
                <a:solidFill>
                  <a:srgbClr val="DA3B40"/>
                </a:solidFill>
                <a:latin typeface="Calibri"/>
              </a:rPr>
              <a:t>▸  </a:t>
            </a:r>
            <a:r>
              <a:rPr sz="1250" b="1" i="0">
                <a:solidFill>
                  <a:srgbClr val="14313C"/>
                </a:solidFill>
                <a:latin typeface="Calibri"/>
              </a:rPr>
              <a:t>MLC conforms to PTV BEV </a:t>
            </a:r>
            <a:r>
              <a:rPr sz="1250" b="0" i="0">
                <a:solidFill>
                  <a:srgbClr val="5A7480"/>
                </a:solidFill>
                <a:latin typeface="Calibri"/>
              </a:rPr>
              <a:t>— with a real penumbra margin, not clipped tight to the PTV</a:t>
            </a:r>
          </a:p>
          <a:p>
            <a:pPr algn="l">
              <a:lnSpc>
                <a:spcPct val="122000"/>
              </a:lnSpc>
              <a:spcBef>
                <a:spcPts val="0"/>
              </a:spcBef>
              <a:spcAft>
                <a:spcPts val="1152"/>
              </a:spcAft>
            </a:pPr>
            <a:r>
              <a:rPr sz="1250" b="1" i="0">
                <a:solidFill>
                  <a:srgbClr val="DA3B40"/>
                </a:solidFill>
                <a:latin typeface="Calibri"/>
              </a:rPr>
              <a:t>▸  </a:t>
            </a:r>
            <a:r>
              <a:rPr sz="1250" b="1" i="0">
                <a:solidFill>
                  <a:srgbClr val="14313C"/>
                </a:solidFill>
                <a:latin typeface="Calibri"/>
              </a:rPr>
              <a:t>Hot spot location </a:t>
            </a:r>
            <a:r>
              <a:rPr sz="1250" b="0" i="0">
                <a:solidFill>
                  <a:srgbClr val="5A7480"/>
                </a:solidFill>
                <a:latin typeface="Calibri"/>
              </a:rPr>
              <a:t>— 107% inside the PTV is fine; in skin or an OAR it is not</a:t>
            </a:r>
          </a:p>
          <a:p>
            <a:pPr algn="l">
              <a:lnSpc>
                <a:spcPct val="122000"/>
              </a:lnSpc>
              <a:spcBef>
                <a:spcPts val="0"/>
              </a:spcBef>
              <a:spcAft>
                <a:spcPts val="1152"/>
              </a:spcAft>
            </a:pPr>
            <a:r>
              <a:rPr sz="1250" b="1" i="0">
                <a:solidFill>
                  <a:srgbClr val="DA3B40"/>
                </a:solidFill>
                <a:latin typeface="Calibri"/>
              </a:rPr>
              <a:t>▸  </a:t>
            </a:r>
            <a:r>
              <a:rPr sz="1250" b="1" i="0">
                <a:solidFill>
                  <a:srgbClr val="14313C"/>
                </a:solidFill>
                <a:latin typeface="Calibri"/>
              </a:rPr>
              <a:t>Monitor units </a:t>
            </a:r>
            <a:r>
              <a:rPr sz="1250" b="0" i="0">
                <a:solidFill>
                  <a:srgbClr val="5A7480"/>
                </a:solidFill>
                <a:latin typeface="Calibri"/>
              </a:rPr>
              <a:t>— sanity-check; excess MU adds scatter and integral dose</a:t>
            </a:r>
          </a:p>
          <a:p>
            <a:pPr algn="l">
              <a:lnSpc>
                <a:spcPct val="122000"/>
              </a:lnSpc>
              <a:spcBef>
                <a:spcPts val="0"/>
              </a:spcBef>
              <a:spcAft>
                <a:spcPts val="1152"/>
              </a:spcAft>
            </a:pPr>
            <a:r>
              <a:rPr sz="1250" b="1" i="0">
                <a:solidFill>
                  <a:srgbClr val="DA3B40"/>
                </a:solidFill>
                <a:latin typeface="Calibri"/>
              </a:rPr>
              <a:t>▸  </a:t>
            </a:r>
            <a:r>
              <a:rPr sz="1250" b="1" i="0">
                <a:solidFill>
                  <a:srgbClr val="14313C"/>
                </a:solidFill>
                <a:latin typeface="Calibri"/>
              </a:rPr>
              <a:t>Normalisation </a:t>
            </a:r>
            <a:r>
              <a:rPr sz="1250" b="0" i="0">
                <a:solidFill>
                  <a:srgbClr val="5A7480"/>
                </a:solidFill>
                <a:latin typeface="Calibri"/>
              </a:rPr>
              <a:t>— prescription point in stable, representative tissue</a:t>
            </a:r>
          </a:p>
        </p:txBody>
      </p:sp>
      <p:sp>
        <p:nvSpPr>
          <p:cNvPr id="11" name="TextBox 10"/>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12" name="TextBox 11"/>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20 / 34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F07D2E"/>
                </a:solidFill>
                <a:latin typeface="Consolas"/>
              </a:rPr>
              <a:t>BLOCK 3 · TECHNICAL QUALITY</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a:solidFill>
                  <a:srgbClr val="00A9E0"/>
                </a:solidFill>
                <a:latin typeface="Georgia"/>
              </a:rPr>
              <a:t>Technical red flags — patterns that signal a problem</a:t>
            </a:r>
          </a:p>
        </p:txBody>
      </p:sp>
      <p:pic>
        <p:nvPicPr>
          <p:cNvPr id="4" name="Picture 3" descr="h_field_arrangement.png"/>
          <p:cNvPicPr>
            <a:picLocks noChangeAspect="1"/>
          </p:cNvPicPr>
          <p:nvPr/>
        </p:nvPicPr>
        <p:blipFill>
          <a:blip r:embed="rId3"/>
          <a:stretch>
            <a:fillRect/>
          </a:stretch>
        </p:blipFill>
        <p:spPr>
          <a:xfrm>
            <a:off x="4709160" y="1783080"/>
            <a:ext cx="6949440" cy="3744310"/>
          </a:xfrm>
          <a:prstGeom prst="rect">
            <a:avLst/>
          </a:prstGeom>
        </p:spPr>
      </p:pic>
      <p:sp>
        <p:nvSpPr>
          <p:cNvPr id="5" name="TextBox 4"/>
          <p:cNvSpPr txBox="1"/>
          <p:nvPr/>
        </p:nvSpPr>
        <p:spPr>
          <a:xfrm>
            <a:off x="566928" y="1810512"/>
            <a:ext cx="3977639" cy="777240"/>
          </a:xfrm>
          <a:prstGeom prst="rect">
            <a:avLst/>
          </a:prstGeom>
          <a:noFill/>
        </p:spPr>
        <p:txBody>
          <a:bodyPr wrap="square" lIns="0" tIns="0" rIns="0" bIns="0" anchor="t">
            <a:noAutofit/>
          </a:bodyPr>
          <a:lstStyle/>
          <a:p>
            <a:pPr algn="l">
              <a:lnSpc>
                <a:spcPct val="130000"/>
              </a:lnSpc>
              <a:spcBef>
                <a:spcPts val="0"/>
              </a:spcBef>
              <a:spcAft>
                <a:spcPts val="400"/>
              </a:spcAft>
            </a:pPr>
            <a:r>
              <a:rPr sz="1300" b="0" i="0">
                <a:solidFill>
                  <a:srgbClr val="5A7480"/>
                </a:solidFill>
                <a:latin typeface="Calibri"/>
              </a:rPr>
              <a:t>Spot one of these — name it, explain the risk, say how to fix it.</a:t>
            </a:r>
          </a:p>
        </p:txBody>
      </p:sp>
      <p:sp>
        <p:nvSpPr>
          <p:cNvPr id="6" name="TextBox 5"/>
          <p:cNvSpPr txBox="1"/>
          <p:nvPr/>
        </p:nvSpPr>
        <p:spPr>
          <a:xfrm>
            <a:off x="566928" y="2697480"/>
            <a:ext cx="4023360" cy="4572000"/>
          </a:xfrm>
          <a:prstGeom prst="rect">
            <a:avLst/>
          </a:prstGeom>
          <a:noFill/>
        </p:spPr>
        <p:txBody>
          <a:bodyPr wrap="square" lIns="0" tIns="0" rIns="0" bIns="0" anchor="t">
            <a:noAutofit/>
          </a:bodyPr>
          <a:lstStyle/>
          <a:p>
            <a:pPr algn="l">
              <a:lnSpc>
                <a:spcPct val="122000"/>
              </a:lnSpc>
              <a:spcBef>
                <a:spcPts val="0"/>
              </a:spcBef>
              <a:spcAft>
                <a:spcPts val="828"/>
              </a:spcAft>
            </a:pPr>
            <a:r>
              <a:rPr sz="1230" b="1" i="0">
                <a:solidFill>
                  <a:srgbClr val="F07D2E"/>
                </a:solidFill>
                <a:latin typeface="Calibri"/>
              </a:rPr>
              <a:t>▸  </a:t>
            </a:r>
            <a:r>
              <a:rPr sz="1230" b="1" i="0">
                <a:solidFill>
                  <a:srgbClr val="14313C"/>
                </a:solidFill>
                <a:latin typeface="Calibri"/>
              </a:rPr>
              <a:t>Isocentre in lung, air, or at a tissue interface </a:t>
            </a:r>
            <a:r>
              <a:rPr sz="1230" b="0" i="0">
                <a:solidFill>
                  <a:srgbClr val="5A7480"/>
                </a:solidFill>
                <a:latin typeface="Calibri"/>
              </a:rPr>
              <a:t>— dosimetrically unstable</a:t>
            </a:r>
          </a:p>
          <a:p>
            <a:pPr algn="l">
              <a:lnSpc>
                <a:spcPct val="122000"/>
              </a:lnSpc>
              <a:spcBef>
                <a:spcPts val="0"/>
              </a:spcBef>
              <a:spcAft>
                <a:spcPts val="828"/>
              </a:spcAft>
            </a:pPr>
            <a:r>
              <a:rPr sz="1230" b="1" i="0">
                <a:solidFill>
                  <a:srgbClr val="F07D2E"/>
                </a:solidFill>
                <a:latin typeface="Calibri"/>
              </a:rPr>
              <a:t>▸  </a:t>
            </a:r>
            <a:r>
              <a:rPr sz="1230" b="1" i="0">
                <a:solidFill>
                  <a:srgbClr val="14313C"/>
                </a:solidFill>
                <a:latin typeface="Calibri"/>
              </a:rPr>
              <a:t>A beam transiting directly through a critical OAR </a:t>
            </a:r>
            <a:r>
              <a:rPr sz="1230" b="0" i="0">
                <a:solidFill>
                  <a:srgbClr val="5A7480"/>
                </a:solidFill>
                <a:latin typeface="Calibri"/>
              </a:rPr>
              <a:t>— do not enter or exit through a critical organ if a re-angle solves it</a:t>
            </a:r>
          </a:p>
          <a:p>
            <a:pPr algn="l">
              <a:lnSpc>
                <a:spcPct val="122000"/>
              </a:lnSpc>
              <a:spcBef>
                <a:spcPts val="0"/>
              </a:spcBef>
              <a:spcAft>
                <a:spcPts val="828"/>
              </a:spcAft>
            </a:pPr>
            <a:r>
              <a:rPr sz="1230" b="1" i="0">
                <a:solidFill>
                  <a:srgbClr val="F07D2E"/>
                </a:solidFill>
                <a:latin typeface="Calibri"/>
              </a:rPr>
              <a:t>▸  </a:t>
            </a:r>
            <a:r>
              <a:rPr sz="1230" b="1" i="0">
                <a:solidFill>
                  <a:srgbClr val="14313C"/>
                </a:solidFill>
                <a:latin typeface="Calibri"/>
              </a:rPr>
              <a:t>Hot spot outside the PTV </a:t>
            </a:r>
            <a:r>
              <a:rPr sz="1230" b="0" i="0">
                <a:solidFill>
                  <a:srgbClr val="5A7480"/>
                </a:solidFill>
                <a:latin typeface="Calibri"/>
              </a:rPr>
              <a:t>— in skin, bowel, or an organ at risk</a:t>
            </a:r>
          </a:p>
          <a:p>
            <a:pPr algn="l">
              <a:lnSpc>
                <a:spcPct val="122000"/>
              </a:lnSpc>
              <a:spcBef>
                <a:spcPts val="0"/>
              </a:spcBef>
              <a:spcAft>
                <a:spcPts val="828"/>
              </a:spcAft>
            </a:pPr>
            <a:r>
              <a:rPr sz="1230" b="1" i="0">
                <a:solidFill>
                  <a:srgbClr val="F07D2E"/>
                </a:solidFill>
                <a:latin typeface="Calibri"/>
              </a:rPr>
              <a:t>▸  </a:t>
            </a:r>
            <a:r>
              <a:rPr sz="1230" b="1" i="0">
                <a:solidFill>
                  <a:srgbClr val="14313C"/>
                </a:solidFill>
                <a:latin typeface="Calibri"/>
              </a:rPr>
              <a:t>MLC clipped tight to the PTV </a:t>
            </a:r>
            <a:r>
              <a:rPr sz="1230" b="0" i="0">
                <a:solidFill>
                  <a:srgbClr val="5A7480"/>
                </a:solidFill>
                <a:latin typeface="Calibri"/>
              </a:rPr>
              <a:t>— cold rim guaranteed; leaves no penumbra margin</a:t>
            </a:r>
          </a:p>
        </p:txBody>
      </p:sp>
      <p:sp>
        <p:nvSpPr>
          <p:cNvPr id="7" name="TextBox 6"/>
          <p:cNvSpPr txBox="1"/>
          <p:nvPr/>
        </p:nvSpPr>
        <p:spPr>
          <a:xfrm>
            <a:off x="4709160" y="5582254"/>
            <a:ext cx="6949440" cy="320040"/>
          </a:xfrm>
          <a:prstGeom prst="rect">
            <a:avLst/>
          </a:prstGeom>
          <a:noFill/>
        </p:spPr>
        <p:txBody>
          <a:bodyPr wrap="square" lIns="0" tIns="0" rIns="0" bIns="0" anchor="t">
            <a:noAutofit/>
          </a:bodyPr>
          <a:lstStyle/>
          <a:p>
            <a:pPr algn="ctr">
              <a:lnSpc>
                <a:spcPct val="118000"/>
              </a:lnSpc>
              <a:spcBef>
                <a:spcPts val="0"/>
              </a:spcBef>
              <a:spcAft>
                <a:spcPts val="400"/>
              </a:spcAft>
            </a:pPr>
            <a:r>
              <a:rPr sz="969" b="0" i="1">
                <a:solidFill>
                  <a:srgbClr val="96AAB4"/>
                </a:solidFill>
                <a:latin typeface="Calibri"/>
              </a:rPr>
              <a:t>Also watch for: no wedge on a sloping contour — cold strip at a field junction — implausible MU for the prescription</a:t>
            </a:r>
          </a:p>
        </p:txBody>
      </p:sp>
      <p:sp>
        <p:nvSpPr>
          <p:cNvPr id="8" name="TextBox 7"/>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9" name="TextBox 8"/>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21 / 34</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F07D2E"/>
                </a:solidFill>
                <a:latin typeface="Consolas"/>
              </a:rPr>
              <a:t>BLOCK 3 · TECHNICAL QUALITY</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a:solidFill>
                  <a:srgbClr val="00A9E0"/>
                </a:solidFill>
                <a:latin typeface="Georgia"/>
              </a:rPr>
              <a:t>Shaping the dose — weighting, wedges, modulation</a:t>
            </a:r>
          </a:p>
        </p:txBody>
      </p:sp>
      <p:sp>
        <p:nvSpPr>
          <p:cNvPr id="4" name="Rounded Rectangle 3"/>
          <p:cNvSpPr/>
          <p:nvPr/>
        </p:nvSpPr>
        <p:spPr>
          <a:xfrm>
            <a:off x="566928" y="1993392"/>
            <a:ext cx="5458968" cy="1993392"/>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1993392"/>
            <a:ext cx="64008" cy="1993392"/>
          </a:xfrm>
          <a:prstGeom prst="rect">
            <a:avLst/>
          </a:prstGeom>
          <a:solidFill>
            <a:srgbClr val="00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2231136"/>
            <a:ext cx="4937760" cy="457200"/>
          </a:xfrm>
          <a:prstGeom prst="rect">
            <a:avLst/>
          </a:prstGeom>
          <a:noFill/>
        </p:spPr>
        <p:txBody>
          <a:bodyPr wrap="square" lIns="0" tIns="0" rIns="0" bIns="0" anchor="t">
            <a:noAutofit/>
          </a:bodyPr>
          <a:lstStyle/>
          <a:p>
            <a:pPr algn="l">
              <a:lnSpc>
                <a:spcPct val="118000"/>
              </a:lnSpc>
              <a:spcBef>
                <a:spcPts val="0"/>
              </a:spcBef>
              <a:spcAft>
                <a:spcPts val="400"/>
              </a:spcAft>
            </a:pPr>
            <a:r>
              <a:rPr sz="1650" b="1" i="0">
                <a:solidFill>
                  <a:srgbClr val="14313C"/>
                </a:solidFill>
                <a:latin typeface="Georgia"/>
              </a:rPr>
              <a:t>Beam weighting</a:t>
            </a:r>
          </a:p>
        </p:txBody>
      </p:sp>
      <p:sp>
        <p:nvSpPr>
          <p:cNvPr id="7" name="TextBox 6"/>
          <p:cNvSpPr txBox="1"/>
          <p:nvPr/>
        </p:nvSpPr>
        <p:spPr>
          <a:xfrm>
            <a:off x="896112" y="2706624"/>
            <a:ext cx="4937760" cy="1188720"/>
          </a:xfrm>
          <a:prstGeom prst="rect">
            <a:avLst/>
          </a:prstGeom>
          <a:noFill/>
        </p:spPr>
        <p:txBody>
          <a:bodyPr wrap="square" lIns="0" tIns="0" rIns="0" bIns="0" anchor="t">
            <a:noAutofit/>
          </a:bodyPr>
          <a:lstStyle/>
          <a:p>
            <a:pPr algn="l">
              <a:lnSpc>
                <a:spcPct val="132000"/>
              </a:lnSpc>
              <a:spcBef>
                <a:spcPts val="0"/>
              </a:spcBef>
              <a:spcAft>
                <a:spcPts val="400"/>
              </a:spcAft>
            </a:pPr>
            <a:r>
              <a:rPr sz="1240" b="0" i="0">
                <a:solidFill>
                  <a:srgbClr val="5A7480"/>
                </a:solidFill>
                <a:latin typeface="Calibri"/>
              </a:rPr>
              <a:t>The relative dose contribution of each field. Re-weight to pull the hot spot into the target and balance dose — e.g. AP/PA vs the laterals.</a:t>
            </a:r>
          </a:p>
        </p:txBody>
      </p:sp>
      <p:sp>
        <p:nvSpPr>
          <p:cNvPr id="8" name="Rounded Rectangle 7"/>
          <p:cNvSpPr/>
          <p:nvPr/>
        </p:nvSpPr>
        <p:spPr>
          <a:xfrm>
            <a:off x="6172200" y="1993392"/>
            <a:ext cx="5458968" cy="1993392"/>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1993392"/>
            <a:ext cx="64008" cy="1993392"/>
          </a:xfrm>
          <a:prstGeom prst="rect">
            <a:avLst/>
          </a:prstGeom>
          <a:solidFill>
            <a:srgbClr val="F07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01384" y="2231136"/>
            <a:ext cx="4937760" cy="457200"/>
          </a:xfrm>
          <a:prstGeom prst="rect">
            <a:avLst/>
          </a:prstGeom>
          <a:noFill/>
        </p:spPr>
        <p:txBody>
          <a:bodyPr wrap="square" lIns="0" tIns="0" rIns="0" bIns="0" anchor="t">
            <a:noAutofit/>
          </a:bodyPr>
          <a:lstStyle/>
          <a:p>
            <a:pPr algn="l">
              <a:lnSpc>
                <a:spcPct val="118000"/>
              </a:lnSpc>
              <a:spcBef>
                <a:spcPts val="0"/>
              </a:spcBef>
              <a:spcAft>
                <a:spcPts val="400"/>
              </a:spcAft>
            </a:pPr>
            <a:r>
              <a:rPr sz="1650" b="1" i="0">
                <a:solidFill>
                  <a:srgbClr val="14313C"/>
                </a:solidFill>
                <a:latin typeface="Georgia"/>
              </a:rPr>
              <a:t>Wedges</a:t>
            </a:r>
          </a:p>
        </p:txBody>
      </p:sp>
      <p:sp>
        <p:nvSpPr>
          <p:cNvPr id="11" name="TextBox 10"/>
          <p:cNvSpPr txBox="1"/>
          <p:nvPr/>
        </p:nvSpPr>
        <p:spPr>
          <a:xfrm>
            <a:off x="6501384" y="2706624"/>
            <a:ext cx="4937760" cy="1188720"/>
          </a:xfrm>
          <a:prstGeom prst="rect">
            <a:avLst/>
          </a:prstGeom>
          <a:noFill/>
        </p:spPr>
        <p:txBody>
          <a:bodyPr wrap="square" lIns="0" tIns="0" rIns="0" bIns="0" anchor="t">
            <a:noAutofit/>
          </a:bodyPr>
          <a:lstStyle/>
          <a:p>
            <a:pPr algn="l">
              <a:lnSpc>
                <a:spcPct val="132000"/>
              </a:lnSpc>
              <a:spcBef>
                <a:spcPts val="0"/>
              </a:spcBef>
              <a:spcAft>
                <a:spcPts val="400"/>
              </a:spcAft>
            </a:pPr>
            <a:r>
              <a:rPr sz="1240" b="0" i="0">
                <a:solidFill>
                  <a:srgbClr val="5A7480"/>
                </a:solidFill>
                <a:latin typeface="Calibri"/>
              </a:rPr>
              <a:t>Physical or dynamic. Tilt the isodoses to compensate for a sloping surface or missing tissue — the classic use is breast tangents.</a:t>
            </a:r>
          </a:p>
        </p:txBody>
      </p:sp>
      <p:sp>
        <p:nvSpPr>
          <p:cNvPr id="12" name="Rounded Rectangle 11"/>
          <p:cNvSpPr/>
          <p:nvPr/>
        </p:nvSpPr>
        <p:spPr>
          <a:xfrm>
            <a:off x="566928" y="4151376"/>
            <a:ext cx="5458968" cy="1993392"/>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4151376"/>
            <a:ext cx="64008" cy="1993392"/>
          </a:xfrm>
          <a:prstGeom prst="rect">
            <a:avLst/>
          </a:prstGeom>
          <a:solidFill>
            <a:srgbClr val="1F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96112" y="4389120"/>
            <a:ext cx="4937760" cy="457200"/>
          </a:xfrm>
          <a:prstGeom prst="rect">
            <a:avLst/>
          </a:prstGeom>
          <a:noFill/>
        </p:spPr>
        <p:txBody>
          <a:bodyPr wrap="square" lIns="0" tIns="0" rIns="0" bIns="0" anchor="t">
            <a:noAutofit/>
          </a:bodyPr>
          <a:lstStyle/>
          <a:p>
            <a:pPr algn="l">
              <a:lnSpc>
                <a:spcPct val="118000"/>
              </a:lnSpc>
              <a:spcBef>
                <a:spcPts val="0"/>
              </a:spcBef>
              <a:spcAft>
                <a:spcPts val="400"/>
              </a:spcAft>
            </a:pPr>
            <a:r>
              <a:rPr sz="1650" b="1" i="0">
                <a:solidFill>
                  <a:srgbClr val="14313C"/>
                </a:solidFill>
                <a:latin typeface="Georgia"/>
              </a:rPr>
              <a:t>Field-in-field</a:t>
            </a:r>
          </a:p>
        </p:txBody>
      </p:sp>
      <p:sp>
        <p:nvSpPr>
          <p:cNvPr id="15" name="TextBox 14"/>
          <p:cNvSpPr txBox="1"/>
          <p:nvPr/>
        </p:nvSpPr>
        <p:spPr>
          <a:xfrm>
            <a:off x="896112" y="4864608"/>
            <a:ext cx="4937760" cy="1188720"/>
          </a:xfrm>
          <a:prstGeom prst="rect">
            <a:avLst/>
          </a:prstGeom>
          <a:noFill/>
        </p:spPr>
        <p:txBody>
          <a:bodyPr wrap="square" lIns="0" tIns="0" rIns="0" bIns="0" anchor="t">
            <a:noAutofit/>
          </a:bodyPr>
          <a:lstStyle/>
          <a:p>
            <a:pPr algn="l">
              <a:lnSpc>
                <a:spcPct val="132000"/>
              </a:lnSpc>
              <a:spcBef>
                <a:spcPts val="0"/>
              </a:spcBef>
              <a:spcAft>
                <a:spcPts val="400"/>
              </a:spcAft>
            </a:pPr>
            <a:r>
              <a:rPr sz="1240" b="0" i="0">
                <a:solidFill>
                  <a:srgbClr val="5A7480"/>
                </a:solidFill>
                <a:latin typeface="Calibri"/>
              </a:rPr>
              <a:t>Forward-planned sub-segments that block emerging hot spots. The modern 3DCRT homogenisation tool — routine in breast.</a:t>
            </a:r>
          </a:p>
        </p:txBody>
      </p:sp>
      <p:sp>
        <p:nvSpPr>
          <p:cNvPr id="16" name="Rounded Rectangle 15"/>
          <p:cNvSpPr/>
          <p:nvPr/>
        </p:nvSpPr>
        <p:spPr>
          <a:xfrm>
            <a:off x="6172200" y="4151376"/>
            <a:ext cx="5458968" cy="1993392"/>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4151376"/>
            <a:ext cx="64008" cy="1993392"/>
          </a:xfrm>
          <a:prstGeom prst="rect">
            <a:avLst/>
          </a:prstGeom>
          <a:solidFill>
            <a:srgbClr val="DA3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01384" y="4389120"/>
            <a:ext cx="4937760" cy="457200"/>
          </a:xfrm>
          <a:prstGeom prst="rect">
            <a:avLst/>
          </a:prstGeom>
          <a:noFill/>
        </p:spPr>
        <p:txBody>
          <a:bodyPr wrap="square" lIns="0" tIns="0" rIns="0" bIns="0" anchor="t">
            <a:noAutofit/>
          </a:bodyPr>
          <a:lstStyle/>
          <a:p>
            <a:pPr algn="l">
              <a:lnSpc>
                <a:spcPct val="118000"/>
              </a:lnSpc>
              <a:spcBef>
                <a:spcPts val="0"/>
              </a:spcBef>
              <a:spcAft>
                <a:spcPts val="400"/>
              </a:spcAft>
            </a:pPr>
            <a:r>
              <a:rPr sz="1650" b="1" i="0">
                <a:solidFill>
                  <a:srgbClr val="14313C"/>
                </a:solidFill>
                <a:latin typeface="Georgia"/>
              </a:rPr>
              <a:t>Compensators</a:t>
            </a:r>
          </a:p>
        </p:txBody>
      </p:sp>
      <p:sp>
        <p:nvSpPr>
          <p:cNvPr id="19" name="TextBox 18"/>
          <p:cNvSpPr txBox="1"/>
          <p:nvPr/>
        </p:nvSpPr>
        <p:spPr>
          <a:xfrm>
            <a:off x="6501384" y="4864608"/>
            <a:ext cx="4937760" cy="1188720"/>
          </a:xfrm>
          <a:prstGeom prst="rect">
            <a:avLst/>
          </a:prstGeom>
          <a:noFill/>
        </p:spPr>
        <p:txBody>
          <a:bodyPr wrap="square" lIns="0" tIns="0" rIns="0" bIns="0" anchor="t">
            <a:noAutofit/>
          </a:bodyPr>
          <a:lstStyle/>
          <a:p>
            <a:pPr algn="l">
              <a:lnSpc>
                <a:spcPct val="132000"/>
              </a:lnSpc>
              <a:spcBef>
                <a:spcPts val="0"/>
              </a:spcBef>
              <a:spcAft>
                <a:spcPts val="400"/>
              </a:spcAft>
            </a:pPr>
            <a:r>
              <a:rPr sz="1240" b="0" i="0">
                <a:solidFill>
                  <a:srgbClr val="5A7480"/>
                </a:solidFill>
                <a:latin typeface="Calibri"/>
              </a:rPr>
              <a:t>Physical compensators or bolus to manage missing tissue and surface dose where wedges or segments are not enough.</a:t>
            </a:r>
          </a:p>
        </p:txBody>
      </p:sp>
      <p:sp>
        <p:nvSpPr>
          <p:cNvPr id="20" name="TextBox 19"/>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21" name="TextBox 20"/>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28 / 34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F07D2E"/>
                </a:solidFill>
                <a:latin typeface="Consolas"/>
              </a:rPr>
              <a:t>BLOCK 3 · TECHNICAL QUALITY</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a:solidFill>
                  <a:srgbClr val="00A9E0"/>
                </a:solidFill>
                <a:latin typeface="Georgia"/>
              </a:rPr>
              <a:t>Collimation &amp; MLC shaping</a:t>
            </a:r>
          </a:p>
        </p:txBody>
      </p:sp>
      <p:sp>
        <p:nvSpPr>
          <p:cNvPr id="4" name="TextBox 3"/>
          <p:cNvSpPr txBox="1"/>
          <p:nvPr/>
        </p:nvSpPr>
        <p:spPr>
          <a:xfrm>
            <a:off x="566928" y="1572768"/>
            <a:ext cx="10972800" cy="457200"/>
          </a:xfrm>
          <a:prstGeom prst="rect">
            <a:avLst/>
          </a:prstGeom>
          <a:noFill/>
        </p:spPr>
        <p:txBody>
          <a:bodyPr wrap="square" lIns="0" tIns="0" rIns="0" bIns="0" anchor="t">
            <a:noAutofit/>
          </a:bodyPr>
          <a:lstStyle/>
          <a:p>
            <a:pPr algn="l">
              <a:lnSpc>
                <a:spcPct val="118000"/>
              </a:lnSpc>
              <a:spcBef>
                <a:spcPts val="0"/>
              </a:spcBef>
              <a:spcAft>
                <a:spcPts val="400"/>
              </a:spcAft>
            </a:pPr>
            <a:r>
              <a:rPr sz="1320" b="0" i="1">
                <a:solidFill>
                  <a:srgbClr val="5A7480"/>
                </a:solidFill>
                <a:latin typeface="Calibri"/>
              </a:rPr>
              <a:t>The MLC and collimator shape each field to the beam's-eye-view of the target. Conform tightly — but never clip the PTV.</a:t>
            </a:r>
          </a:p>
        </p:txBody>
      </p:sp>
      <p:sp>
        <p:nvSpPr>
          <p:cNvPr id="5" name="Rounded Rectangle 4"/>
          <p:cNvSpPr/>
          <p:nvPr/>
        </p:nvSpPr>
        <p:spPr>
          <a:xfrm>
            <a:off x="566928" y="2139696"/>
            <a:ext cx="5458968" cy="1847088"/>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41247" y="2395728"/>
            <a:ext cx="182880" cy="182880"/>
          </a:xfrm>
          <a:prstGeom prst="ellipse">
            <a:avLst/>
          </a:prstGeom>
          <a:solidFill>
            <a:srgbClr val="1F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52144" y="2322576"/>
            <a:ext cx="4663440" cy="384048"/>
          </a:xfrm>
          <a:prstGeom prst="rect">
            <a:avLst/>
          </a:prstGeom>
          <a:noFill/>
        </p:spPr>
        <p:txBody>
          <a:bodyPr wrap="square" lIns="0" tIns="0" rIns="0" bIns="0" anchor="t">
            <a:noAutofit/>
          </a:bodyPr>
          <a:lstStyle/>
          <a:p>
            <a:pPr algn="l">
              <a:lnSpc>
                <a:spcPct val="118000"/>
              </a:lnSpc>
              <a:spcBef>
                <a:spcPts val="0"/>
              </a:spcBef>
              <a:spcAft>
                <a:spcPts val="400"/>
              </a:spcAft>
            </a:pPr>
            <a:r>
              <a:rPr sz="1550" b="1" i="0">
                <a:solidFill>
                  <a:srgbClr val="14313C"/>
                </a:solidFill>
                <a:latin typeface="Georgia"/>
              </a:rPr>
              <a:t>MLC conformance</a:t>
            </a:r>
          </a:p>
        </p:txBody>
      </p:sp>
      <p:sp>
        <p:nvSpPr>
          <p:cNvPr id="8" name="TextBox 7"/>
          <p:cNvSpPr txBox="1"/>
          <p:nvPr/>
        </p:nvSpPr>
        <p:spPr>
          <a:xfrm>
            <a:off x="877824" y="2798063"/>
            <a:ext cx="4937760" cy="1097280"/>
          </a:xfrm>
          <a:prstGeom prst="rect">
            <a:avLst/>
          </a:prstGeom>
          <a:noFill/>
        </p:spPr>
        <p:txBody>
          <a:bodyPr wrap="square" lIns="0" tIns="0" rIns="0" bIns="0" anchor="t">
            <a:noAutofit/>
          </a:bodyPr>
          <a:lstStyle/>
          <a:p>
            <a:pPr algn="l">
              <a:lnSpc>
                <a:spcPct val="130000"/>
              </a:lnSpc>
              <a:spcBef>
                <a:spcPts val="0"/>
              </a:spcBef>
              <a:spcAft>
                <a:spcPts val="400"/>
              </a:spcAft>
            </a:pPr>
            <a:r>
              <a:rPr sz="1220" b="0" i="0">
                <a:solidFill>
                  <a:srgbClr val="5A7480"/>
                </a:solidFill>
                <a:latin typeface="Calibri"/>
              </a:rPr>
              <a:t>Shape the field to the BEV of the PTV plus a penumbra margin. Too tight clips the target; too loose wastes normal tissue.</a:t>
            </a:r>
          </a:p>
        </p:txBody>
      </p:sp>
      <p:sp>
        <p:nvSpPr>
          <p:cNvPr id="9" name="Rounded Rectangle 8"/>
          <p:cNvSpPr/>
          <p:nvPr/>
        </p:nvSpPr>
        <p:spPr>
          <a:xfrm>
            <a:off x="6172200" y="2139696"/>
            <a:ext cx="5458968" cy="1847088"/>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446520" y="2395728"/>
            <a:ext cx="182880" cy="182880"/>
          </a:xfrm>
          <a:prstGeom prst="ellipse">
            <a:avLst/>
          </a:prstGeom>
          <a:solidFill>
            <a:srgbClr val="00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57416" y="2322576"/>
            <a:ext cx="4663440" cy="384048"/>
          </a:xfrm>
          <a:prstGeom prst="rect">
            <a:avLst/>
          </a:prstGeom>
          <a:noFill/>
        </p:spPr>
        <p:txBody>
          <a:bodyPr wrap="square" lIns="0" tIns="0" rIns="0" bIns="0" anchor="t">
            <a:noAutofit/>
          </a:bodyPr>
          <a:lstStyle/>
          <a:p>
            <a:pPr algn="l">
              <a:lnSpc>
                <a:spcPct val="118000"/>
              </a:lnSpc>
              <a:spcBef>
                <a:spcPts val="0"/>
              </a:spcBef>
              <a:spcAft>
                <a:spcPts val="400"/>
              </a:spcAft>
            </a:pPr>
            <a:r>
              <a:rPr sz="1550" b="1" i="0">
                <a:solidFill>
                  <a:srgbClr val="14313C"/>
                </a:solidFill>
                <a:latin typeface="Georgia"/>
              </a:rPr>
              <a:t>Collimator rotation</a:t>
            </a:r>
          </a:p>
        </p:txBody>
      </p:sp>
      <p:sp>
        <p:nvSpPr>
          <p:cNvPr id="12" name="TextBox 11"/>
          <p:cNvSpPr txBox="1"/>
          <p:nvPr/>
        </p:nvSpPr>
        <p:spPr>
          <a:xfrm>
            <a:off x="6483096" y="2798063"/>
            <a:ext cx="4937760" cy="1097280"/>
          </a:xfrm>
          <a:prstGeom prst="rect">
            <a:avLst/>
          </a:prstGeom>
          <a:noFill/>
        </p:spPr>
        <p:txBody>
          <a:bodyPr wrap="square" lIns="0" tIns="0" rIns="0" bIns="0" anchor="t">
            <a:noAutofit/>
          </a:bodyPr>
          <a:lstStyle/>
          <a:p>
            <a:pPr algn="l">
              <a:lnSpc>
                <a:spcPct val="130000"/>
              </a:lnSpc>
              <a:spcBef>
                <a:spcPts val="0"/>
              </a:spcBef>
              <a:spcAft>
                <a:spcPts val="400"/>
              </a:spcAft>
            </a:pPr>
            <a:r>
              <a:rPr sz="1220" b="0" i="0">
                <a:solidFill>
                  <a:srgbClr val="5A7480"/>
                </a:solidFill>
                <a:latin typeface="Calibri"/>
              </a:rPr>
              <a:t>Rotate to match the field shape to the PTV, minimise the MLC “staircase”, and manage divergence at field junctions.</a:t>
            </a:r>
          </a:p>
        </p:txBody>
      </p:sp>
      <p:sp>
        <p:nvSpPr>
          <p:cNvPr id="13" name="Rounded Rectangle 12"/>
          <p:cNvSpPr/>
          <p:nvPr/>
        </p:nvSpPr>
        <p:spPr>
          <a:xfrm>
            <a:off x="566928" y="4151376"/>
            <a:ext cx="5458968" cy="1847088"/>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41247" y="4407408"/>
            <a:ext cx="182880" cy="182880"/>
          </a:xfrm>
          <a:prstGeom prst="ellipse">
            <a:avLst/>
          </a:prstGeom>
          <a:solidFill>
            <a:srgbClr val="F07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52144" y="4334256"/>
            <a:ext cx="4663440" cy="384048"/>
          </a:xfrm>
          <a:prstGeom prst="rect">
            <a:avLst/>
          </a:prstGeom>
          <a:noFill/>
        </p:spPr>
        <p:txBody>
          <a:bodyPr wrap="square" lIns="0" tIns="0" rIns="0" bIns="0" anchor="t">
            <a:noAutofit/>
          </a:bodyPr>
          <a:lstStyle/>
          <a:p>
            <a:pPr algn="l">
              <a:lnSpc>
                <a:spcPct val="118000"/>
              </a:lnSpc>
              <a:spcBef>
                <a:spcPts val="0"/>
              </a:spcBef>
              <a:spcAft>
                <a:spcPts val="400"/>
              </a:spcAft>
            </a:pPr>
            <a:r>
              <a:rPr sz="1550" b="1" i="0">
                <a:solidFill>
                  <a:srgbClr val="14313C"/>
                </a:solidFill>
                <a:latin typeface="Georgia"/>
              </a:rPr>
              <a:t>Penumbra margin</a:t>
            </a:r>
          </a:p>
        </p:txBody>
      </p:sp>
      <p:sp>
        <p:nvSpPr>
          <p:cNvPr id="16" name="TextBox 15"/>
          <p:cNvSpPr txBox="1"/>
          <p:nvPr/>
        </p:nvSpPr>
        <p:spPr>
          <a:xfrm>
            <a:off x="877824" y="4809744"/>
            <a:ext cx="4937760" cy="1097280"/>
          </a:xfrm>
          <a:prstGeom prst="rect">
            <a:avLst/>
          </a:prstGeom>
          <a:noFill/>
        </p:spPr>
        <p:txBody>
          <a:bodyPr wrap="square" lIns="0" tIns="0" rIns="0" bIns="0" anchor="t">
            <a:noAutofit/>
          </a:bodyPr>
          <a:lstStyle/>
          <a:p>
            <a:pPr algn="l">
              <a:lnSpc>
                <a:spcPct val="130000"/>
              </a:lnSpc>
              <a:spcBef>
                <a:spcPts val="0"/>
              </a:spcBef>
              <a:spcAft>
                <a:spcPts val="400"/>
              </a:spcAft>
            </a:pPr>
            <a:r>
              <a:rPr sz="1220" b="0" i="0">
                <a:solidFill>
                  <a:srgbClr val="5A7480"/>
                </a:solidFill>
                <a:latin typeface="Calibri"/>
              </a:rPr>
              <a:t>The MLC leaf edge is not the dose edge. Leave margin so the PTV sits inside the high-dose region, not in the falloff.</a:t>
            </a:r>
          </a:p>
        </p:txBody>
      </p:sp>
      <p:sp>
        <p:nvSpPr>
          <p:cNvPr id="17" name="Rounded Rectangle 16"/>
          <p:cNvSpPr/>
          <p:nvPr/>
        </p:nvSpPr>
        <p:spPr>
          <a:xfrm>
            <a:off x="6172200" y="4151376"/>
            <a:ext cx="5458968" cy="1847088"/>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446520" y="4407408"/>
            <a:ext cx="182880" cy="182880"/>
          </a:xfrm>
          <a:prstGeom prst="ellipse">
            <a:avLst/>
          </a:prstGeom>
          <a:solidFill>
            <a:srgbClr val="DA3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57416" y="4334256"/>
            <a:ext cx="4663440" cy="384048"/>
          </a:xfrm>
          <a:prstGeom prst="rect">
            <a:avLst/>
          </a:prstGeom>
          <a:noFill/>
        </p:spPr>
        <p:txBody>
          <a:bodyPr wrap="square" lIns="0" tIns="0" rIns="0" bIns="0" anchor="t">
            <a:noAutofit/>
          </a:bodyPr>
          <a:lstStyle/>
          <a:p>
            <a:pPr algn="l">
              <a:lnSpc>
                <a:spcPct val="118000"/>
              </a:lnSpc>
              <a:spcBef>
                <a:spcPts val="0"/>
              </a:spcBef>
              <a:spcAft>
                <a:spcPts val="400"/>
              </a:spcAft>
            </a:pPr>
            <a:r>
              <a:rPr sz="1550" b="1" i="0">
                <a:solidFill>
                  <a:srgbClr val="14313C"/>
                </a:solidFill>
                <a:latin typeface="Georgia"/>
              </a:rPr>
              <a:t>Tongue-and-groove</a:t>
            </a:r>
          </a:p>
        </p:txBody>
      </p:sp>
      <p:sp>
        <p:nvSpPr>
          <p:cNvPr id="20" name="TextBox 19"/>
          <p:cNvSpPr txBox="1"/>
          <p:nvPr/>
        </p:nvSpPr>
        <p:spPr>
          <a:xfrm>
            <a:off x="6483096" y="4809744"/>
            <a:ext cx="4937760" cy="1097280"/>
          </a:xfrm>
          <a:prstGeom prst="rect">
            <a:avLst/>
          </a:prstGeom>
          <a:noFill/>
        </p:spPr>
        <p:txBody>
          <a:bodyPr wrap="square" lIns="0" tIns="0" rIns="0" bIns="0" anchor="t">
            <a:noAutofit/>
          </a:bodyPr>
          <a:lstStyle/>
          <a:p>
            <a:pPr algn="l">
              <a:lnSpc>
                <a:spcPct val="130000"/>
              </a:lnSpc>
              <a:spcBef>
                <a:spcPts val="0"/>
              </a:spcBef>
              <a:spcAft>
                <a:spcPts val="400"/>
              </a:spcAft>
            </a:pPr>
            <a:r>
              <a:rPr sz="1220" b="0" i="0">
                <a:solidFill>
                  <a:srgbClr val="5A7480"/>
                </a:solidFill>
                <a:latin typeface="Calibri"/>
              </a:rPr>
              <a:t>Slight underdose along leaf sides. Minimised by sensible collimator-angle choice — know it exists.</a:t>
            </a:r>
          </a:p>
        </p:txBody>
      </p:sp>
      <p:sp>
        <p:nvSpPr>
          <p:cNvPr id="21" name="TextBox 20"/>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22" name="TextBox 21"/>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29 / 34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F07D2E"/>
                </a:solidFill>
                <a:latin typeface="Consolas"/>
              </a:rPr>
              <a:t>BLOCK 3 · TECHNICAL QUALITY</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a:solidFill>
                  <a:srgbClr val="00A9E0"/>
                </a:solidFill>
                <a:latin typeface="Georgia"/>
              </a:rPr>
              <a:t>Hot spots, dose gradient &amp; integral dose</a:t>
            </a:r>
          </a:p>
        </p:txBody>
      </p:sp>
      <p:pic>
        <p:nvPicPr>
          <p:cNvPr id="4" name="Picture 3" descr="i_hotspot.png"/>
          <p:cNvPicPr>
            <a:picLocks noChangeAspect="1"/>
          </p:cNvPicPr>
          <p:nvPr/>
        </p:nvPicPr>
        <p:blipFill>
          <a:blip r:embed="rId3"/>
          <a:stretch>
            <a:fillRect/>
          </a:stretch>
        </p:blipFill>
        <p:spPr>
          <a:xfrm>
            <a:off x="4709160" y="1783080"/>
            <a:ext cx="6949440" cy="3744310"/>
          </a:xfrm>
          <a:prstGeom prst="rect">
            <a:avLst/>
          </a:prstGeom>
        </p:spPr>
      </p:pic>
      <p:sp>
        <p:nvSpPr>
          <p:cNvPr id="5" name="TextBox 4"/>
          <p:cNvSpPr txBox="1"/>
          <p:nvPr/>
        </p:nvSpPr>
        <p:spPr>
          <a:xfrm>
            <a:off x="566928" y="1810512"/>
            <a:ext cx="3977639" cy="502920"/>
          </a:xfrm>
          <a:prstGeom prst="rect">
            <a:avLst/>
          </a:prstGeom>
          <a:noFill/>
        </p:spPr>
        <p:txBody>
          <a:bodyPr wrap="square" lIns="0" tIns="0" rIns="0" bIns="0" anchor="t">
            <a:noAutofit/>
          </a:bodyPr>
          <a:lstStyle/>
          <a:p>
            <a:pPr algn="l">
              <a:lnSpc>
                <a:spcPct val="130000"/>
              </a:lnSpc>
              <a:spcBef>
                <a:spcPts val="0"/>
              </a:spcBef>
              <a:spcAft>
                <a:spcPts val="400"/>
              </a:spcAft>
            </a:pPr>
            <a:r>
              <a:rPr sz="1300" b="0" i="0">
                <a:solidFill>
                  <a:srgbClr val="5A7480"/>
                </a:solidFill>
                <a:latin typeface="Calibri"/>
              </a:rPr>
              <a:t>Three final technical reads — and the first one is the most-missed.</a:t>
            </a:r>
          </a:p>
        </p:txBody>
      </p:sp>
      <p:sp>
        <p:nvSpPr>
          <p:cNvPr id="6" name="TextBox 5"/>
          <p:cNvSpPr txBox="1"/>
          <p:nvPr/>
        </p:nvSpPr>
        <p:spPr>
          <a:xfrm>
            <a:off x="566928" y="2514600"/>
            <a:ext cx="4023360" cy="4572000"/>
          </a:xfrm>
          <a:prstGeom prst="rect">
            <a:avLst/>
          </a:prstGeom>
          <a:noFill/>
        </p:spPr>
        <p:txBody>
          <a:bodyPr wrap="square" lIns="0" tIns="0" rIns="0" bIns="0" anchor="t">
            <a:noAutofit/>
          </a:bodyPr>
          <a:lstStyle/>
          <a:p>
            <a:pPr algn="l">
              <a:lnSpc>
                <a:spcPct val="122000"/>
              </a:lnSpc>
              <a:spcBef>
                <a:spcPts val="0"/>
              </a:spcBef>
              <a:spcAft>
                <a:spcPts val="1152"/>
              </a:spcAft>
            </a:pPr>
            <a:r>
              <a:rPr sz="1230" b="1" i="0">
                <a:solidFill>
                  <a:srgbClr val="F07D2E"/>
                </a:solidFill>
                <a:latin typeface="Calibri"/>
              </a:rPr>
              <a:t>▸  </a:t>
            </a:r>
            <a:r>
              <a:rPr sz="1230" b="1" i="0">
                <a:solidFill>
                  <a:srgbClr val="14313C"/>
                </a:solidFill>
                <a:latin typeface="Calibri"/>
              </a:rPr>
              <a:t>Hot spot — location, not just size </a:t>
            </a:r>
            <a:r>
              <a:rPr sz="1230" b="0" i="0">
                <a:solidFill>
                  <a:srgbClr val="5A7480"/>
                </a:solidFill>
                <a:latin typeface="Calibri"/>
              </a:rPr>
              <a:t>a 107% inside the PTV is fine; in skin or an OAR it is not</a:t>
            </a:r>
          </a:p>
          <a:p>
            <a:pPr algn="l">
              <a:lnSpc>
                <a:spcPct val="122000"/>
              </a:lnSpc>
              <a:spcBef>
                <a:spcPts val="0"/>
              </a:spcBef>
              <a:spcAft>
                <a:spcPts val="1152"/>
              </a:spcAft>
            </a:pPr>
            <a:r>
              <a:rPr sz="1230" b="1" i="0">
                <a:solidFill>
                  <a:srgbClr val="F07D2E"/>
                </a:solidFill>
                <a:latin typeface="Calibri"/>
              </a:rPr>
              <a:t>▸  </a:t>
            </a:r>
            <a:r>
              <a:rPr sz="1230" b="1" i="0">
                <a:solidFill>
                  <a:srgbClr val="14313C"/>
                </a:solidFill>
                <a:latin typeface="Calibri"/>
              </a:rPr>
              <a:t>Dose gradient </a:t>
            </a:r>
            <a:r>
              <a:rPr sz="1230" b="0" i="0">
                <a:solidFill>
                  <a:srgbClr val="5A7480"/>
                </a:solidFill>
                <a:latin typeface="Calibri"/>
              </a:rPr>
              <a:t>— dose should fall steeply between PTV and any adjacent OAR</a:t>
            </a:r>
          </a:p>
          <a:p>
            <a:pPr algn="l">
              <a:lnSpc>
                <a:spcPct val="122000"/>
              </a:lnSpc>
              <a:spcBef>
                <a:spcPts val="0"/>
              </a:spcBef>
              <a:spcAft>
                <a:spcPts val="1152"/>
              </a:spcAft>
            </a:pPr>
            <a:r>
              <a:rPr sz="1230" b="1" i="0">
                <a:solidFill>
                  <a:srgbClr val="F07D2E"/>
                </a:solidFill>
                <a:latin typeface="Calibri"/>
              </a:rPr>
              <a:t>▸  </a:t>
            </a:r>
            <a:r>
              <a:rPr sz="1230" b="1" i="0">
                <a:solidFill>
                  <a:srgbClr val="14313C"/>
                </a:solidFill>
                <a:latin typeface="Calibri"/>
              </a:rPr>
              <a:t>Integral dose / MU </a:t>
            </a:r>
            <a:r>
              <a:rPr sz="1230" b="0" i="0">
                <a:solidFill>
                  <a:srgbClr val="5A7480"/>
                </a:solidFill>
                <a:latin typeface="Calibri"/>
              </a:rPr>
              <a:t>— sanity-check the monitor units; excess MU adds scatter and integral dose</a:t>
            </a:r>
          </a:p>
        </p:txBody>
      </p:sp>
      <p:sp>
        <p:nvSpPr>
          <p:cNvPr id="7" name="TextBox 6"/>
          <p:cNvSpPr txBox="1"/>
          <p:nvPr/>
        </p:nvSpPr>
        <p:spPr>
          <a:xfrm>
            <a:off x="4709160" y="5582254"/>
            <a:ext cx="6949440" cy="320040"/>
          </a:xfrm>
          <a:prstGeom prst="rect">
            <a:avLst/>
          </a:prstGeom>
          <a:noFill/>
        </p:spPr>
        <p:txBody>
          <a:bodyPr wrap="square" lIns="0" tIns="0" rIns="0" bIns="0" anchor="t">
            <a:noAutofit/>
          </a:bodyPr>
          <a:lstStyle/>
          <a:p>
            <a:pPr algn="ctr">
              <a:lnSpc>
                <a:spcPct val="118000"/>
              </a:lnSpc>
              <a:spcBef>
                <a:spcPts val="0"/>
              </a:spcBef>
              <a:spcAft>
                <a:spcPts val="400"/>
              </a:spcAft>
            </a:pPr>
            <a:r>
              <a:rPr sz="969" b="0" i="1">
                <a:solidFill>
                  <a:srgbClr val="96AAB4"/>
                </a:solidFill>
                <a:latin typeface="Calibri"/>
              </a:rPr>
              <a:t>The same hot spot is acceptable inside the PTV and a problem outside it</a:t>
            </a:r>
          </a:p>
        </p:txBody>
      </p:sp>
      <p:sp>
        <p:nvSpPr>
          <p:cNvPr id="8" name="TextBox 7"/>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9" name="TextBox 8"/>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30 / 34</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dirty="0">
                <a:solidFill>
                  <a:srgbClr val="F07D2E"/>
                </a:solidFill>
                <a:latin typeface="Consolas"/>
              </a:rPr>
              <a:t>BRINGING IT TGETHER</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dirty="0">
                <a:solidFill>
                  <a:srgbClr val="00A9E0"/>
                </a:solidFill>
                <a:latin typeface="Georgia"/>
              </a:rPr>
              <a:t>The scorecard, revisited</a:t>
            </a:r>
          </a:p>
        </p:txBody>
      </p:sp>
      <p:sp>
        <p:nvSpPr>
          <p:cNvPr id="4" name="TextBox 3"/>
          <p:cNvSpPr txBox="1"/>
          <p:nvPr/>
        </p:nvSpPr>
        <p:spPr>
          <a:xfrm>
            <a:off x="566928" y="1554480"/>
            <a:ext cx="10972800" cy="457200"/>
          </a:xfrm>
          <a:prstGeom prst="rect">
            <a:avLst/>
          </a:prstGeom>
          <a:noFill/>
        </p:spPr>
        <p:txBody>
          <a:bodyPr wrap="square" lIns="0" tIns="0" rIns="0" bIns="0" anchor="t">
            <a:noAutofit/>
          </a:bodyPr>
          <a:lstStyle/>
          <a:p>
            <a:pPr algn="l">
              <a:lnSpc>
                <a:spcPct val="118000"/>
              </a:lnSpc>
              <a:spcBef>
                <a:spcPts val="0"/>
              </a:spcBef>
              <a:spcAft>
                <a:spcPts val="400"/>
              </a:spcAft>
            </a:pPr>
            <a:r>
              <a:rPr sz="1300" b="0" i="1" dirty="0">
                <a:solidFill>
                  <a:srgbClr val="5A7480"/>
                </a:solidFill>
                <a:latin typeface="Calibri"/>
              </a:rPr>
              <a:t>You now have the concepts. Sort them into the three tiers — that sorting is the clinical skill.</a:t>
            </a:r>
          </a:p>
        </p:txBody>
      </p:sp>
      <p:sp>
        <p:nvSpPr>
          <p:cNvPr id="5" name="Rounded Rectangle 4"/>
          <p:cNvSpPr/>
          <p:nvPr/>
        </p:nvSpPr>
        <p:spPr>
          <a:xfrm>
            <a:off x="566928" y="2139696"/>
            <a:ext cx="6903720" cy="1225296"/>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66928" y="2139696"/>
            <a:ext cx="64008" cy="1225296"/>
          </a:xfrm>
          <a:prstGeom prst="rect">
            <a:avLst/>
          </a:prstGeom>
          <a:solidFill>
            <a:srgbClr val="C92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59536" y="2322576"/>
            <a:ext cx="182880" cy="182880"/>
          </a:xfrm>
          <a:prstGeom prst="ellipse">
            <a:avLst/>
          </a:prstGeom>
          <a:solidFill>
            <a:srgbClr val="C92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2144" y="2249424"/>
            <a:ext cx="2743200" cy="365760"/>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160">
                <a:solidFill>
                  <a:srgbClr val="C92E33"/>
                </a:solidFill>
                <a:latin typeface="Consolas"/>
              </a:rPr>
              <a:t>CRITICAL</a:t>
            </a:r>
          </a:p>
        </p:txBody>
      </p:sp>
      <p:sp>
        <p:nvSpPr>
          <p:cNvPr id="9" name="TextBox 8"/>
          <p:cNvSpPr txBox="1"/>
          <p:nvPr/>
        </p:nvSpPr>
        <p:spPr>
          <a:xfrm>
            <a:off x="1152144" y="2560320"/>
            <a:ext cx="6126480" cy="365760"/>
          </a:xfrm>
          <a:prstGeom prst="rect">
            <a:avLst/>
          </a:prstGeom>
          <a:noFill/>
        </p:spPr>
        <p:txBody>
          <a:bodyPr wrap="square" lIns="0" tIns="0" rIns="0" bIns="0" anchor="t">
            <a:noAutofit/>
          </a:bodyPr>
          <a:lstStyle/>
          <a:p>
            <a:pPr algn="l">
              <a:lnSpc>
                <a:spcPct val="118000"/>
              </a:lnSpc>
              <a:spcBef>
                <a:spcPts val="0"/>
              </a:spcBef>
              <a:spcAft>
                <a:spcPts val="400"/>
              </a:spcAft>
            </a:pPr>
            <a:r>
              <a:rPr sz="1250" b="1" i="1">
                <a:solidFill>
                  <a:srgbClr val="14313C"/>
                </a:solidFill>
                <a:latin typeface="Calibri"/>
              </a:rPr>
              <a:t>Plan fails — re-plan</a:t>
            </a:r>
          </a:p>
        </p:txBody>
      </p:sp>
      <p:sp>
        <p:nvSpPr>
          <p:cNvPr id="10" name="TextBox 9"/>
          <p:cNvSpPr txBox="1"/>
          <p:nvPr/>
        </p:nvSpPr>
        <p:spPr>
          <a:xfrm>
            <a:off x="1152144" y="2871215"/>
            <a:ext cx="6172200" cy="457200"/>
          </a:xfrm>
          <a:prstGeom prst="rect">
            <a:avLst/>
          </a:prstGeom>
          <a:noFill/>
        </p:spPr>
        <p:txBody>
          <a:bodyPr wrap="square" lIns="0" tIns="0" rIns="0" bIns="0" anchor="t">
            <a:noAutofit/>
          </a:bodyPr>
          <a:lstStyle/>
          <a:p>
            <a:pPr algn="l">
              <a:lnSpc>
                <a:spcPct val="122000"/>
              </a:lnSpc>
              <a:spcBef>
                <a:spcPts val="0"/>
              </a:spcBef>
              <a:spcAft>
                <a:spcPts val="400"/>
              </a:spcAft>
            </a:pPr>
            <a:r>
              <a:rPr sz="1130" b="0" i="0">
                <a:solidFill>
                  <a:srgbClr val="5A7480"/>
                </a:solidFill>
                <a:latin typeface="Calibri"/>
              </a:rPr>
              <a:t>Geographic miss of the target · serial OAR over a hard tolerance · hot spot in a critical organ.</a:t>
            </a:r>
          </a:p>
        </p:txBody>
      </p:sp>
      <p:sp>
        <p:nvSpPr>
          <p:cNvPr id="11" name="Rounded Rectangle 10"/>
          <p:cNvSpPr/>
          <p:nvPr/>
        </p:nvSpPr>
        <p:spPr>
          <a:xfrm>
            <a:off x="566928" y="3511296"/>
            <a:ext cx="6903720" cy="1225296"/>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66928" y="3511296"/>
            <a:ext cx="64008" cy="1225296"/>
          </a:xfrm>
          <a:prstGeom prst="rect">
            <a:avLst/>
          </a:prstGeom>
          <a:solidFill>
            <a:srgbClr val="F07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59536" y="3694176"/>
            <a:ext cx="182880" cy="182880"/>
          </a:xfrm>
          <a:prstGeom prst="ellipse">
            <a:avLst/>
          </a:prstGeom>
          <a:solidFill>
            <a:srgbClr val="F07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52144" y="3621024"/>
            <a:ext cx="2743200" cy="365760"/>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160">
                <a:solidFill>
                  <a:srgbClr val="F07D2E"/>
                </a:solidFill>
                <a:latin typeface="Consolas"/>
              </a:rPr>
              <a:t>MAJOR</a:t>
            </a:r>
          </a:p>
        </p:txBody>
      </p:sp>
      <p:sp>
        <p:nvSpPr>
          <p:cNvPr id="15" name="TextBox 14"/>
          <p:cNvSpPr txBox="1"/>
          <p:nvPr/>
        </p:nvSpPr>
        <p:spPr>
          <a:xfrm>
            <a:off x="1152144" y="3931920"/>
            <a:ext cx="6126480" cy="365760"/>
          </a:xfrm>
          <a:prstGeom prst="rect">
            <a:avLst/>
          </a:prstGeom>
          <a:noFill/>
        </p:spPr>
        <p:txBody>
          <a:bodyPr wrap="square" lIns="0" tIns="0" rIns="0" bIns="0" anchor="t">
            <a:noAutofit/>
          </a:bodyPr>
          <a:lstStyle/>
          <a:p>
            <a:pPr algn="l">
              <a:lnSpc>
                <a:spcPct val="118000"/>
              </a:lnSpc>
              <a:spcBef>
                <a:spcPts val="0"/>
              </a:spcBef>
              <a:spcAft>
                <a:spcPts val="400"/>
              </a:spcAft>
            </a:pPr>
            <a:r>
              <a:rPr sz="1250" b="1" i="1">
                <a:solidFill>
                  <a:srgbClr val="14313C"/>
                </a:solidFill>
                <a:latin typeface="Calibri"/>
              </a:rPr>
              <a:t>Correct it or justify it</a:t>
            </a:r>
          </a:p>
        </p:txBody>
      </p:sp>
      <p:sp>
        <p:nvSpPr>
          <p:cNvPr id="16" name="TextBox 15"/>
          <p:cNvSpPr txBox="1"/>
          <p:nvPr/>
        </p:nvSpPr>
        <p:spPr>
          <a:xfrm>
            <a:off x="1152144" y="4242816"/>
            <a:ext cx="6172200" cy="457200"/>
          </a:xfrm>
          <a:prstGeom prst="rect">
            <a:avLst/>
          </a:prstGeom>
          <a:noFill/>
        </p:spPr>
        <p:txBody>
          <a:bodyPr wrap="square" lIns="0" tIns="0" rIns="0" bIns="0" anchor="t">
            <a:noAutofit/>
          </a:bodyPr>
          <a:lstStyle/>
          <a:p>
            <a:pPr algn="l">
              <a:lnSpc>
                <a:spcPct val="122000"/>
              </a:lnSpc>
              <a:spcBef>
                <a:spcPts val="0"/>
              </a:spcBef>
              <a:spcAft>
                <a:spcPts val="400"/>
              </a:spcAft>
            </a:pPr>
            <a:r>
              <a:rPr sz="1130" b="0" i="0">
                <a:solidFill>
                  <a:srgbClr val="5A7480"/>
                </a:solidFill>
                <a:latin typeface="Calibri"/>
              </a:rPr>
              <a:t>Parallel-OAR mean over constraint · coverage V95 90–95% · a beam through an avoidable OAR.</a:t>
            </a:r>
          </a:p>
        </p:txBody>
      </p:sp>
      <p:sp>
        <p:nvSpPr>
          <p:cNvPr id="17" name="Rounded Rectangle 16"/>
          <p:cNvSpPr/>
          <p:nvPr/>
        </p:nvSpPr>
        <p:spPr>
          <a:xfrm>
            <a:off x="566928" y="4882896"/>
            <a:ext cx="6903720" cy="1225296"/>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66928" y="4882896"/>
            <a:ext cx="64008" cy="1225296"/>
          </a:xfrm>
          <a:prstGeom prst="rect">
            <a:avLst/>
          </a:prstGeom>
          <a:solidFill>
            <a:srgbClr val="96A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59536" y="5065776"/>
            <a:ext cx="182880" cy="182880"/>
          </a:xfrm>
          <a:prstGeom prst="ellipse">
            <a:avLst/>
          </a:prstGeom>
          <a:solidFill>
            <a:srgbClr val="96A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52144" y="4992624"/>
            <a:ext cx="2743200" cy="365760"/>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160">
                <a:solidFill>
                  <a:srgbClr val="96AAB4"/>
                </a:solidFill>
                <a:latin typeface="Consolas"/>
              </a:rPr>
              <a:t>MINOR</a:t>
            </a:r>
          </a:p>
        </p:txBody>
      </p:sp>
      <p:sp>
        <p:nvSpPr>
          <p:cNvPr id="21" name="TextBox 20"/>
          <p:cNvSpPr txBox="1"/>
          <p:nvPr/>
        </p:nvSpPr>
        <p:spPr>
          <a:xfrm>
            <a:off x="1152144" y="5303520"/>
            <a:ext cx="6126480" cy="365760"/>
          </a:xfrm>
          <a:prstGeom prst="rect">
            <a:avLst/>
          </a:prstGeom>
          <a:noFill/>
        </p:spPr>
        <p:txBody>
          <a:bodyPr wrap="square" lIns="0" tIns="0" rIns="0" bIns="0" anchor="t">
            <a:noAutofit/>
          </a:bodyPr>
          <a:lstStyle/>
          <a:p>
            <a:pPr algn="l">
              <a:lnSpc>
                <a:spcPct val="118000"/>
              </a:lnSpc>
              <a:spcBef>
                <a:spcPts val="0"/>
              </a:spcBef>
              <a:spcAft>
                <a:spcPts val="400"/>
              </a:spcAft>
            </a:pPr>
            <a:r>
              <a:rPr sz="1250" b="1" i="1">
                <a:solidFill>
                  <a:srgbClr val="14313C"/>
                </a:solidFill>
                <a:latin typeface="Calibri"/>
              </a:rPr>
              <a:t>Comment — rarely decisive</a:t>
            </a:r>
          </a:p>
        </p:txBody>
      </p:sp>
      <p:sp>
        <p:nvSpPr>
          <p:cNvPr id="22" name="TextBox 21"/>
          <p:cNvSpPr txBox="1"/>
          <p:nvPr/>
        </p:nvSpPr>
        <p:spPr>
          <a:xfrm>
            <a:off x="1152144" y="5614416"/>
            <a:ext cx="6172200" cy="457200"/>
          </a:xfrm>
          <a:prstGeom prst="rect">
            <a:avLst/>
          </a:prstGeom>
          <a:noFill/>
        </p:spPr>
        <p:txBody>
          <a:bodyPr wrap="square" lIns="0" tIns="0" rIns="0" bIns="0" anchor="t">
            <a:noAutofit/>
          </a:bodyPr>
          <a:lstStyle/>
          <a:p>
            <a:pPr algn="l">
              <a:lnSpc>
                <a:spcPct val="122000"/>
              </a:lnSpc>
              <a:spcBef>
                <a:spcPts val="0"/>
              </a:spcBef>
              <a:spcAft>
                <a:spcPts val="400"/>
              </a:spcAft>
            </a:pPr>
            <a:r>
              <a:rPr sz="1130" b="0" i="0">
                <a:solidFill>
                  <a:srgbClr val="5A7480"/>
                </a:solidFill>
                <a:latin typeface="Calibri"/>
              </a:rPr>
              <a:t>Slightly high MU · minor inhomogeneity · a non-ideal but workable isocentre.</a:t>
            </a:r>
          </a:p>
        </p:txBody>
      </p:sp>
      <p:sp>
        <p:nvSpPr>
          <p:cNvPr id="23" name="Rounded Rectangle 22"/>
          <p:cNvSpPr/>
          <p:nvPr/>
        </p:nvSpPr>
        <p:spPr>
          <a:xfrm>
            <a:off x="7680960" y="2139696"/>
            <a:ext cx="3950208" cy="4114800"/>
          </a:xfrm>
          <a:prstGeom prst="roundRect">
            <a:avLst>
              <a:gd name="adj" fmla="val 4500"/>
            </a:avLst>
          </a:prstGeom>
          <a:solidFill>
            <a:srgbClr val="F0F7FA"/>
          </a:solidFill>
          <a:ln w="17780">
            <a:solidFill>
              <a:srgbClr val="F07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955279" y="2359152"/>
            <a:ext cx="3474720" cy="365760"/>
          </a:xfrm>
          <a:prstGeom prst="rect">
            <a:avLst/>
          </a:prstGeom>
          <a:noFill/>
        </p:spPr>
        <p:txBody>
          <a:bodyPr wrap="square" lIns="0" tIns="0" rIns="0" bIns="0" anchor="t">
            <a:noAutofit/>
          </a:bodyPr>
          <a:lstStyle/>
          <a:p>
            <a:pPr algn="l">
              <a:lnSpc>
                <a:spcPct val="118000"/>
              </a:lnSpc>
              <a:spcBef>
                <a:spcPts val="0"/>
              </a:spcBef>
              <a:spcAft>
                <a:spcPts val="400"/>
              </a:spcAft>
            </a:pPr>
            <a:r>
              <a:rPr sz="1100" b="1" i="0" spc="150">
                <a:solidFill>
                  <a:srgbClr val="F07D2E"/>
                </a:solidFill>
                <a:latin typeface="Consolas"/>
              </a:rPr>
              <a:t>REJECT ON SIGHT IF…</a:t>
            </a:r>
          </a:p>
        </p:txBody>
      </p:sp>
      <p:sp>
        <p:nvSpPr>
          <p:cNvPr id="25" name="Oval 24"/>
          <p:cNvSpPr/>
          <p:nvPr/>
        </p:nvSpPr>
        <p:spPr>
          <a:xfrm>
            <a:off x="7955279" y="2798064"/>
            <a:ext cx="365760" cy="365760"/>
          </a:xfrm>
          <a:prstGeom prst="ellipse">
            <a:avLst/>
          </a:prstGeom>
          <a:solidFill>
            <a:srgbClr val="E2EFF4"/>
          </a:solidFill>
          <a:ln w="16510">
            <a:solidFill>
              <a:srgbClr val="F07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955279" y="2798064"/>
            <a:ext cx="365760" cy="365760"/>
          </a:xfrm>
          <a:prstGeom prst="rect">
            <a:avLst/>
          </a:prstGeom>
          <a:noFill/>
        </p:spPr>
        <p:txBody>
          <a:bodyPr wrap="square" lIns="0" tIns="0" rIns="0" bIns="0" anchor="ctr">
            <a:noAutofit/>
          </a:bodyPr>
          <a:lstStyle/>
          <a:p>
            <a:pPr algn="ctr">
              <a:lnSpc>
                <a:spcPct val="118000"/>
              </a:lnSpc>
              <a:spcBef>
                <a:spcPts val="0"/>
              </a:spcBef>
              <a:spcAft>
                <a:spcPts val="400"/>
              </a:spcAft>
            </a:pPr>
            <a:r>
              <a:rPr sz="1400" b="1" i="0">
                <a:solidFill>
                  <a:srgbClr val="F07D2E"/>
                </a:solidFill>
                <a:latin typeface="Georgia"/>
              </a:rPr>
              <a:t>1</a:t>
            </a:r>
          </a:p>
        </p:txBody>
      </p:sp>
      <p:sp>
        <p:nvSpPr>
          <p:cNvPr id="27" name="TextBox 26"/>
          <p:cNvSpPr txBox="1"/>
          <p:nvPr/>
        </p:nvSpPr>
        <p:spPr>
          <a:xfrm>
            <a:off x="8467344" y="2761488"/>
            <a:ext cx="3017520" cy="640080"/>
          </a:xfrm>
          <a:prstGeom prst="rect">
            <a:avLst/>
          </a:prstGeom>
          <a:noFill/>
        </p:spPr>
        <p:txBody>
          <a:bodyPr wrap="square" lIns="0" tIns="0" rIns="0" bIns="0" anchor="t">
            <a:noAutofit/>
          </a:bodyPr>
          <a:lstStyle/>
          <a:p>
            <a:pPr algn="l">
              <a:lnSpc>
                <a:spcPct val="116000"/>
              </a:lnSpc>
              <a:spcBef>
                <a:spcPts val="0"/>
              </a:spcBef>
              <a:spcAft>
                <a:spcPts val="400"/>
              </a:spcAft>
            </a:pPr>
            <a:r>
              <a:rPr sz="1230" b="1" i="0">
                <a:solidFill>
                  <a:srgbClr val="14313C"/>
                </a:solidFill>
                <a:latin typeface="Calibri"/>
              </a:rPr>
              <a:t>The target will be missed</a:t>
            </a:r>
          </a:p>
        </p:txBody>
      </p:sp>
      <p:sp>
        <p:nvSpPr>
          <p:cNvPr id="28" name="TextBox 27"/>
          <p:cNvSpPr txBox="1"/>
          <p:nvPr/>
        </p:nvSpPr>
        <p:spPr>
          <a:xfrm>
            <a:off x="8467344" y="3218688"/>
            <a:ext cx="3035808" cy="548640"/>
          </a:xfrm>
          <a:prstGeom prst="rect">
            <a:avLst/>
          </a:prstGeom>
          <a:noFill/>
        </p:spPr>
        <p:txBody>
          <a:bodyPr wrap="square" lIns="0" tIns="0" rIns="0" bIns="0" anchor="t">
            <a:noAutofit/>
          </a:bodyPr>
          <a:lstStyle/>
          <a:p>
            <a:pPr algn="l">
              <a:lnSpc>
                <a:spcPct val="120000"/>
              </a:lnSpc>
              <a:spcBef>
                <a:spcPts val="0"/>
              </a:spcBef>
              <a:spcAft>
                <a:spcPts val="400"/>
              </a:spcAft>
            </a:pPr>
            <a:r>
              <a:rPr sz="1060" b="0" i="1">
                <a:solidFill>
                  <a:srgbClr val="5A7480"/>
                </a:solidFill>
                <a:latin typeface="Calibri"/>
              </a:rPr>
              <a:t>cold dose reaching into the CTV — not just the PTV margin</a:t>
            </a:r>
          </a:p>
        </p:txBody>
      </p:sp>
      <p:sp>
        <p:nvSpPr>
          <p:cNvPr id="29" name="Oval 28"/>
          <p:cNvSpPr/>
          <p:nvPr/>
        </p:nvSpPr>
        <p:spPr>
          <a:xfrm>
            <a:off x="7955279" y="3840480"/>
            <a:ext cx="365760" cy="365760"/>
          </a:xfrm>
          <a:prstGeom prst="ellipse">
            <a:avLst/>
          </a:prstGeom>
          <a:solidFill>
            <a:srgbClr val="E2EFF4"/>
          </a:solidFill>
          <a:ln w="16510">
            <a:solidFill>
              <a:srgbClr val="F07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955279" y="3840480"/>
            <a:ext cx="365760" cy="365760"/>
          </a:xfrm>
          <a:prstGeom prst="rect">
            <a:avLst/>
          </a:prstGeom>
          <a:noFill/>
        </p:spPr>
        <p:txBody>
          <a:bodyPr wrap="square" lIns="0" tIns="0" rIns="0" bIns="0" anchor="ctr">
            <a:noAutofit/>
          </a:bodyPr>
          <a:lstStyle/>
          <a:p>
            <a:pPr algn="ctr">
              <a:lnSpc>
                <a:spcPct val="118000"/>
              </a:lnSpc>
              <a:spcBef>
                <a:spcPts val="0"/>
              </a:spcBef>
              <a:spcAft>
                <a:spcPts val="400"/>
              </a:spcAft>
            </a:pPr>
            <a:r>
              <a:rPr sz="1400" b="1" i="0">
                <a:solidFill>
                  <a:srgbClr val="F07D2E"/>
                </a:solidFill>
                <a:latin typeface="Georgia"/>
              </a:rPr>
              <a:t>2</a:t>
            </a:r>
          </a:p>
        </p:txBody>
      </p:sp>
      <p:sp>
        <p:nvSpPr>
          <p:cNvPr id="31" name="TextBox 30"/>
          <p:cNvSpPr txBox="1"/>
          <p:nvPr/>
        </p:nvSpPr>
        <p:spPr>
          <a:xfrm>
            <a:off x="8467344" y="3803904"/>
            <a:ext cx="3017520" cy="640080"/>
          </a:xfrm>
          <a:prstGeom prst="rect">
            <a:avLst/>
          </a:prstGeom>
          <a:noFill/>
        </p:spPr>
        <p:txBody>
          <a:bodyPr wrap="square" lIns="0" tIns="0" rIns="0" bIns="0" anchor="t">
            <a:noAutofit/>
          </a:bodyPr>
          <a:lstStyle/>
          <a:p>
            <a:pPr algn="l">
              <a:lnSpc>
                <a:spcPct val="116000"/>
              </a:lnSpc>
              <a:spcBef>
                <a:spcPts val="0"/>
              </a:spcBef>
              <a:spcAft>
                <a:spcPts val="400"/>
              </a:spcAft>
            </a:pPr>
            <a:r>
              <a:rPr sz="1230" b="1" i="0">
                <a:solidFill>
                  <a:srgbClr val="14313C"/>
                </a:solidFill>
                <a:latin typeface="Calibri"/>
              </a:rPr>
              <a:t>A critical serial organ exceeds a hard tolerance</a:t>
            </a:r>
          </a:p>
        </p:txBody>
      </p:sp>
      <p:sp>
        <p:nvSpPr>
          <p:cNvPr id="32" name="TextBox 31"/>
          <p:cNvSpPr txBox="1"/>
          <p:nvPr/>
        </p:nvSpPr>
        <p:spPr>
          <a:xfrm>
            <a:off x="8467344" y="4261104"/>
            <a:ext cx="3035808" cy="548640"/>
          </a:xfrm>
          <a:prstGeom prst="rect">
            <a:avLst/>
          </a:prstGeom>
          <a:noFill/>
        </p:spPr>
        <p:txBody>
          <a:bodyPr wrap="square" lIns="0" tIns="0" rIns="0" bIns="0" anchor="t">
            <a:noAutofit/>
          </a:bodyPr>
          <a:lstStyle/>
          <a:p>
            <a:pPr algn="l">
              <a:lnSpc>
                <a:spcPct val="120000"/>
              </a:lnSpc>
              <a:spcBef>
                <a:spcPts val="0"/>
              </a:spcBef>
              <a:spcAft>
                <a:spcPts val="400"/>
              </a:spcAft>
            </a:pPr>
            <a:r>
              <a:rPr sz="1060" b="0" i="1">
                <a:solidFill>
                  <a:srgbClr val="5A7480"/>
                </a:solidFill>
                <a:latin typeface="Calibri"/>
              </a:rPr>
              <a:t>cord, brainstem, chiasm</a:t>
            </a:r>
          </a:p>
        </p:txBody>
      </p:sp>
      <p:sp>
        <p:nvSpPr>
          <p:cNvPr id="33" name="Oval 32"/>
          <p:cNvSpPr/>
          <p:nvPr/>
        </p:nvSpPr>
        <p:spPr>
          <a:xfrm>
            <a:off x="7955279" y="4882896"/>
            <a:ext cx="365760" cy="365760"/>
          </a:xfrm>
          <a:prstGeom prst="ellipse">
            <a:avLst/>
          </a:prstGeom>
          <a:solidFill>
            <a:srgbClr val="E2EFF4"/>
          </a:solidFill>
          <a:ln w="16510">
            <a:solidFill>
              <a:srgbClr val="F07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955279" y="4882896"/>
            <a:ext cx="365760" cy="365760"/>
          </a:xfrm>
          <a:prstGeom prst="rect">
            <a:avLst/>
          </a:prstGeom>
          <a:noFill/>
        </p:spPr>
        <p:txBody>
          <a:bodyPr wrap="square" lIns="0" tIns="0" rIns="0" bIns="0" anchor="ctr">
            <a:noAutofit/>
          </a:bodyPr>
          <a:lstStyle/>
          <a:p>
            <a:pPr algn="ctr">
              <a:lnSpc>
                <a:spcPct val="118000"/>
              </a:lnSpc>
              <a:spcBef>
                <a:spcPts val="0"/>
              </a:spcBef>
              <a:spcAft>
                <a:spcPts val="400"/>
              </a:spcAft>
            </a:pPr>
            <a:r>
              <a:rPr sz="1400" b="1" i="0">
                <a:solidFill>
                  <a:srgbClr val="F07D2E"/>
                </a:solidFill>
                <a:latin typeface="Georgia"/>
              </a:rPr>
              <a:t>3</a:t>
            </a:r>
          </a:p>
        </p:txBody>
      </p:sp>
      <p:sp>
        <p:nvSpPr>
          <p:cNvPr id="35" name="TextBox 34"/>
          <p:cNvSpPr txBox="1"/>
          <p:nvPr/>
        </p:nvSpPr>
        <p:spPr>
          <a:xfrm>
            <a:off x="8467344" y="4846320"/>
            <a:ext cx="3017520" cy="640080"/>
          </a:xfrm>
          <a:prstGeom prst="rect">
            <a:avLst/>
          </a:prstGeom>
          <a:noFill/>
        </p:spPr>
        <p:txBody>
          <a:bodyPr wrap="square" lIns="0" tIns="0" rIns="0" bIns="0" anchor="t">
            <a:noAutofit/>
          </a:bodyPr>
          <a:lstStyle/>
          <a:p>
            <a:pPr algn="l">
              <a:lnSpc>
                <a:spcPct val="116000"/>
              </a:lnSpc>
              <a:spcBef>
                <a:spcPts val="0"/>
              </a:spcBef>
              <a:spcAft>
                <a:spcPts val="400"/>
              </a:spcAft>
            </a:pPr>
            <a:r>
              <a:rPr sz="1230" b="1" i="0">
                <a:solidFill>
                  <a:srgbClr val="14313C"/>
                </a:solidFill>
                <a:latin typeface="Calibri"/>
              </a:rPr>
              <a:t>The plan is unsafe or undeliverable</a:t>
            </a:r>
          </a:p>
        </p:txBody>
      </p:sp>
      <p:sp>
        <p:nvSpPr>
          <p:cNvPr id="36" name="TextBox 35"/>
          <p:cNvSpPr txBox="1"/>
          <p:nvPr/>
        </p:nvSpPr>
        <p:spPr>
          <a:xfrm>
            <a:off x="8467344" y="5303520"/>
            <a:ext cx="3035808" cy="548640"/>
          </a:xfrm>
          <a:prstGeom prst="rect">
            <a:avLst/>
          </a:prstGeom>
          <a:noFill/>
        </p:spPr>
        <p:txBody>
          <a:bodyPr wrap="square" lIns="0" tIns="0" rIns="0" bIns="0" anchor="t">
            <a:noAutofit/>
          </a:bodyPr>
          <a:lstStyle/>
          <a:p>
            <a:pPr algn="l">
              <a:lnSpc>
                <a:spcPct val="120000"/>
              </a:lnSpc>
              <a:spcBef>
                <a:spcPts val="0"/>
              </a:spcBef>
              <a:spcAft>
                <a:spcPts val="400"/>
              </a:spcAft>
            </a:pPr>
            <a:r>
              <a:rPr sz="1060" b="0" i="1">
                <a:solidFill>
                  <a:srgbClr val="5A7480"/>
                </a:solidFill>
                <a:latin typeface="Calibri"/>
              </a:rPr>
              <a:t>it cannot be delivered as drawn</a:t>
            </a:r>
          </a:p>
        </p:txBody>
      </p:sp>
      <p:sp>
        <p:nvSpPr>
          <p:cNvPr id="37" name="TextBox 36"/>
          <p:cNvSpPr txBox="1"/>
          <p:nvPr/>
        </p:nvSpPr>
        <p:spPr>
          <a:xfrm>
            <a:off x="7955279" y="5943599"/>
            <a:ext cx="3520440" cy="548640"/>
          </a:xfrm>
          <a:prstGeom prst="rect">
            <a:avLst/>
          </a:prstGeom>
          <a:noFill/>
        </p:spPr>
        <p:txBody>
          <a:bodyPr wrap="square" lIns="0" tIns="0" rIns="0" bIns="0" anchor="t">
            <a:noAutofit/>
          </a:bodyPr>
          <a:lstStyle/>
          <a:p>
            <a:pPr algn="l">
              <a:lnSpc>
                <a:spcPct val="124000"/>
              </a:lnSpc>
              <a:spcBef>
                <a:spcPts val="0"/>
              </a:spcBef>
              <a:spcAft>
                <a:spcPts val="400"/>
              </a:spcAft>
            </a:pPr>
            <a:r>
              <a:rPr sz="1080" b="0" i="1">
                <a:solidFill>
                  <a:srgbClr val="96AAB4"/>
                </a:solidFill>
                <a:latin typeface="Calibri"/>
              </a:rPr>
              <a:t>Everything else is graded discussion — not a free pass.</a:t>
            </a:r>
          </a:p>
        </p:txBody>
      </p:sp>
      <p:sp>
        <p:nvSpPr>
          <p:cNvPr id="38" name="TextBox 37"/>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39" name="TextBox 38"/>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22 / 34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F07D2E"/>
                </a:solidFill>
                <a:latin typeface="Consolas"/>
              </a:rPr>
              <a:t>PUTTING IT TO WORK</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a:solidFill>
                  <a:srgbClr val="00A9E0"/>
                </a:solidFill>
                <a:latin typeface="Georgia"/>
              </a:rPr>
              <a:t>A repeatable evaluation routine</a:t>
            </a:r>
          </a:p>
        </p:txBody>
      </p:sp>
      <p:sp>
        <p:nvSpPr>
          <p:cNvPr id="4" name="TextBox 3"/>
          <p:cNvSpPr txBox="1"/>
          <p:nvPr/>
        </p:nvSpPr>
        <p:spPr>
          <a:xfrm>
            <a:off x="566928" y="1572768"/>
            <a:ext cx="11064240" cy="457200"/>
          </a:xfrm>
          <a:prstGeom prst="rect">
            <a:avLst/>
          </a:prstGeom>
          <a:noFill/>
        </p:spPr>
        <p:txBody>
          <a:bodyPr wrap="square" lIns="0" tIns="0" rIns="0" bIns="0" anchor="t">
            <a:noAutofit/>
          </a:bodyPr>
          <a:lstStyle/>
          <a:p>
            <a:pPr algn="l">
              <a:lnSpc>
                <a:spcPct val="118000"/>
              </a:lnSpc>
              <a:spcBef>
                <a:spcPts val="0"/>
              </a:spcBef>
              <a:spcAft>
                <a:spcPts val="400"/>
              </a:spcAft>
            </a:pPr>
            <a:r>
              <a:rPr sz="1300" b="0" i="1">
                <a:solidFill>
                  <a:srgbClr val="5A7480"/>
                </a:solidFill>
                <a:latin typeface="Calibri"/>
              </a:rPr>
              <a:t>Same sequence, every plan, every time — then the handful of habits that catch the errors checklists miss.</a:t>
            </a:r>
          </a:p>
        </p:txBody>
      </p:sp>
      <p:sp>
        <p:nvSpPr>
          <p:cNvPr id="5" name="Rounded Rectangle 4"/>
          <p:cNvSpPr/>
          <p:nvPr/>
        </p:nvSpPr>
        <p:spPr>
          <a:xfrm>
            <a:off x="566928" y="2157984"/>
            <a:ext cx="4572000" cy="3977639"/>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66928" y="2157984"/>
            <a:ext cx="4572000" cy="64008"/>
          </a:xfrm>
          <a:prstGeom prst="rect">
            <a:avLst/>
          </a:prstGeom>
          <a:solidFill>
            <a:srgbClr val="00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8" y="2340864"/>
            <a:ext cx="4023360" cy="365760"/>
          </a:xfrm>
          <a:prstGeom prst="rect">
            <a:avLst/>
          </a:prstGeom>
          <a:noFill/>
        </p:spPr>
        <p:txBody>
          <a:bodyPr wrap="square" lIns="0" tIns="0" rIns="0" bIns="0" anchor="t">
            <a:noAutofit/>
          </a:bodyPr>
          <a:lstStyle/>
          <a:p>
            <a:pPr algn="l">
              <a:lnSpc>
                <a:spcPct val="118000"/>
              </a:lnSpc>
              <a:spcBef>
                <a:spcPts val="0"/>
              </a:spcBef>
              <a:spcAft>
                <a:spcPts val="400"/>
              </a:spcAft>
            </a:pPr>
            <a:r>
              <a:rPr sz="1050" b="1" i="0" spc="150">
                <a:solidFill>
                  <a:srgbClr val="00A9E0"/>
                </a:solidFill>
                <a:latin typeface="Consolas"/>
              </a:rPr>
              <a:t>REVIEW IN THIS ORDER</a:t>
            </a:r>
          </a:p>
        </p:txBody>
      </p:sp>
      <p:sp>
        <p:nvSpPr>
          <p:cNvPr id="8" name="Oval 7"/>
          <p:cNvSpPr/>
          <p:nvPr/>
        </p:nvSpPr>
        <p:spPr>
          <a:xfrm>
            <a:off x="868680" y="2743200"/>
            <a:ext cx="274320" cy="274320"/>
          </a:xfrm>
          <a:prstGeom prst="ellipse">
            <a:avLst/>
          </a:prstGeom>
          <a:solidFill>
            <a:srgbClr val="E2EFF4"/>
          </a:solidFill>
          <a:ln w="15240">
            <a:solidFill>
              <a:srgbClr val="00A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2743200"/>
            <a:ext cx="274320" cy="274320"/>
          </a:xfrm>
          <a:prstGeom prst="rect">
            <a:avLst/>
          </a:prstGeom>
          <a:noFill/>
        </p:spPr>
        <p:txBody>
          <a:bodyPr wrap="square" lIns="0" tIns="0" rIns="0" bIns="0" anchor="ctr">
            <a:noAutofit/>
          </a:bodyPr>
          <a:lstStyle/>
          <a:p>
            <a:pPr algn="ctr">
              <a:lnSpc>
                <a:spcPct val="118000"/>
              </a:lnSpc>
              <a:spcBef>
                <a:spcPts val="0"/>
              </a:spcBef>
              <a:spcAft>
                <a:spcPts val="400"/>
              </a:spcAft>
            </a:pPr>
            <a:r>
              <a:rPr sz="1100" b="1" i="0">
                <a:solidFill>
                  <a:srgbClr val="00A9E0"/>
                </a:solidFill>
                <a:latin typeface="Georgia"/>
              </a:rPr>
              <a:t>1</a:t>
            </a:r>
          </a:p>
        </p:txBody>
      </p:sp>
      <p:sp>
        <p:nvSpPr>
          <p:cNvPr id="10" name="TextBox 9"/>
          <p:cNvSpPr txBox="1"/>
          <p:nvPr/>
        </p:nvSpPr>
        <p:spPr>
          <a:xfrm>
            <a:off x="1298448" y="2724912"/>
            <a:ext cx="3657600" cy="320040"/>
          </a:xfrm>
          <a:prstGeom prst="rect">
            <a:avLst/>
          </a:prstGeom>
          <a:noFill/>
        </p:spPr>
        <p:txBody>
          <a:bodyPr wrap="square" lIns="0" tIns="0" rIns="0" bIns="0" anchor="t">
            <a:noAutofit/>
          </a:bodyPr>
          <a:lstStyle/>
          <a:p>
            <a:pPr algn="l">
              <a:lnSpc>
                <a:spcPct val="118000"/>
              </a:lnSpc>
              <a:spcBef>
                <a:spcPts val="0"/>
              </a:spcBef>
              <a:spcAft>
                <a:spcPts val="400"/>
              </a:spcAft>
            </a:pPr>
            <a:r>
              <a:rPr sz="1250" b="0" i="0">
                <a:solidFill>
                  <a:srgbClr val="14313C"/>
                </a:solidFill>
                <a:latin typeface="Calibri"/>
              </a:rPr>
              <a:t>Prescription</a:t>
            </a:r>
          </a:p>
        </p:txBody>
      </p:sp>
      <p:sp>
        <p:nvSpPr>
          <p:cNvPr id="11" name="Oval 10"/>
          <p:cNvSpPr/>
          <p:nvPr/>
        </p:nvSpPr>
        <p:spPr>
          <a:xfrm>
            <a:off x="868680" y="3108960"/>
            <a:ext cx="274320" cy="274320"/>
          </a:xfrm>
          <a:prstGeom prst="ellipse">
            <a:avLst/>
          </a:prstGeom>
          <a:solidFill>
            <a:srgbClr val="E2EFF4"/>
          </a:solidFill>
          <a:ln w="15240">
            <a:solidFill>
              <a:srgbClr val="00A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3108960"/>
            <a:ext cx="274320" cy="274320"/>
          </a:xfrm>
          <a:prstGeom prst="rect">
            <a:avLst/>
          </a:prstGeom>
          <a:noFill/>
        </p:spPr>
        <p:txBody>
          <a:bodyPr wrap="square" lIns="0" tIns="0" rIns="0" bIns="0" anchor="ctr">
            <a:noAutofit/>
          </a:bodyPr>
          <a:lstStyle/>
          <a:p>
            <a:pPr algn="ctr">
              <a:lnSpc>
                <a:spcPct val="118000"/>
              </a:lnSpc>
              <a:spcBef>
                <a:spcPts val="0"/>
              </a:spcBef>
              <a:spcAft>
                <a:spcPts val="400"/>
              </a:spcAft>
            </a:pPr>
            <a:r>
              <a:rPr sz="1100" b="1" i="0">
                <a:solidFill>
                  <a:srgbClr val="00A9E0"/>
                </a:solidFill>
                <a:latin typeface="Georgia"/>
              </a:rPr>
              <a:t>2</a:t>
            </a:r>
          </a:p>
        </p:txBody>
      </p:sp>
      <p:sp>
        <p:nvSpPr>
          <p:cNvPr id="13" name="TextBox 12"/>
          <p:cNvSpPr txBox="1"/>
          <p:nvPr/>
        </p:nvSpPr>
        <p:spPr>
          <a:xfrm>
            <a:off x="1298448" y="3090672"/>
            <a:ext cx="3657600" cy="320040"/>
          </a:xfrm>
          <a:prstGeom prst="rect">
            <a:avLst/>
          </a:prstGeom>
          <a:noFill/>
        </p:spPr>
        <p:txBody>
          <a:bodyPr wrap="square" lIns="0" tIns="0" rIns="0" bIns="0" anchor="t">
            <a:noAutofit/>
          </a:bodyPr>
          <a:lstStyle/>
          <a:p>
            <a:pPr algn="l">
              <a:lnSpc>
                <a:spcPct val="118000"/>
              </a:lnSpc>
              <a:spcBef>
                <a:spcPts val="0"/>
              </a:spcBef>
              <a:spcAft>
                <a:spcPts val="400"/>
              </a:spcAft>
            </a:pPr>
            <a:r>
              <a:rPr sz="1250" b="0" i="0">
                <a:solidFill>
                  <a:srgbClr val="14313C"/>
                </a:solidFill>
                <a:latin typeface="Calibri"/>
              </a:rPr>
              <a:t>Contours</a:t>
            </a:r>
          </a:p>
        </p:txBody>
      </p:sp>
      <p:sp>
        <p:nvSpPr>
          <p:cNvPr id="14" name="Oval 13"/>
          <p:cNvSpPr/>
          <p:nvPr/>
        </p:nvSpPr>
        <p:spPr>
          <a:xfrm>
            <a:off x="868680" y="3474720"/>
            <a:ext cx="274320" cy="274320"/>
          </a:xfrm>
          <a:prstGeom prst="ellipse">
            <a:avLst/>
          </a:prstGeom>
          <a:solidFill>
            <a:srgbClr val="E2EFF4"/>
          </a:solidFill>
          <a:ln w="15240">
            <a:solidFill>
              <a:srgbClr val="00A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3474720"/>
            <a:ext cx="274320" cy="274320"/>
          </a:xfrm>
          <a:prstGeom prst="rect">
            <a:avLst/>
          </a:prstGeom>
          <a:noFill/>
        </p:spPr>
        <p:txBody>
          <a:bodyPr wrap="square" lIns="0" tIns="0" rIns="0" bIns="0" anchor="ctr">
            <a:noAutofit/>
          </a:bodyPr>
          <a:lstStyle/>
          <a:p>
            <a:pPr algn="ctr">
              <a:lnSpc>
                <a:spcPct val="118000"/>
              </a:lnSpc>
              <a:spcBef>
                <a:spcPts val="0"/>
              </a:spcBef>
              <a:spcAft>
                <a:spcPts val="400"/>
              </a:spcAft>
            </a:pPr>
            <a:r>
              <a:rPr sz="1100" b="1" i="0">
                <a:solidFill>
                  <a:srgbClr val="00A9E0"/>
                </a:solidFill>
                <a:latin typeface="Georgia"/>
              </a:rPr>
              <a:t>3</a:t>
            </a:r>
          </a:p>
        </p:txBody>
      </p:sp>
      <p:sp>
        <p:nvSpPr>
          <p:cNvPr id="16" name="TextBox 15"/>
          <p:cNvSpPr txBox="1"/>
          <p:nvPr/>
        </p:nvSpPr>
        <p:spPr>
          <a:xfrm>
            <a:off x="1298448" y="3456432"/>
            <a:ext cx="3657600" cy="320040"/>
          </a:xfrm>
          <a:prstGeom prst="rect">
            <a:avLst/>
          </a:prstGeom>
          <a:noFill/>
        </p:spPr>
        <p:txBody>
          <a:bodyPr wrap="square" lIns="0" tIns="0" rIns="0" bIns="0" anchor="t">
            <a:noAutofit/>
          </a:bodyPr>
          <a:lstStyle/>
          <a:p>
            <a:pPr algn="l">
              <a:lnSpc>
                <a:spcPct val="118000"/>
              </a:lnSpc>
              <a:spcBef>
                <a:spcPts val="0"/>
              </a:spcBef>
              <a:spcAft>
                <a:spcPts val="400"/>
              </a:spcAft>
            </a:pPr>
            <a:r>
              <a:rPr sz="1250" b="0" i="0">
                <a:solidFill>
                  <a:srgbClr val="14313C"/>
                </a:solidFill>
                <a:latin typeface="Calibri"/>
              </a:rPr>
              <a:t>Beam arrangement</a:t>
            </a:r>
          </a:p>
        </p:txBody>
      </p:sp>
      <p:sp>
        <p:nvSpPr>
          <p:cNvPr id="17" name="Oval 16"/>
          <p:cNvSpPr/>
          <p:nvPr/>
        </p:nvSpPr>
        <p:spPr>
          <a:xfrm>
            <a:off x="868680" y="3840480"/>
            <a:ext cx="274320" cy="274320"/>
          </a:xfrm>
          <a:prstGeom prst="ellipse">
            <a:avLst/>
          </a:prstGeom>
          <a:solidFill>
            <a:srgbClr val="E2EFF4"/>
          </a:solidFill>
          <a:ln w="15240">
            <a:solidFill>
              <a:srgbClr val="00A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3840480"/>
            <a:ext cx="274320" cy="274320"/>
          </a:xfrm>
          <a:prstGeom prst="rect">
            <a:avLst/>
          </a:prstGeom>
          <a:noFill/>
        </p:spPr>
        <p:txBody>
          <a:bodyPr wrap="square" lIns="0" tIns="0" rIns="0" bIns="0" anchor="ctr">
            <a:noAutofit/>
          </a:bodyPr>
          <a:lstStyle/>
          <a:p>
            <a:pPr algn="ctr">
              <a:lnSpc>
                <a:spcPct val="118000"/>
              </a:lnSpc>
              <a:spcBef>
                <a:spcPts val="0"/>
              </a:spcBef>
              <a:spcAft>
                <a:spcPts val="400"/>
              </a:spcAft>
            </a:pPr>
            <a:r>
              <a:rPr sz="1100" b="1" i="0">
                <a:solidFill>
                  <a:srgbClr val="00A9E0"/>
                </a:solidFill>
                <a:latin typeface="Georgia"/>
              </a:rPr>
              <a:t>4</a:t>
            </a:r>
          </a:p>
        </p:txBody>
      </p:sp>
      <p:sp>
        <p:nvSpPr>
          <p:cNvPr id="19" name="TextBox 18"/>
          <p:cNvSpPr txBox="1"/>
          <p:nvPr/>
        </p:nvSpPr>
        <p:spPr>
          <a:xfrm>
            <a:off x="1298448" y="3822192"/>
            <a:ext cx="3657600" cy="320040"/>
          </a:xfrm>
          <a:prstGeom prst="rect">
            <a:avLst/>
          </a:prstGeom>
          <a:noFill/>
        </p:spPr>
        <p:txBody>
          <a:bodyPr wrap="square" lIns="0" tIns="0" rIns="0" bIns="0" anchor="t">
            <a:noAutofit/>
          </a:bodyPr>
          <a:lstStyle/>
          <a:p>
            <a:pPr algn="l">
              <a:lnSpc>
                <a:spcPct val="118000"/>
              </a:lnSpc>
              <a:spcBef>
                <a:spcPts val="0"/>
              </a:spcBef>
              <a:spcAft>
                <a:spcPts val="400"/>
              </a:spcAft>
            </a:pPr>
            <a:r>
              <a:rPr sz="1250" b="0" i="0">
                <a:solidFill>
                  <a:srgbClr val="14313C"/>
                </a:solidFill>
                <a:latin typeface="Calibri"/>
              </a:rPr>
              <a:t>Isodose — visual</a:t>
            </a:r>
          </a:p>
        </p:txBody>
      </p:sp>
      <p:sp>
        <p:nvSpPr>
          <p:cNvPr id="20" name="Oval 19"/>
          <p:cNvSpPr/>
          <p:nvPr/>
        </p:nvSpPr>
        <p:spPr>
          <a:xfrm>
            <a:off x="868680" y="4206240"/>
            <a:ext cx="274320" cy="274320"/>
          </a:xfrm>
          <a:prstGeom prst="ellipse">
            <a:avLst/>
          </a:prstGeom>
          <a:solidFill>
            <a:srgbClr val="E2EFF4"/>
          </a:solidFill>
          <a:ln w="15240">
            <a:solidFill>
              <a:srgbClr val="00A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 y="4206240"/>
            <a:ext cx="274320" cy="274320"/>
          </a:xfrm>
          <a:prstGeom prst="rect">
            <a:avLst/>
          </a:prstGeom>
          <a:noFill/>
        </p:spPr>
        <p:txBody>
          <a:bodyPr wrap="square" lIns="0" tIns="0" rIns="0" bIns="0" anchor="ctr">
            <a:noAutofit/>
          </a:bodyPr>
          <a:lstStyle/>
          <a:p>
            <a:pPr algn="ctr">
              <a:lnSpc>
                <a:spcPct val="118000"/>
              </a:lnSpc>
              <a:spcBef>
                <a:spcPts val="0"/>
              </a:spcBef>
              <a:spcAft>
                <a:spcPts val="400"/>
              </a:spcAft>
            </a:pPr>
            <a:r>
              <a:rPr sz="1100" b="1" i="0">
                <a:solidFill>
                  <a:srgbClr val="00A9E0"/>
                </a:solidFill>
                <a:latin typeface="Georgia"/>
              </a:rPr>
              <a:t>5</a:t>
            </a:r>
          </a:p>
        </p:txBody>
      </p:sp>
      <p:sp>
        <p:nvSpPr>
          <p:cNvPr id="22" name="TextBox 21"/>
          <p:cNvSpPr txBox="1"/>
          <p:nvPr/>
        </p:nvSpPr>
        <p:spPr>
          <a:xfrm>
            <a:off x="1298448" y="4187952"/>
            <a:ext cx="3657600" cy="320040"/>
          </a:xfrm>
          <a:prstGeom prst="rect">
            <a:avLst/>
          </a:prstGeom>
          <a:noFill/>
        </p:spPr>
        <p:txBody>
          <a:bodyPr wrap="square" lIns="0" tIns="0" rIns="0" bIns="0" anchor="t">
            <a:noAutofit/>
          </a:bodyPr>
          <a:lstStyle/>
          <a:p>
            <a:pPr algn="l">
              <a:lnSpc>
                <a:spcPct val="118000"/>
              </a:lnSpc>
              <a:spcBef>
                <a:spcPts val="0"/>
              </a:spcBef>
              <a:spcAft>
                <a:spcPts val="400"/>
              </a:spcAft>
            </a:pPr>
            <a:r>
              <a:rPr sz="1250" b="0" i="0">
                <a:solidFill>
                  <a:srgbClr val="14313C"/>
                </a:solidFill>
                <a:latin typeface="Calibri"/>
              </a:rPr>
              <a:t>Coverage</a:t>
            </a:r>
          </a:p>
        </p:txBody>
      </p:sp>
      <p:sp>
        <p:nvSpPr>
          <p:cNvPr id="23" name="Oval 22"/>
          <p:cNvSpPr/>
          <p:nvPr/>
        </p:nvSpPr>
        <p:spPr>
          <a:xfrm>
            <a:off x="868680" y="4572000"/>
            <a:ext cx="274320" cy="274320"/>
          </a:xfrm>
          <a:prstGeom prst="ellipse">
            <a:avLst/>
          </a:prstGeom>
          <a:solidFill>
            <a:srgbClr val="E2EFF4"/>
          </a:solidFill>
          <a:ln w="15240">
            <a:solidFill>
              <a:srgbClr val="00A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4572000"/>
            <a:ext cx="274320" cy="274320"/>
          </a:xfrm>
          <a:prstGeom prst="rect">
            <a:avLst/>
          </a:prstGeom>
          <a:noFill/>
        </p:spPr>
        <p:txBody>
          <a:bodyPr wrap="square" lIns="0" tIns="0" rIns="0" bIns="0" anchor="ctr">
            <a:noAutofit/>
          </a:bodyPr>
          <a:lstStyle/>
          <a:p>
            <a:pPr algn="ctr">
              <a:lnSpc>
                <a:spcPct val="118000"/>
              </a:lnSpc>
              <a:spcBef>
                <a:spcPts val="0"/>
              </a:spcBef>
              <a:spcAft>
                <a:spcPts val="400"/>
              </a:spcAft>
            </a:pPr>
            <a:r>
              <a:rPr sz="1100" b="1" i="0">
                <a:solidFill>
                  <a:srgbClr val="00A9E0"/>
                </a:solidFill>
                <a:latin typeface="Georgia"/>
              </a:rPr>
              <a:t>6</a:t>
            </a:r>
          </a:p>
        </p:txBody>
      </p:sp>
      <p:sp>
        <p:nvSpPr>
          <p:cNvPr id="25" name="TextBox 24"/>
          <p:cNvSpPr txBox="1"/>
          <p:nvPr/>
        </p:nvSpPr>
        <p:spPr>
          <a:xfrm>
            <a:off x="1298448" y="4553712"/>
            <a:ext cx="3657600" cy="320040"/>
          </a:xfrm>
          <a:prstGeom prst="rect">
            <a:avLst/>
          </a:prstGeom>
          <a:noFill/>
        </p:spPr>
        <p:txBody>
          <a:bodyPr wrap="square" lIns="0" tIns="0" rIns="0" bIns="0" anchor="t">
            <a:noAutofit/>
          </a:bodyPr>
          <a:lstStyle/>
          <a:p>
            <a:pPr algn="l">
              <a:lnSpc>
                <a:spcPct val="118000"/>
              </a:lnSpc>
              <a:spcBef>
                <a:spcPts val="0"/>
              </a:spcBef>
              <a:spcAft>
                <a:spcPts val="400"/>
              </a:spcAft>
            </a:pPr>
            <a:r>
              <a:rPr sz="1250" b="0" i="0">
                <a:solidFill>
                  <a:srgbClr val="14313C"/>
                </a:solidFill>
                <a:latin typeface="Calibri"/>
              </a:rPr>
              <a:t>Hot / cold spots</a:t>
            </a:r>
          </a:p>
        </p:txBody>
      </p:sp>
      <p:sp>
        <p:nvSpPr>
          <p:cNvPr id="26" name="Oval 25"/>
          <p:cNvSpPr/>
          <p:nvPr/>
        </p:nvSpPr>
        <p:spPr>
          <a:xfrm>
            <a:off x="868680" y="4937760"/>
            <a:ext cx="274320" cy="274320"/>
          </a:xfrm>
          <a:prstGeom prst="ellipse">
            <a:avLst/>
          </a:prstGeom>
          <a:solidFill>
            <a:srgbClr val="E2EFF4"/>
          </a:solidFill>
          <a:ln w="15240">
            <a:solidFill>
              <a:srgbClr val="00A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8680" y="4937760"/>
            <a:ext cx="274320" cy="274320"/>
          </a:xfrm>
          <a:prstGeom prst="rect">
            <a:avLst/>
          </a:prstGeom>
          <a:noFill/>
        </p:spPr>
        <p:txBody>
          <a:bodyPr wrap="square" lIns="0" tIns="0" rIns="0" bIns="0" anchor="ctr">
            <a:noAutofit/>
          </a:bodyPr>
          <a:lstStyle/>
          <a:p>
            <a:pPr algn="ctr">
              <a:lnSpc>
                <a:spcPct val="118000"/>
              </a:lnSpc>
              <a:spcBef>
                <a:spcPts val="0"/>
              </a:spcBef>
              <a:spcAft>
                <a:spcPts val="400"/>
              </a:spcAft>
            </a:pPr>
            <a:r>
              <a:rPr sz="1100" b="1" i="0">
                <a:solidFill>
                  <a:srgbClr val="00A9E0"/>
                </a:solidFill>
                <a:latin typeface="Georgia"/>
              </a:rPr>
              <a:t>7</a:t>
            </a:r>
          </a:p>
        </p:txBody>
      </p:sp>
      <p:sp>
        <p:nvSpPr>
          <p:cNvPr id="28" name="TextBox 27"/>
          <p:cNvSpPr txBox="1"/>
          <p:nvPr/>
        </p:nvSpPr>
        <p:spPr>
          <a:xfrm>
            <a:off x="1298448" y="4919472"/>
            <a:ext cx="3657600" cy="320040"/>
          </a:xfrm>
          <a:prstGeom prst="rect">
            <a:avLst/>
          </a:prstGeom>
          <a:noFill/>
        </p:spPr>
        <p:txBody>
          <a:bodyPr wrap="square" lIns="0" tIns="0" rIns="0" bIns="0" anchor="t">
            <a:noAutofit/>
          </a:bodyPr>
          <a:lstStyle/>
          <a:p>
            <a:pPr algn="l">
              <a:lnSpc>
                <a:spcPct val="118000"/>
              </a:lnSpc>
              <a:spcBef>
                <a:spcPts val="0"/>
              </a:spcBef>
              <a:spcAft>
                <a:spcPts val="400"/>
              </a:spcAft>
            </a:pPr>
            <a:r>
              <a:rPr sz="1250" b="0" i="0">
                <a:solidFill>
                  <a:srgbClr val="14313C"/>
                </a:solidFill>
                <a:latin typeface="Calibri"/>
              </a:rPr>
              <a:t>DVH</a:t>
            </a:r>
          </a:p>
        </p:txBody>
      </p:sp>
      <p:sp>
        <p:nvSpPr>
          <p:cNvPr id="29" name="Oval 28"/>
          <p:cNvSpPr/>
          <p:nvPr/>
        </p:nvSpPr>
        <p:spPr>
          <a:xfrm>
            <a:off x="868680" y="5303520"/>
            <a:ext cx="274320" cy="274320"/>
          </a:xfrm>
          <a:prstGeom prst="ellipse">
            <a:avLst/>
          </a:prstGeom>
          <a:solidFill>
            <a:srgbClr val="E2EFF4"/>
          </a:solidFill>
          <a:ln w="15240">
            <a:solidFill>
              <a:srgbClr val="00A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68680" y="5303520"/>
            <a:ext cx="274320" cy="274320"/>
          </a:xfrm>
          <a:prstGeom prst="rect">
            <a:avLst/>
          </a:prstGeom>
          <a:noFill/>
        </p:spPr>
        <p:txBody>
          <a:bodyPr wrap="square" lIns="0" tIns="0" rIns="0" bIns="0" anchor="ctr">
            <a:noAutofit/>
          </a:bodyPr>
          <a:lstStyle/>
          <a:p>
            <a:pPr algn="ctr">
              <a:lnSpc>
                <a:spcPct val="118000"/>
              </a:lnSpc>
              <a:spcBef>
                <a:spcPts val="0"/>
              </a:spcBef>
              <a:spcAft>
                <a:spcPts val="400"/>
              </a:spcAft>
            </a:pPr>
            <a:r>
              <a:rPr sz="1100" b="1" i="0">
                <a:solidFill>
                  <a:srgbClr val="00A9E0"/>
                </a:solidFill>
                <a:latin typeface="Georgia"/>
              </a:rPr>
              <a:t>8</a:t>
            </a:r>
          </a:p>
        </p:txBody>
      </p:sp>
      <p:sp>
        <p:nvSpPr>
          <p:cNvPr id="31" name="TextBox 30"/>
          <p:cNvSpPr txBox="1"/>
          <p:nvPr/>
        </p:nvSpPr>
        <p:spPr>
          <a:xfrm>
            <a:off x="1298448" y="5285232"/>
            <a:ext cx="3657600" cy="320040"/>
          </a:xfrm>
          <a:prstGeom prst="rect">
            <a:avLst/>
          </a:prstGeom>
          <a:noFill/>
        </p:spPr>
        <p:txBody>
          <a:bodyPr wrap="square" lIns="0" tIns="0" rIns="0" bIns="0" anchor="t">
            <a:noAutofit/>
          </a:bodyPr>
          <a:lstStyle/>
          <a:p>
            <a:pPr algn="l">
              <a:lnSpc>
                <a:spcPct val="118000"/>
              </a:lnSpc>
              <a:spcBef>
                <a:spcPts val="0"/>
              </a:spcBef>
              <a:spcAft>
                <a:spcPts val="400"/>
              </a:spcAft>
            </a:pPr>
            <a:r>
              <a:rPr sz="1250" b="0" i="0">
                <a:solidFill>
                  <a:srgbClr val="14313C"/>
                </a:solidFill>
                <a:latin typeface="Calibri"/>
              </a:rPr>
              <a:t>Organs at risk</a:t>
            </a:r>
          </a:p>
        </p:txBody>
      </p:sp>
      <p:sp>
        <p:nvSpPr>
          <p:cNvPr id="32" name="Oval 31"/>
          <p:cNvSpPr/>
          <p:nvPr/>
        </p:nvSpPr>
        <p:spPr>
          <a:xfrm>
            <a:off x="868680" y="5669280"/>
            <a:ext cx="274320" cy="274320"/>
          </a:xfrm>
          <a:prstGeom prst="ellipse">
            <a:avLst/>
          </a:prstGeom>
          <a:solidFill>
            <a:srgbClr val="00A9E0"/>
          </a:solidFill>
          <a:ln w="15240">
            <a:solidFill>
              <a:srgbClr val="00A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68680" y="5669280"/>
            <a:ext cx="274320" cy="274320"/>
          </a:xfrm>
          <a:prstGeom prst="rect">
            <a:avLst/>
          </a:prstGeom>
          <a:noFill/>
        </p:spPr>
        <p:txBody>
          <a:bodyPr wrap="square" lIns="0" tIns="0" rIns="0" bIns="0" anchor="ctr">
            <a:noAutofit/>
          </a:bodyPr>
          <a:lstStyle/>
          <a:p>
            <a:pPr algn="ctr">
              <a:lnSpc>
                <a:spcPct val="118000"/>
              </a:lnSpc>
              <a:spcBef>
                <a:spcPts val="0"/>
              </a:spcBef>
              <a:spcAft>
                <a:spcPts val="400"/>
              </a:spcAft>
            </a:pPr>
            <a:r>
              <a:rPr sz="1100" b="1" i="0">
                <a:solidFill>
                  <a:srgbClr val="FFFFFF"/>
                </a:solidFill>
                <a:latin typeface="Georgia"/>
              </a:rPr>
              <a:t>9</a:t>
            </a:r>
          </a:p>
        </p:txBody>
      </p:sp>
      <p:sp>
        <p:nvSpPr>
          <p:cNvPr id="34" name="TextBox 33"/>
          <p:cNvSpPr txBox="1"/>
          <p:nvPr/>
        </p:nvSpPr>
        <p:spPr>
          <a:xfrm>
            <a:off x="1298448" y="5650992"/>
            <a:ext cx="3657600" cy="320040"/>
          </a:xfrm>
          <a:prstGeom prst="rect">
            <a:avLst/>
          </a:prstGeom>
          <a:noFill/>
        </p:spPr>
        <p:txBody>
          <a:bodyPr wrap="square" lIns="0" tIns="0" rIns="0" bIns="0" anchor="t">
            <a:noAutofit/>
          </a:bodyPr>
          <a:lstStyle/>
          <a:p>
            <a:pPr algn="l">
              <a:lnSpc>
                <a:spcPct val="118000"/>
              </a:lnSpc>
              <a:spcBef>
                <a:spcPts val="0"/>
              </a:spcBef>
              <a:spcAft>
                <a:spcPts val="400"/>
              </a:spcAft>
            </a:pPr>
            <a:r>
              <a:rPr lang="en-US" sz="1250" b="1" dirty="0">
                <a:solidFill>
                  <a:srgbClr val="14313C"/>
                </a:solidFill>
                <a:latin typeface="Calibri"/>
              </a:rPr>
              <a:t>Final Clinical </a:t>
            </a:r>
            <a:r>
              <a:rPr sz="1250" b="1" i="0" dirty="0">
                <a:solidFill>
                  <a:srgbClr val="14313C"/>
                </a:solidFill>
                <a:latin typeface="Calibri"/>
              </a:rPr>
              <a:t>decision</a:t>
            </a:r>
          </a:p>
        </p:txBody>
      </p:sp>
      <p:sp>
        <p:nvSpPr>
          <p:cNvPr id="35" name="Rounded Rectangle 34"/>
          <p:cNvSpPr/>
          <p:nvPr/>
        </p:nvSpPr>
        <p:spPr>
          <a:xfrm>
            <a:off x="5321808" y="2157984"/>
            <a:ext cx="6309360" cy="941832"/>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321808" y="2157984"/>
            <a:ext cx="64008" cy="941832"/>
          </a:xfrm>
          <a:prstGeom prst="rect">
            <a:avLst/>
          </a:prstGeom>
          <a:solidFill>
            <a:srgbClr val="1F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605272" y="2276856"/>
            <a:ext cx="5852160" cy="365760"/>
          </a:xfrm>
          <a:prstGeom prst="rect">
            <a:avLst/>
          </a:prstGeom>
          <a:noFill/>
        </p:spPr>
        <p:txBody>
          <a:bodyPr wrap="square" lIns="0" tIns="0" rIns="0" bIns="0" anchor="t">
            <a:noAutofit/>
          </a:bodyPr>
          <a:lstStyle/>
          <a:p>
            <a:pPr algn="l">
              <a:lnSpc>
                <a:spcPct val="118000"/>
              </a:lnSpc>
              <a:spcBef>
                <a:spcPts val="0"/>
              </a:spcBef>
              <a:spcAft>
                <a:spcPts val="400"/>
              </a:spcAft>
            </a:pPr>
            <a:r>
              <a:rPr sz="1400" b="1" i="0">
                <a:solidFill>
                  <a:srgbClr val="14313C"/>
                </a:solidFill>
                <a:latin typeface="Georgia"/>
              </a:rPr>
              <a:t>Visual review before the DVH</a:t>
            </a:r>
          </a:p>
        </p:txBody>
      </p:sp>
      <p:sp>
        <p:nvSpPr>
          <p:cNvPr id="38" name="TextBox 37"/>
          <p:cNvSpPr txBox="1"/>
          <p:nvPr/>
        </p:nvSpPr>
        <p:spPr>
          <a:xfrm>
            <a:off x="5605272" y="2615184"/>
            <a:ext cx="5897880" cy="457200"/>
          </a:xfrm>
          <a:prstGeom prst="rect">
            <a:avLst/>
          </a:prstGeom>
          <a:noFill/>
        </p:spPr>
        <p:txBody>
          <a:bodyPr wrap="square" lIns="0" tIns="0" rIns="0" bIns="0" anchor="t">
            <a:noAutofit/>
          </a:bodyPr>
          <a:lstStyle/>
          <a:p>
            <a:pPr algn="l">
              <a:lnSpc>
                <a:spcPct val="124000"/>
              </a:lnSpc>
              <a:spcBef>
                <a:spcPts val="0"/>
              </a:spcBef>
              <a:spcAft>
                <a:spcPts val="400"/>
              </a:spcAft>
            </a:pPr>
            <a:r>
              <a:rPr sz="1130" b="0" i="0">
                <a:solidFill>
                  <a:srgbClr val="5A7480"/>
                </a:solidFill>
                <a:latin typeface="Calibri"/>
              </a:rPr>
              <a:t>Scroll the isodoses on every plane first — the DVH cannot tell you WHERE.</a:t>
            </a:r>
          </a:p>
        </p:txBody>
      </p:sp>
      <p:sp>
        <p:nvSpPr>
          <p:cNvPr id="39" name="Rounded Rectangle 38"/>
          <p:cNvSpPr/>
          <p:nvPr/>
        </p:nvSpPr>
        <p:spPr>
          <a:xfrm>
            <a:off x="5321808" y="3182112"/>
            <a:ext cx="6309360" cy="941832"/>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321808" y="3182112"/>
            <a:ext cx="64008" cy="941832"/>
          </a:xfrm>
          <a:prstGeom prst="rect">
            <a:avLst/>
          </a:prstGeom>
          <a:solidFill>
            <a:srgbClr val="00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605272" y="3300984"/>
            <a:ext cx="5852160" cy="365760"/>
          </a:xfrm>
          <a:prstGeom prst="rect">
            <a:avLst/>
          </a:prstGeom>
          <a:noFill/>
        </p:spPr>
        <p:txBody>
          <a:bodyPr wrap="square" lIns="0" tIns="0" rIns="0" bIns="0" anchor="t">
            <a:noAutofit/>
          </a:bodyPr>
          <a:lstStyle/>
          <a:p>
            <a:pPr algn="l">
              <a:lnSpc>
                <a:spcPct val="118000"/>
              </a:lnSpc>
              <a:spcBef>
                <a:spcPts val="0"/>
              </a:spcBef>
              <a:spcAft>
                <a:spcPts val="400"/>
              </a:spcAft>
            </a:pPr>
            <a:r>
              <a:rPr sz="1400" b="1" i="0">
                <a:solidFill>
                  <a:srgbClr val="14313C"/>
                </a:solidFill>
                <a:latin typeface="Georgia"/>
              </a:rPr>
              <a:t>The DVH confirms, never replaces</a:t>
            </a:r>
          </a:p>
        </p:txBody>
      </p:sp>
      <p:sp>
        <p:nvSpPr>
          <p:cNvPr id="42" name="TextBox 41"/>
          <p:cNvSpPr txBox="1"/>
          <p:nvPr/>
        </p:nvSpPr>
        <p:spPr>
          <a:xfrm>
            <a:off x="5605272" y="3639312"/>
            <a:ext cx="5897880" cy="457200"/>
          </a:xfrm>
          <a:prstGeom prst="rect">
            <a:avLst/>
          </a:prstGeom>
          <a:noFill/>
        </p:spPr>
        <p:txBody>
          <a:bodyPr wrap="square" lIns="0" tIns="0" rIns="0" bIns="0" anchor="t">
            <a:noAutofit/>
          </a:bodyPr>
          <a:lstStyle/>
          <a:p>
            <a:pPr algn="l">
              <a:lnSpc>
                <a:spcPct val="124000"/>
              </a:lnSpc>
              <a:spcBef>
                <a:spcPts val="0"/>
              </a:spcBef>
              <a:spcAft>
                <a:spcPts val="400"/>
              </a:spcAft>
            </a:pPr>
            <a:r>
              <a:rPr sz="1130" b="0" i="0">
                <a:solidFill>
                  <a:srgbClr val="5A7480"/>
                </a:solidFill>
                <a:latin typeface="Calibri"/>
              </a:rPr>
              <a:t>Use it to verify what the images already showed you — not instead of them.</a:t>
            </a:r>
          </a:p>
        </p:txBody>
      </p:sp>
      <p:sp>
        <p:nvSpPr>
          <p:cNvPr id="43" name="Rounded Rectangle 42"/>
          <p:cNvSpPr/>
          <p:nvPr/>
        </p:nvSpPr>
        <p:spPr>
          <a:xfrm>
            <a:off x="5321808" y="4206240"/>
            <a:ext cx="6309360" cy="941832"/>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5321808" y="4206240"/>
            <a:ext cx="64008" cy="941832"/>
          </a:xfrm>
          <a:prstGeom prst="rect">
            <a:avLst/>
          </a:prstGeom>
          <a:solidFill>
            <a:srgbClr val="F07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605272" y="4325112"/>
            <a:ext cx="5852160" cy="365760"/>
          </a:xfrm>
          <a:prstGeom prst="rect">
            <a:avLst/>
          </a:prstGeom>
          <a:noFill/>
        </p:spPr>
        <p:txBody>
          <a:bodyPr wrap="square" lIns="0" tIns="0" rIns="0" bIns="0" anchor="t">
            <a:noAutofit/>
          </a:bodyPr>
          <a:lstStyle/>
          <a:p>
            <a:pPr algn="l">
              <a:lnSpc>
                <a:spcPct val="118000"/>
              </a:lnSpc>
              <a:spcBef>
                <a:spcPts val="0"/>
              </a:spcBef>
              <a:spcAft>
                <a:spcPts val="400"/>
              </a:spcAft>
            </a:pPr>
            <a:r>
              <a:rPr sz="1400" b="1" i="0">
                <a:solidFill>
                  <a:srgbClr val="14313C"/>
                </a:solidFill>
                <a:latin typeface="Georgia"/>
              </a:rPr>
              <a:t>Fix problems in the right order</a:t>
            </a:r>
          </a:p>
        </p:txBody>
      </p:sp>
      <p:sp>
        <p:nvSpPr>
          <p:cNvPr id="46" name="TextBox 45"/>
          <p:cNvSpPr txBox="1"/>
          <p:nvPr/>
        </p:nvSpPr>
        <p:spPr>
          <a:xfrm>
            <a:off x="5605272" y="4663440"/>
            <a:ext cx="5897880" cy="457200"/>
          </a:xfrm>
          <a:prstGeom prst="rect">
            <a:avLst/>
          </a:prstGeom>
          <a:noFill/>
        </p:spPr>
        <p:txBody>
          <a:bodyPr wrap="square" lIns="0" tIns="0" rIns="0" bIns="0" anchor="t">
            <a:noAutofit/>
          </a:bodyPr>
          <a:lstStyle/>
          <a:p>
            <a:pPr algn="l">
              <a:lnSpc>
                <a:spcPct val="124000"/>
              </a:lnSpc>
              <a:spcBef>
                <a:spcPts val="0"/>
              </a:spcBef>
              <a:spcAft>
                <a:spcPts val="400"/>
              </a:spcAft>
            </a:pPr>
            <a:r>
              <a:rPr sz="1130" b="0" i="0">
                <a:solidFill>
                  <a:srgbClr val="5A7480"/>
                </a:solidFill>
                <a:latin typeface="Calibri"/>
              </a:rPr>
              <a:t>Contours → geometry → normalisation → optimisation → fine-tune. Never start with objectives.</a:t>
            </a:r>
          </a:p>
        </p:txBody>
      </p:sp>
      <p:sp>
        <p:nvSpPr>
          <p:cNvPr id="47" name="Rounded Rectangle 46"/>
          <p:cNvSpPr/>
          <p:nvPr/>
        </p:nvSpPr>
        <p:spPr>
          <a:xfrm>
            <a:off x="5321808" y="5230368"/>
            <a:ext cx="6309360" cy="941832"/>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321808" y="5230368"/>
            <a:ext cx="64008" cy="941832"/>
          </a:xfrm>
          <a:prstGeom prst="rect">
            <a:avLst/>
          </a:prstGeom>
          <a:solidFill>
            <a:srgbClr val="DA3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605272" y="5349240"/>
            <a:ext cx="5852160" cy="365760"/>
          </a:xfrm>
          <a:prstGeom prst="rect">
            <a:avLst/>
          </a:prstGeom>
          <a:noFill/>
        </p:spPr>
        <p:txBody>
          <a:bodyPr wrap="square" lIns="0" tIns="0" rIns="0" bIns="0" anchor="t">
            <a:noAutofit/>
          </a:bodyPr>
          <a:lstStyle/>
          <a:p>
            <a:pPr algn="l">
              <a:lnSpc>
                <a:spcPct val="118000"/>
              </a:lnSpc>
              <a:spcBef>
                <a:spcPts val="0"/>
              </a:spcBef>
              <a:spcAft>
                <a:spcPts val="400"/>
              </a:spcAft>
            </a:pPr>
            <a:r>
              <a:rPr sz="1400" b="1" i="0">
                <a:solidFill>
                  <a:srgbClr val="14313C"/>
                </a:solidFill>
                <a:latin typeface="Georgia"/>
              </a:rPr>
              <a:t>Robustness, not perfection</a:t>
            </a:r>
          </a:p>
        </p:txBody>
      </p:sp>
      <p:sp>
        <p:nvSpPr>
          <p:cNvPr id="50" name="TextBox 49"/>
          <p:cNvSpPr txBox="1"/>
          <p:nvPr/>
        </p:nvSpPr>
        <p:spPr>
          <a:xfrm>
            <a:off x="5605272" y="5687568"/>
            <a:ext cx="5897880" cy="457200"/>
          </a:xfrm>
          <a:prstGeom prst="rect">
            <a:avLst/>
          </a:prstGeom>
          <a:noFill/>
        </p:spPr>
        <p:txBody>
          <a:bodyPr wrap="square" lIns="0" tIns="0" rIns="0" bIns="0" anchor="t">
            <a:noAutofit/>
          </a:bodyPr>
          <a:lstStyle/>
          <a:p>
            <a:pPr algn="l">
              <a:lnSpc>
                <a:spcPct val="124000"/>
              </a:lnSpc>
              <a:spcBef>
                <a:spcPts val="0"/>
              </a:spcBef>
              <a:spcAft>
                <a:spcPts val="400"/>
              </a:spcAft>
            </a:pPr>
            <a:r>
              <a:rPr sz="1130" b="0" i="0">
                <a:solidFill>
                  <a:srgbClr val="5A7480"/>
                </a:solidFill>
                <a:latin typeface="Calibri"/>
              </a:rPr>
              <a:t>Ask what happens if the patient shifts or the bladder fills — a slightly less ‘perfect’ plan can be safer.</a:t>
            </a:r>
          </a:p>
        </p:txBody>
      </p:sp>
      <p:sp>
        <p:nvSpPr>
          <p:cNvPr id="51" name="TextBox 50"/>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52" name="TextBox 51"/>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23 / 34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a:solidFill>
                  <a:srgbClr val="F07D2E"/>
                </a:solidFill>
                <a:latin typeface="Consolas"/>
              </a:rPr>
              <a:t>WRAP-UP</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a:solidFill>
                  <a:srgbClr val="00A9E0"/>
                </a:solidFill>
                <a:latin typeface="Georgia"/>
              </a:rPr>
              <a:t>Key takeaways &amp; references</a:t>
            </a:r>
          </a:p>
        </p:txBody>
      </p:sp>
      <p:sp>
        <p:nvSpPr>
          <p:cNvPr id="4" name="Rounded Rectangle 3"/>
          <p:cNvSpPr/>
          <p:nvPr/>
        </p:nvSpPr>
        <p:spPr>
          <a:xfrm>
            <a:off x="566928" y="1993392"/>
            <a:ext cx="6903720" cy="950976"/>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1993392"/>
            <a:ext cx="64008" cy="950976"/>
          </a:xfrm>
          <a:prstGeom prst="rect">
            <a:avLst/>
          </a:prstGeom>
          <a:solidFill>
            <a:srgbClr val="00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112264"/>
            <a:ext cx="6400800" cy="365760"/>
          </a:xfrm>
          <a:prstGeom prst="rect">
            <a:avLst/>
          </a:prstGeom>
          <a:noFill/>
        </p:spPr>
        <p:txBody>
          <a:bodyPr wrap="square" lIns="0" tIns="0" rIns="0" bIns="0" anchor="t">
            <a:noAutofit/>
          </a:bodyPr>
          <a:lstStyle/>
          <a:p>
            <a:pPr algn="l">
              <a:lnSpc>
                <a:spcPct val="118000"/>
              </a:lnSpc>
              <a:spcBef>
                <a:spcPts val="0"/>
              </a:spcBef>
              <a:spcAft>
                <a:spcPts val="400"/>
              </a:spcAft>
            </a:pPr>
            <a:r>
              <a:rPr sz="1450" b="1" i="0">
                <a:solidFill>
                  <a:srgbClr val="14313C"/>
                </a:solidFill>
                <a:latin typeface="Georgia"/>
              </a:rPr>
              <a:t>A good plan is a documented compromise</a:t>
            </a:r>
          </a:p>
        </p:txBody>
      </p:sp>
      <p:sp>
        <p:nvSpPr>
          <p:cNvPr id="7" name="TextBox 6"/>
          <p:cNvSpPr txBox="1"/>
          <p:nvPr/>
        </p:nvSpPr>
        <p:spPr>
          <a:xfrm>
            <a:off x="914400" y="2450592"/>
            <a:ext cx="6446520" cy="457200"/>
          </a:xfrm>
          <a:prstGeom prst="rect">
            <a:avLst/>
          </a:prstGeom>
          <a:noFill/>
        </p:spPr>
        <p:txBody>
          <a:bodyPr wrap="square" lIns="0" tIns="0" rIns="0" bIns="0" anchor="t">
            <a:noAutofit/>
          </a:bodyPr>
          <a:lstStyle/>
          <a:p>
            <a:pPr algn="l">
              <a:lnSpc>
                <a:spcPct val="122000"/>
              </a:lnSpc>
              <a:spcBef>
                <a:spcPts val="0"/>
              </a:spcBef>
              <a:spcAft>
                <a:spcPts val="400"/>
              </a:spcAft>
            </a:pPr>
            <a:r>
              <a:rPr sz="1140" b="0" i="0">
                <a:solidFill>
                  <a:srgbClr val="5A7480"/>
                </a:solidFill>
                <a:latin typeface="Calibri"/>
              </a:rPr>
              <a:t>Target covered, OARs within tolerance, technically sound, deliverable — and every trade-off articulated.</a:t>
            </a:r>
          </a:p>
        </p:txBody>
      </p:sp>
      <p:sp>
        <p:nvSpPr>
          <p:cNvPr id="8" name="Rounded Rectangle 7"/>
          <p:cNvSpPr/>
          <p:nvPr/>
        </p:nvSpPr>
        <p:spPr>
          <a:xfrm>
            <a:off x="566928" y="3054096"/>
            <a:ext cx="6903720" cy="950976"/>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3054096"/>
            <a:ext cx="64008" cy="950976"/>
          </a:xfrm>
          <a:prstGeom prst="rect">
            <a:avLst/>
          </a:prstGeom>
          <a:solidFill>
            <a:srgbClr val="1FA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172968"/>
            <a:ext cx="6400800" cy="365760"/>
          </a:xfrm>
          <a:prstGeom prst="rect">
            <a:avLst/>
          </a:prstGeom>
          <a:noFill/>
        </p:spPr>
        <p:txBody>
          <a:bodyPr wrap="square" lIns="0" tIns="0" rIns="0" bIns="0" anchor="t">
            <a:noAutofit/>
          </a:bodyPr>
          <a:lstStyle/>
          <a:p>
            <a:pPr algn="l">
              <a:lnSpc>
                <a:spcPct val="118000"/>
              </a:lnSpc>
              <a:spcBef>
                <a:spcPts val="0"/>
              </a:spcBef>
              <a:spcAft>
                <a:spcPts val="400"/>
              </a:spcAft>
            </a:pPr>
            <a:r>
              <a:rPr sz="1450" b="1" i="0">
                <a:solidFill>
                  <a:srgbClr val="14313C"/>
                </a:solidFill>
                <a:latin typeface="Georgia"/>
              </a:rPr>
              <a:t>The DVH screens; the slices diagnose</a:t>
            </a:r>
          </a:p>
        </p:txBody>
      </p:sp>
      <p:sp>
        <p:nvSpPr>
          <p:cNvPr id="11" name="TextBox 10"/>
          <p:cNvSpPr txBox="1"/>
          <p:nvPr/>
        </p:nvSpPr>
        <p:spPr>
          <a:xfrm>
            <a:off x="914400" y="3511296"/>
            <a:ext cx="6446520" cy="457200"/>
          </a:xfrm>
          <a:prstGeom prst="rect">
            <a:avLst/>
          </a:prstGeom>
          <a:noFill/>
        </p:spPr>
        <p:txBody>
          <a:bodyPr wrap="square" lIns="0" tIns="0" rIns="0" bIns="0" anchor="t">
            <a:noAutofit/>
          </a:bodyPr>
          <a:lstStyle/>
          <a:p>
            <a:pPr algn="l">
              <a:lnSpc>
                <a:spcPct val="122000"/>
              </a:lnSpc>
              <a:spcBef>
                <a:spcPts val="0"/>
              </a:spcBef>
              <a:spcAft>
                <a:spcPts val="400"/>
              </a:spcAft>
            </a:pPr>
            <a:r>
              <a:rPr sz="1140" b="0" i="0">
                <a:solidFill>
                  <a:srgbClr val="5A7480"/>
                </a:solidFill>
                <a:latin typeface="Calibri"/>
              </a:rPr>
              <a:t>It has no spatial information. Always confirm where the cold and hot regions actually sit.</a:t>
            </a:r>
          </a:p>
        </p:txBody>
      </p:sp>
      <p:sp>
        <p:nvSpPr>
          <p:cNvPr id="12" name="Rounded Rectangle 11"/>
          <p:cNvSpPr/>
          <p:nvPr/>
        </p:nvSpPr>
        <p:spPr>
          <a:xfrm>
            <a:off x="566928" y="4114800"/>
            <a:ext cx="6903720" cy="950976"/>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4114800"/>
            <a:ext cx="64008" cy="950976"/>
          </a:xfrm>
          <a:prstGeom prst="rect">
            <a:avLst/>
          </a:prstGeom>
          <a:solidFill>
            <a:srgbClr val="F07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4233672"/>
            <a:ext cx="6400800" cy="365760"/>
          </a:xfrm>
          <a:prstGeom prst="rect">
            <a:avLst/>
          </a:prstGeom>
          <a:noFill/>
        </p:spPr>
        <p:txBody>
          <a:bodyPr wrap="square" lIns="0" tIns="0" rIns="0" bIns="0" anchor="t">
            <a:noAutofit/>
          </a:bodyPr>
          <a:lstStyle/>
          <a:p>
            <a:pPr algn="l">
              <a:lnSpc>
                <a:spcPct val="118000"/>
              </a:lnSpc>
              <a:spcBef>
                <a:spcPts val="0"/>
              </a:spcBef>
              <a:spcAft>
                <a:spcPts val="400"/>
              </a:spcAft>
            </a:pPr>
            <a:r>
              <a:rPr sz="1450" b="1" i="0">
                <a:solidFill>
                  <a:srgbClr val="14313C"/>
                </a:solidFill>
                <a:latin typeface="Georgia"/>
              </a:rPr>
              <a:t>Match the metric to the organ</a:t>
            </a:r>
          </a:p>
        </p:txBody>
      </p:sp>
      <p:sp>
        <p:nvSpPr>
          <p:cNvPr id="15" name="TextBox 14"/>
          <p:cNvSpPr txBox="1"/>
          <p:nvPr/>
        </p:nvSpPr>
        <p:spPr>
          <a:xfrm>
            <a:off x="914400" y="4572000"/>
            <a:ext cx="6446520" cy="457200"/>
          </a:xfrm>
          <a:prstGeom prst="rect">
            <a:avLst/>
          </a:prstGeom>
          <a:noFill/>
        </p:spPr>
        <p:txBody>
          <a:bodyPr wrap="square" lIns="0" tIns="0" rIns="0" bIns="0" anchor="t">
            <a:noAutofit/>
          </a:bodyPr>
          <a:lstStyle/>
          <a:p>
            <a:pPr algn="l">
              <a:lnSpc>
                <a:spcPct val="122000"/>
              </a:lnSpc>
              <a:spcBef>
                <a:spcPts val="0"/>
              </a:spcBef>
              <a:spcAft>
                <a:spcPts val="400"/>
              </a:spcAft>
            </a:pPr>
            <a:r>
              <a:rPr sz="1140" b="0" i="0">
                <a:solidFill>
                  <a:srgbClr val="5A7480"/>
                </a:solidFill>
                <a:latin typeface="Calibri"/>
              </a:rPr>
              <a:t>Architecture — serial or parallel — decides whether you read Dmax or mean dose.</a:t>
            </a:r>
          </a:p>
        </p:txBody>
      </p:sp>
      <p:sp>
        <p:nvSpPr>
          <p:cNvPr id="16" name="Rounded Rectangle 15"/>
          <p:cNvSpPr/>
          <p:nvPr/>
        </p:nvSpPr>
        <p:spPr>
          <a:xfrm>
            <a:off x="566928" y="5175504"/>
            <a:ext cx="6903720" cy="950976"/>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66928" y="5175504"/>
            <a:ext cx="64008" cy="950976"/>
          </a:xfrm>
          <a:prstGeom prst="rect">
            <a:avLst/>
          </a:prstGeom>
          <a:solidFill>
            <a:srgbClr val="DA3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5294376"/>
            <a:ext cx="6400800" cy="365760"/>
          </a:xfrm>
          <a:prstGeom prst="rect">
            <a:avLst/>
          </a:prstGeom>
          <a:noFill/>
        </p:spPr>
        <p:txBody>
          <a:bodyPr wrap="square" lIns="0" tIns="0" rIns="0" bIns="0" anchor="t">
            <a:noAutofit/>
          </a:bodyPr>
          <a:lstStyle/>
          <a:p>
            <a:pPr algn="l">
              <a:lnSpc>
                <a:spcPct val="118000"/>
              </a:lnSpc>
              <a:spcBef>
                <a:spcPts val="0"/>
              </a:spcBef>
              <a:spcAft>
                <a:spcPts val="400"/>
              </a:spcAft>
            </a:pPr>
            <a:r>
              <a:rPr sz="1450" b="1" i="0">
                <a:solidFill>
                  <a:srgbClr val="14313C"/>
                </a:solidFill>
                <a:latin typeface="Georgia"/>
              </a:rPr>
              <a:t>Prioritise — not every deviation is equal</a:t>
            </a:r>
          </a:p>
        </p:txBody>
      </p:sp>
      <p:sp>
        <p:nvSpPr>
          <p:cNvPr id="19" name="TextBox 18"/>
          <p:cNvSpPr txBox="1"/>
          <p:nvPr/>
        </p:nvSpPr>
        <p:spPr>
          <a:xfrm>
            <a:off x="914400" y="5632704"/>
            <a:ext cx="6446520" cy="457200"/>
          </a:xfrm>
          <a:prstGeom prst="rect">
            <a:avLst/>
          </a:prstGeom>
          <a:noFill/>
        </p:spPr>
        <p:txBody>
          <a:bodyPr wrap="square" lIns="0" tIns="0" rIns="0" bIns="0" anchor="t">
            <a:noAutofit/>
          </a:bodyPr>
          <a:lstStyle/>
          <a:p>
            <a:pPr algn="l">
              <a:lnSpc>
                <a:spcPct val="122000"/>
              </a:lnSpc>
              <a:spcBef>
                <a:spcPts val="0"/>
              </a:spcBef>
              <a:spcAft>
                <a:spcPts val="400"/>
              </a:spcAft>
            </a:pPr>
            <a:r>
              <a:rPr sz="1140" b="0" i="0">
                <a:solidFill>
                  <a:srgbClr val="5A7480"/>
                </a:solidFill>
                <a:latin typeface="Calibri"/>
              </a:rPr>
              <a:t>Three reject-on-sight failures; everything else is graded, justified discussion.</a:t>
            </a:r>
          </a:p>
        </p:txBody>
      </p:sp>
      <p:sp>
        <p:nvSpPr>
          <p:cNvPr id="20" name="Rounded Rectangle 19"/>
          <p:cNvSpPr/>
          <p:nvPr/>
        </p:nvSpPr>
        <p:spPr>
          <a:xfrm>
            <a:off x="7680960" y="1993392"/>
            <a:ext cx="3950208" cy="4242816"/>
          </a:xfrm>
          <a:prstGeom prst="roundRect">
            <a:avLst>
              <a:gd name="adj" fmla="val 4500"/>
            </a:avLst>
          </a:prstGeom>
          <a:solidFill>
            <a:srgbClr val="E2EFF4"/>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55279" y="2194560"/>
            <a:ext cx="3474720" cy="365760"/>
          </a:xfrm>
          <a:prstGeom prst="rect">
            <a:avLst/>
          </a:prstGeom>
          <a:noFill/>
        </p:spPr>
        <p:txBody>
          <a:bodyPr wrap="square" lIns="0" tIns="0" rIns="0" bIns="0" anchor="t">
            <a:noAutofit/>
          </a:bodyPr>
          <a:lstStyle/>
          <a:p>
            <a:pPr algn="l">
              <a:lnSpc>
                <a:spcPct val="118000"/>
              </a:lnSpc>
              <a:spcBef>
                <a:spcPts val="0"/>
              </a:spcBef>
              <a:spcAft>
                <a:spcPts val="400"/>
              </a:spcAft>
            </a:pPr>
            <a:r>
              <a:rPr sz="950" b="1" i="0" spc="130">
                <a:solidFill>
                  <a:srgbClr val="F07D2E"/>
                </a:solidFill>
                <a:latin typeface="Consolas"/>
              </a:rPr>
              <a:t>REFERENCES &amp; FURTHER READING</a:t>
            </a:r>
          </a:p>
        </p:txBody>
      </p:sp>
      <p:sp>
        <p:nvSpPr>
          <p:cNvPr id="22" name="TextBox 21"/>
          <p:cNvSpPr txBox="1"/>
          <p:nvPr/>
        </p:nvSpPr>
        <p:spPr>
          <a:xfrm>
            <a:off x="7955279" y="2468880"/>
            <a:ext cx="3520440" cy="640080"/>
          </a:xfrm>
          <a:prstGeom prst="rect">
            <a:avLst/>
          </a:prstGeom>
          <a:noFill/>
        </p:spPr>
        <p:txBody>
          <a:bodyPr wrap="square" lIns="0" tIns="0" rIns="0" bIns="0" anchor="t">
            <a:noAutofit/>
          </a:bodyPr>
          <a:lstStyle/>
          <a:p>
            <a:pPr algn="l">
              <a:lnSpc>
                <a:spcPct val="110000"/>
              </a:lnSpc>
              <a:spcBef>
                <a:spcPts val="0"/>
              </a:spcBef>
              <a:spcAft>
                <a:spcPts val="100"/>
              </a:spcAft>
            </a:pPr>
            <a:r>
              <a:rPr sz="1050" b="1" i="0">
                <a:solidFill>
                  <a:srgbClr val="14313C"/>
                </a:solidFill>
                <a:latin typeface="Calibri"/>
              </a:rPr>
              <a:t>FCB-CHOPS — Weisman et al., 2024</a:t>
            </a:r>
          </a:p>
          <a:p>
            <a:pPr algn="l">
              <a:lnSpc>
                <a:spcPct val="112000"/>
              </a:lnSpc>
              <a:spcBef>
                <a:spcPts val="0"/>
              </a:spcBef>
              <a:spcAft>
                <a:spcPts val="400"/>
              </a:spcAft>
            </a:pPr>
            <a:r>
              <a:rPr sz="919" b="0" i="1">
                <a:solidFill>
                  <a:srgbClr val="5A7480"/>
                </a:solidFill>
                <a:latin typeface="Calibri"/>
              </a:rPr>
              <a:t>Adv Radiat Oncol — the plan-evaluation framework</a:t>
            </a:r>
          </a:p>
        </p:txBody>
      </p:sp>
      <p:sp>
        <p:nvSpPr>
          <p:cNvPr id="23" name="TextBox 22"/>
          <p:cNvSpPr txBox="1"/>
          <p:nvPr/>
        </p:nvSpPr>
        <p:spPr>
          <a:xfrm>
            <a:off x="7955279" y="3003804"/>
            <a:ext cx="3520440" cy="640080"/>
          </a:xfrm>
          <a:prstGeom prst="rect">
            <a:avLst/>
          </a:prstGeom>
          <a:noFill/>
        </p:spPr>
        <p:txBody>
          <a:bodyPr wrap="square" lIns="0" tIns="0" rIns="0" bIns="0" anchor="t">
            <a:noAutofit/>
          </a:bodyPr>
          <a:lstStyle/>
          <a:p>
            <a:pPr algn="l">
              <a:lnSpc>
                <a:spcPct val="110000"/>
              </a:lnSpc>
              <a:spcBef>
                <a:spcPts val="0"/>
              </a:spcBef>
              <a:spcAft>
                <a:spcPts val="100"/>
              </a:spcAft>
            </a:pPr>
            <a:r>
              <a:rPr sz="1050" b="1" i="0">
                <a:solidFill>
                  <a:srgbClr val="14313C"/>
                </a:solidFill>
                <a:latin typeface="Calibri"/>
              </a:rPr>
              <a:t>ICRU Reports 50, 62 &amp; 83</a:t>
            </a:r>
          </a:p>
          <a:p>
            <a:pPr algn="l">
              <a:lnSpc>
                <a:spcPct val="112000"/>
              </a:lnSpc>
              <a:spcBef>
                <a:spcPts val="0"/>
              </a:spcBef>
              <a:spcAft>
                <a:spcPts val="400"/>
              </a:spcAft>
            </a:pPr>
            <a:r>
              <a:rPr sz="919" b="0" i="1">
                <a:solidFill>
                  <a:srgbClr val="5A7480"/>
                </a:solidFill>
                <a:latin typeface="Calibri"/>
              </a:rPr>
              <a:t>Volume definitions and dose reporting</a:t>
            </a:r>
          </a:p>
        </p:txBody>
      </p:sp>
      <p:sp>
        <p:nvSpPr>
          <p:cNvPr id="24" name="TextBox 23"/>
          <p:cNvSpPr txBox="1"/>
          <p:nvPr/>
        </p:nvSpPr>
        <p:spPr>
          <a:xfrm>
            <a:off x="7955279" y="3538728"/>
            <a:ext cx="3520440" cy="640080"/>
          </a:xfrm>
          <a:prstGeom prst="rect">
            <a:avLst/>
          </a:prstGeom>
          <a:noFill/>
        </p:spPr>
        <p:txBody>
          <a:bodyPr wrap="square" lIns="0" tIns="0" rIns="0" bIns="0" anchor="t">
            <a:noAutofit/>
          </a:bodyPr>
          <a:lstStyle/>
          <a:p>
            <a:pPr algn="l">
              <a:lnSpc>
                <a:spcPct val="110000"/>
              </a:lnSpc>
              <a:spcBef>
                <a:spcPts val="0"/>
              </a:spcBef>
              <a:spcAft>
                <a:spcPts val="100"/>
              </a:spcAft>
            </a:pPr>
            <a:r>
              <a:rPr sz="1050" b="1" i="0">
                <a:solidFill>
                  <a:srgbClr val="14313C"/>
                </a:solidFill>
                <a:latin typeface="Calibri"/>
              </a:rPr>
              <a:t>QUANTEC</a:t>
            </a:r>
          </a:p>
          <a:p>
            <a:pPr algn="l">
              <a:lnSpc>
                <a:spcPct val="112000"/>
              </a:lnSpc>
              <a:spcBef>
                <a:spcPts val="0"/>
              </a:spcBef>
              <a:spcAft>
                <a:spcPts val="400"/>
              </a:spcAft>
            </a:pPr>
            <a:r>
              <a:rPr sz="919" b="0" i="1">
                <a:solidFill>
                  <a:srgbClr val="5A7480"/>
                </a:solidFill>
                <a:latin typeface="Calibri"/>
              </a:rPr>
              <a:t>IJROBP 2010;76(3) Suppl — OAR dose–volume constraints</a:t>
            </a:r>
          </a:p>
        </p:txBody>
      </p:sp>
      <p:sp>
        <p:nvSpPr>
          <p:cNvPr id="25" name="TextBox 24"/>
          <p:cNvSpPr txBox="1"/>
          <p:nvPr/>
        </p:nvSpPr>
        <p:spPr>
          <a:xfrm>
            <a:off x="7955279" y="4073652"/>
            <a:ext cx="3520440" cy="640080"/>
          </a:xfrm>
          <a:prstGeom prst="rect">
            <a:avLst/>
          </a:prstGeom>
          <a:noFill/>
        </p:spPr>
        <p:txBody>
          <a:bodyPr wrap="square" lIns="0" tIns="0" rIns="0" bIns="0" anchor="t">
            <a:noAutofit/>
          </a:bodyPr>
          <a:lstStyle/>
          <a:p>
            <a:pPr algn="l">
              <a:lnSpc>
                <a:spcPct val="110000"/>
              </a:lnSpc>
              <a:spcBef>
                <a:spcPts val="0"/>
              </a:spcBef>
              <a:spcAft>
                <a:spcPts val="100"/>
              </a:spcAft>
            </a:pPr>
            <a:r>
              <a:rPr sz="1050" b="1" i="0">
                <a:solidFill>
                  <a:srgbClr val="14313C"/>
                </a:solidFill>
                <a:latin typeface="Calibri"/>
              </a:rPr>
              <a:t>Emami et al., 1991</a:t>
            </a:r>
          </a:p>
          <a:p>
            <a:pPr algn="l">
              <a:lnSpc>
                <a:spcPct val="112000"/>
              </a:lnSpc>
              <a:spcBef>
                <a:spcPts val="0"/>
              </a:spcBef>
              <a:spcAft>
                <a:spcPts val="400"/>
              </a:spcAft>
            </a:pPr>
            <a:r>
              <a:rPr sz="919" b="0" i="1">
                <a:solidFill>
                  <a:srgbClr val="5A7480"/>
                </a:solidFill>
                <a:latin typeface="Calibri"/>
              </a:rPr>
              <a:t>IJROBP 21(1):109–122 — original tolerance table</a:t>
            </a:r>
          </a:p>
        </p:txBody>
      </p:sp>
      <p:sp>
        <p:nvSpPr>
          <p:cNvPr id="26" name="TextBox 25"/>
          <p:cNvSpPr txBox="1"/>
          <p:nvPr/>
        </p:nvSpPr>
        <p:spPr>
          <a:xfrm>
            <a:off x="7955279" y="4608576"/>
            <a:ext cx="3520440" cy="640080"/>
          </a:xfrm>
          <a:prstGeom prst="rect">
            <a:avLst/>
          </a:prstGeom>
          <a:noFill/>
        </p:spPr>
        <p:txBody>
          <a:bodyPr wrap="square" lIns="0" tIns="0" rIns="0" bIns="0" anchor="t">
            <a:noAutofit/>
          </a:bodyPr>
          <a:lstStyle/>
          <a:p>
            <a:pPr algn="l">
              <a:lnSpc>
                <a:spcPct val="110000"/>
              </a:lnSpc>
              <a:spcBef>
                <a:spcPts val="0"/>
              </a:spcBef>
              <a:spcAft>
                <a:spcPts val="100"/>
              </a:spcAft>
            </a:pPr>
            <a:r>
              <a:rPr sz="1050" b="1" i="0">
                <a:solidFill>
                  <a:srgbClr val="14313C"/>
                </a:solidFill>
                <a:latin typeface="Calibri"/>
              </a:rPr>
              <a:t>HyTEC</a:t>
            </a:r>
          </a:p>
          <a:p>
            <a:pPr algn="l">
              <a:lnSpc>
                <a:spcPct val="112000"/>
              </a:lnSpc>
              <a:spcBef>
                <a:spcPts val="0"/>
              </a:spcBef>
              <a:spcAft>
                <a:spcPts val="400"/>
              </a:spcAft>
            </a:pPr>
            <a:r>
              <a:rPr sz="919" b="0" i="1">
                <a:solidFill>
                  <a:srgbClr val="5A7480"/>
                </a:solidFill>
                <a:latin typeface="Calibri"/>
              </a:rPr>
              <a:t>Constraints for hypofractionation &amp; SBRT</a:t>
            </a:r>
          </a:p>
        </p:txBody>
      </p:sp>
      <p:sp>
        <p:nvSpPr>
          <p:cNvPr id="27" name="TextBox 26"/>
          <p:cNvSpPr txBox="1"/>
          <p:nvPr/>
        </p:nvSpPr>
        <p:spPr>
          <a:xfrm>
            <a:off x="7955279" y="5143500"/>
            <a:ext cx="3520440" cy="640080"/>
          </a:xfrm>
          <a:prstGeom prst="rect">
            <a:avLst/>
          </a:prstGeom>
          <a:noFill/>
        </p:spPr>
        <p:txBody>
          <a:bodyPr wrap="square" lIns="0" tIns="0" rIns="0" bIns="0" anchor="t">
            <a:noAutofit/>
          </a:bodyPr>
          <a:lstStyle/>
          <a:p>
            <a:pPr algn="l">
              <a:lnSpc>
                <a:spcPct val="110000"/>
              </a:lnSpc>
              <a:spcBef>
                <a:spcPts val="0"/>
              </a:spcBef>
              <a:spcAft>
                <a:spcPts val="100"/>
              </a:spcAft>
            </a:pPr>
            <a:r>
              <a:rPr sz="1050" b="1" i="0">
                <a:solidFill>
                  <a:srgbClr val="14313C"/>
                </a:solidFill>
                <a:latin typeface="Calibri"/>
              </a:rPr>
              <a:t>RTOG / NRG protocols</a:t>
            </a:r>
          </a:p>
          <a:p>
            <a:pPr algn="l">
              <a:lnSpc>
                <a:spcPct val="112000"/>
              </a:lnSpc>
              <a:spcBef>
                <a:spcPts val="0"/>
              </a:spcBef>
              <a:spcAft>
                <a:spcPts val="400"/>
              </a:spcAft>
            </a:pPr>
            <a:r>
              <a:rPr sz="919" b="0" i="1">
                <a:solidFill>
                  <a:srgbClr val="5A7480"/>
                </a:solidFill>
                <a:latin typeface="Calibri"/>
              </a:rPr>
              <a:t>Site-specific, trial-vetted constraint sets</a:t>
            </a:r>
          </a:p>
        </p:txBody>
      </p:sp>
      <p:sp>
        <p:nvSpPr>
          <p:cNvPr id="28" name="TextBox 27"/>
          <p:cNvSpPr txBox="1"/>
          <p:nvPr/>
        </p:nvSpPr>
        <p:spPr>
          <a:xfrm>
            <a:off x="7955279" y="5678424"/>
            <a:ext cx="3520440" cy="640080"/>
          </a:xfrm>
          <a:prstGeom prst="rect">
            <a:avLst/>
          </a:prstGeom>
          <a:noFill/>
        </p:spPr>
        <p:txBody>
          <a:bodyPr wrap="square" lIns="0" tIns="0" rIns="0" bIns="0" anchor="t">
            <a:noAutofit/>
          </a:bodyPr>
          <a:lstStyle/>
          <a:p>
            <a:pPr algn="l">
              <a:lnSpc>
                <a:spcPct val="110000"/>
              </a:lnSpc>
              <a:spcBef>
                <a:spcPts val="0"/>
              </a:spcBef>
              <a:spcAft>
                <a:spcPts val="100"/>
              </a:spcAft>
            </a:pPr>
            <a:r>
              <a:rPr sz="1050" b="1" i="0">
                <a:solidFill>
                  <a:srgbClr val="14313C"/>
                </a:solidFill>
                <a:latin typeface="Calibri"/>
              </a:rPr>
              <a:t>Khan, Treatment Planning in Radiation Oncology</a:t>
            </a:r>
          </a:p>
          <a:p>
            <a:pPr algn="l">
              <a:lnSpc>
                <a:spcPct val="112000"/>
              </a:lnSpc>
              <a:spcBef>
                <a:spcPts val="0"/>
              </a:spcBef>
              <a:spcAft>
                <a:spcPts val="400"/>
              </a:spcAft>
            </a:pPr>
            <a:r>
              <a:rPr sz="919" b="0" i="1">
                <a:solidFill>
                  <a:srgbClr val="5A7480"/>
                </a:solidFill>
                <a:latin typeface="Calibri"/>
              </a:rPr>
              <a:t>Standard planning text</a:t>
            </a:r>
          </a:p>
        </p:txBody>
      </p:sp>
      <p:sp>
        <p:nvSpPr>
          <p:cNvPr id="29" name="TextBox 28"/>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30" name="TextBox 29"/>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24 / 34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dirty="0">
                <a:solidFill>
                  <a:srgbClr val="F07D2E"/>
                </a:solidFill>
                <a:latin typeface="Consolas"/>
              </a:rPr>
              <a:t>YOUR TASK TODAY</a:t>
            </a:r>
          </a:p>
        </p:txBody>
      </p:sp>
      <p:sp>
        <p:nvSpPr>
          <p:cNvPr id="3" name="TextBox 2"/>
          <p:cNvSpPr txBox="1"/>
          <p:nvPr/>
        </p:nvSpPr>
        <p:spPr>
          <a:xfrm>
            <a:off x="566928" y="713232"/>
            <a:ext cx="11064240" cy="1051560"/>
          </a:xfrm>
          <a:prstGeom prst="rect">
            <a:avLst/>
          </a:prstGeom>
          <a:noFill/>
        </p:spPr>
        <p:txBody>
          <a:bodyPr wrap="square" lIns="0" tIns="0" rIns="0" bIns="0" anchor="t">
            <a:noAutofit/>
          </a:bodyPr>
          <a:lstStyle/>
          <a:p>
            <a:pPr algn="l">
              <a:lnSpc>
                <a:spcPct val="106000"/>
              </a:lnSpc>
              <a:spcBef>
                <a:spcPts val="0"/>
              </a:spcBef>
              <a:spcAft>
                <a:spcPts val="400"/>
              </a:spcAft>
            </a:pPr>
            <a:r>
              <a:rPr sz="2900" b="1" i="0" dirty="0">
                <a:solidFill>
                  <a:srgbClr val="00A9E0"/>
                </a:solidFill>
                <a:latin typeface="Georgia"/>
              </a:rPr>
              <a:t>Complete the </a:t>
            </a:r>
            <a:r>
              <a:rPr lang="en-US" sz="2900" b="1" i="0" dirty="0">
                <a:solidFill>
                  <a:srgbClr val="00A9E0"/>
                </a:solidFill>
                <a:latin typeface="Georgia"/>
              </a:rPr>
              <a:t>score card</a:t>
            </a:r>
            <a:r>
              <a:rPr sz="2900" b="1" i="0" dirty="0">
                <a:solidFill>
                  <a:srgbClr val="00A9E0"/>
                </a:solidFill>
                <a:latin typeface="Georgia"/>
              </a:rPr>
              <a:t> </a:t>
            </a:r>
            <a:r>
              <a:rPr sz="2900" b="1" i="1" dirty="0">
                <a:solidFill>
                  <a:srgbClr val="00A9E0"/>
                </a:solidFill>
                <a:latin typeface="Georgia"/>
              </a:rPr>
              <a:t>as</a:t>
            </a:r>
            <a:r>
              <a:rPr sz="2900" b="1" i="0" dirty="0">
                <a:solidFill>
                  <a:srgbClr val="00A9E0"/>
                </a:solidFill>
                <a:latin typeface="Georgia"/>
              </a:rPr>
              <a:t> you review each plan</a:t>
            </a:r>
          </a:p>
        </p:txBody>
      </p:sp>
      <p:sp>
        <p:nvSpPr>
          <p:cNvPr id="4" name="TextBox 3"/>
          <p:cNvSpPr txBox="1"/>
          <p:nvPr/>
        </p:nvSpPr>
        <p:spPr>
          <a:xfrm>
            <a:off x="566927" y="1572768"/>
            <a:ext cx="8496861" cy="393192"/>
          </a:xfrm>
          <a:prstGeom prst="rect">
            <a:avLst/>
          </a:prstGeom>
          <a:noFill/>
        </p:spPr>
        <p:txBody>
          <a:bodyPr wrap="square" lIns="0" tIns="0" rIns="0" bIns="0" anchor="t">
            <a:noAutofit/>
          </a:bodyPr>
          <a:lstStyle/>
          <a:p>
            <a:pPr algn="l">
              <a:lnSpc>
                <a:spcPct val="130000"/>
              </a:lnSpc>
              <a:spcBef>
                <a:spcPts val="0"/>
              </a:spcBef>
              <a:spcAft>
                <a:spcPts val="400"/>
              </a:spcAft>
            </a:pPr>
            <a:r>
              <a:rPr sz="1360" b="0" i="0" dirty="0">
                <a:solidFill>
                  <a:srgbClr val="5A7480"/>
                </a:solidFill>
                <a:latin typeface="Calibri"/>
              </a:rPr>
              <a:t>The skill we are training is </a:t>
            </a:r>
            <a:r>
              <a:rPr sz="1360" b="1" i="1" dirty="0">
                <a:solidFill>
                  <a:srgbClr val="14313C"/>
                </a:solidFill>
                <a:latin typeface="Calibri"/>
              </a:rPr>
              <a:t>triage</a:t>
            </a:r>
            <a:r>
              <a:rPr sz="1360" b="0" i="0" dirty="0">
                <a:solidFill>
                  <a:srgbClr val="5A7480"/>
                </a:solidFill>
                <a:latin typeface="Calibri"/>
              </a:rPr>
              <a:t> - the </a:t>
            </a:r>
            <a:r>
              <a:rPr lang="en-US" sz="1360" dirty="0">
                <a:solidFill>
                  <a:srgbClr val="5A7480"/>
                </a:solidFill>
                <a:latin typeface="Calibri"/>
              </a:rPr>
              <a:t>score card</a:t>
            </a:r>
            <a:r>
              <a:rPr sz="1360" b="0" i="0" dirty="0">
                <a:solidFill>
                  <a:srgbClr val="5A7480"/>
                </a:solidFill>
                <a:latin typeface="Calibri"/>
              </a:rPr>
              <a:t> tool structures your thinking so the case review is richer.</a:t>
            </a:r>
          </a:p>
        </p:txBody>
      </p:sp>
      <p:sp>
        <p:nvSpPr>
          <p:cNvPr id="5" name="Rounded Rectangle 4"/>
          <p:cNvSpPr/>
          <p:nvPr/>
        </p:nvSpPr>
        <p:spPr>
          <a:xfrm>
            <a:off x="566928" y="2432304"/>
            <a:ext cx="2130552" cy="1865376"/>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04672" y="2651760"/>
            <a:ext cx="146304" cy="146304"/>
          </a:xfrm>
          <a:prstGeom prst="ellipse">
            <a:avLst/>
          </a:prstGeom>
          <a:solidFill>
            <a:srgbClr val="C92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2606040"/>
            <a:ext cx="1572768" cy="310896"/>
          </a:xfrm>
          <a:prstGeom prst="rect">
            <a:avLst/>
          </a:prstGeom>
          <a:noFill/>
        </p:spPr>
        <p:txBody>
          <a:bodyPr wrap="square" lIns="0" tIns="0" rIns="0" bIns="0" anchor="t">
            <a:noAutofit/>
          </a:bodyPr>
          <a:lstStyle/>
          <a:p>
            <a:pPr algn="l">
              <a:lnSpc>
                <a:spcPct val="118000"/>
              </a:lnSpc>
              <a:spcBef>
                <a:spcPts val="0"/>
              </a:spcBef>
              <a:spcAft>
                <a:spcPts val="400"/>
              </a:spcAft>
            </a:pPr>
            <a:r>
              <a:rPr sz="950" b="1" i="0" spc="110">
                <a:solidFill>
                  <a:srgbClr val="C92E33"/>
                </a:solidFill>
                <a:latin typeface="Consolas"/>
              </a:rPr>
              <a:t>CRITICAL</a:t>
            </a:r>
          </a:p>
        </p:txBody>
      </p:sp>
      <p:sp>
        <p:nvSpPr>
          <p:cNvPr id="8" name="TextBox 7"/>
          <p:cNvSpPr txBox="1"/>
          <p:nvPr/>
        </p:nvSpPr>
        <p:spPr>
          <a:xfrm>
            <a:off x="804672" y="2962656"/>
            <a:ext cx="1783080" cy="329184"/>
          </a:xfrm>
          <a:prstGeom prst="rect">
            <a:avLst/>
          </a:prstGeom>
          <a:noFill/>
        </p:spPr>
        <p:txBody>
          <a:bodyPr wrap="square" lIns="0" tIns="0" rIns="0" bIns="0" anchor="t">
            <a:noAutofit/>
          </a:bodyPr>
          <a:lstStyle/>
          <a:p>
            <a:pPr algn="l">
              <a:lnSpc>
                <a:spcPct val="118000"/>
              </a:lnSpc>
              <a:spcBef>
                <a:spcPts val="0"/>
              </a:spcBef>
              <a:spcAft>
                <a:spcPts val="400"/>
              </a:spcAft>
            </a:pPr>
            <a:r>
              <a:rPr sz="1250" b="1" i="0">
                <a:solidFill>
                  <a:srgbClr val="14313C"/>
                </a:solidFill>
                <a:latin typeface="Calibri"/>
              </a:rPr>
              <a:t>Reject</a:t>
            </a:r>
          </a:p>
        </p:txBody>
      </p:sp>
      <p:sp>
        <p:nvSpPr>
          <p:cNvPr id="9" name="TextBox 8"/>
          <p:cNvSpPr txBox="1"/>
          <p:nvPr/>
        </p:nvSpPr>
        <p:spPr>
          <a:xfrm>
            <a:off x="804672" y="3273552"/>
            <a:ext cx="1755648" cy="960120"/>
          </a:xfrm>
          <a:prstGeom prst="rect">
            <a:avLst/>
          </a:prstGeom>
          <a:noFill/>
        </p:spPr>
        <p:txBody>
          <a:bodyPr wrap="square" lIns="0" tIns="0" rIns="0" bIns="0" anchor="t">
            <a:noAutofit/>
          </a:bodyPr>
          <a:lstStyle/>
          <a:p>
            <a:pPr algn="l">
              <a:lnSpc>
                <a:spcPct val="126000"/>
              </a:lnSpc>
              <a:spcBef>
                <a:spcPts val="0"/>
              </a:spcBef>
              <a:spcAft>
                <a:spcPts val="400"/>
              </a:spcAft>
            </a:pPr>
            <a:r>
              <a:rPr sz="1050" b="0" i="0">
                <a:solidFill>
                  <a:srgbClr val="5A7480"/>
                </a:solidFill>
                <a:latin typeface="Calibri"/>
              </a:rPr>
              <a:t>Unsafe dose or missed target. Needs re-plan.</a:t>
            </a:r>
          </a:p>
        </p:txBody>
      </p:sp>
      <p:sp>
        <p:nvSpPr>
          <p:cNvPr id="10" name="Rounded Rectangle 9"/>
          <p:cNvSpPr/>
          <p:nvPr/>
        </p:nvSpPr>
        <p:spPr>
          <a:xfrm>
            <a:off x="2807208" y="2432304"/>
            <a:ext cx="2130552" cy="1865376"/>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044952" y="2651760"/>
            <a:ext cx="146304" cy="146304"/>
          </a:xfrm>
          <a:prstGeom prst="ellipse">
            <a:avLst/>
          </a:prstGeom>
          <a:solidFill>
            <a:srgbClr val="F07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64408" y="2606040"/>
            <a:ext cx="1572768" cy="310896"/>
          </a:xfrm>
          <a:prstGeom prst="rect">
            <a:avLst/>
          </a:prstGeom>
          <a:noFill/>
        </p:spPr>
        <p:txBody>
          <a:bodyPr wrap="square" lIns="0" tIns="0" rIns="0" bIns="0" anchor="t">
            <a:noAutofit/>
          </a:bodyPr>
          <a:lstStyle/>
          <a:p>
            <a:pPr algn="l">
              <a:lnSpc>
                <a:spcPct val="118000"/>
              </a:lnSpc>
              <a:spcBef>
                <a:spcPts val="0"/>
              </a:spcBef>
              <a:spcAft>
                <a:spcPts val="400"/>
              </a:spcAft>
            </a:pPr>
            <a:r>
              <a:rPr sz="950" b="1" i="0" spc="110">
                <a:solidFill>
                  <a:srgbClr val="F07D2E"/>
                </a:solidFill>
                <a:latin typeface="Consolas"/>
              </a:rPr>
              <a:t>MARGINAL</a:t>
            </a:r>
          </a:p>
        </p:txBody>
      </p:sp>
      <p:sp>
        <p:nvSpPr>
          <p:cNvPr id="13" name="TextBox 12"/>
          <p:cNvSpPr txBox="1"/>
          <p:nvPr/>
        </p:nvSpPr>
        <p:spPr>
          <a:xfrm>
            <a:off x="3044952" y="2962656"/>
            <a:ext cx="1783080" cy="329184"/>
          </a:xfrm>
          <a:prstGeom prst="rect">
            <a:avLst/>
          </a:prstGeom>
          <a:noFill/>
        </p:spPr>
        <p:txBody>
          <a:bodyPr wrap="square" lIns="0" tIns="0" rIns="0" bIns="0" anchor="t">
            <a:noAutofit/>
          </a:bodyPr>
          <a:lstStyle/>
          <a:p>
            <a:pPr algn="l">
              <a:lnSpc>
                <a:spcPct val="118000"/>
              </a:lnSpc>
              <a:spcBef>
                <a:spcPts val="0"/>
              </a:spcBef>
              <a:spcAft>
                <a:spcPts val="400"/>
              </a:spcAft>
            </a:pPr>
            <a:r>
              <a:rPr sz="1250" b="1" i="0">
                <a:solidFill>
                  <a:srgbClr val="14313C"/>
                </a:solidFill>
                <a:latin typeface="Calibri"/>
              </a:rPr>
              <a:t>Comment</a:t>
            </a:r>
          </a:p>
        </p:txBody>
      </p:sp>
      <p:sp>
        <p:nvSpPr>
          <p:cNvPr id="14" name="TextBox 13"/>
          <p:cNvSpPr txBox="1"/>
          <p:nvPr/>
        </p:nvSpPr>
        <p:spPr>
          <a:xfrm>
            <a:off x="3044952" y="3273552"/>
            <a:ext cx="1755648" cy="960120"/>
          </a:xfrm>
          <a:prstGeom prst="rect">
            <a:avLst/>
          </a:prstGeom>
          <a:noFill/>
        </p:spPr>
        <p:txBody>
          <a:bodyPr wrap="square" lIns="0" tIns="0" rIns="0" bIns="0" anchor="t">
            <a:noAutofit/>
          </a:bodyPr>
          <a:lstStyle/>
          <a:p>
            <a:pPr algn="l">
              <a:lnSpc>
                <a:spcPct val="126000"/>
              </a:lnSpc>
              <a:spcBef>
                <a:spcPts val="0"/>
              </a:spcBef>
              <a:spcAft>
                <a:spcPts val="400"/>
              </a:spcAft>
            </a:pPr>
            <a:r>
              <a:rPr sz="1050" b="0" i="0">
                <a:solidFill>
                  <a:srgbClr val="5A7480"/>
                </a:solidFill>
                <a:latin typeface="Calibri"/>
              </a:rPr>
              <a:t>Acceptable but improvable. Flag and discuss.</a:t>
            </a:r>
          </a:p>
        </p:txBody>
      </p:sp>
      <p:sp>
        <p:nvSpPr>
          <p:cNvPr id="15" name="Rounded Rectangle 14"/>
          <p:cNvSpPr/>
          <p:nvPr/>
        </p:nvSpPr>
        <p:spPr>
          <a:xfrm>
            <a:off x="5047488" y="2432304"/>
            <a:ext cx="2130552" cy="1865376"/>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285232" y="2651760"/>
            <a:ext cx="146304" cy="146304"/>
          </a:xfrm>
          <a:prstGeom prst="ellipse">
            <a:avLst/>
          </a:prstGeom>
          <a:solidFill>
            <a:srgbClr val="96A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504688" y="2606040"/>
            <a:ext cx="1572768" cy="310896"/>
          </a:xfrm>
          <a:prstGeom prst="rect">
            <a:avLst/>
          </a:prstGeom>
          <a:noFill/>
        </p:spPr>
        <p:txBody>
          <a:bodyPr wrap="square" lIns="0" tIns="0" rIns="0" bIns="0" anchor="t">
            <a:noAutofit/>
          </a:bodyPr>
          <a:lstStyle/>
          <a:p>
            <a:pPr algn="l">
              <a:lnSpc>
                <a:spcPct val="118000"/>
              </a:lnSpc>
              <a:spcBef>
                <a:spcPts val="0"/>
              </a:spcBef>
              <a:spcAft>
                <a:spcPts val="400"/>
              </a:spcAft>
            </a:pPr>
            <a:r>
              <a:rPr sz="950" b="1" i="0" spc="110">
                <a:solidFill>
                  <a:srgbClr val="1FA85C"/>
                </a:solidFill>
                <a:latin typeface="Consolas"/>
              </a:rPr>
              <a:t>PASS</a:t>
            </a:r>
          </a:p>
        </p:txBody>
      </p:sp>
      <p:sp>
        <p:nvSpPr>
          <p:cNvPr id="18" name="TextBox 17"/>
          <p:cNvSpPr txBox="1"/>
          <p:nvPr/>
        </p:nvSpPr>
        <p:spPr>
          <a:xfrm>
            <a:off x="5285232" y="2962656"/>
            <a:ext cx="1783080" cy="329184"/>
          </a:xfrm>
          <a:prstGeom prst="rect">
            <a:avLst/>
          </a:prstGeom>
          <a:noFill/>
        </p:spPr>
        <p:txBody>
          <a:bodyPr wrap="square" lIns="0" tIns="0" rIns="0" bIns="0" anchor="t">
            <a:noAutofit/>
          </a:bodyPr>
          <a:lstStyle/>
          <a:p>
            <a:pPr algn="l">
              <a:lnSpc>
                <a:spcPct val="118000"/>
              </a:lnSpc>
              <a:spcBef>
                <a:spcPts val="0"/>
              </a:spcBef>
              <a:spcAft>
                <a:spcPts val="400"/>
              </a:spcAft>
            </a:pPr>
            <a:r>
              <a:rPr sz="1250" b="1" i="0">
                <a:solidFill>
                  <a:srgbClr val="14313C"/>
                </a:solidFill>
                <a:latin typeface="Calibri"/>
              </a:rPr>
              <a:t>Approve</a:t>
            </a:r>
          </a:p>
        </p:txBody>
      </p:sp>
      <p:sp>
        <p:nvSpPr>
          <p:cNvPr id="19" name="TextBox 18"/>
          <p:cNvSpPr txBox="1"/>
          <p:nvPr/>
        </p:nvSpPr>
        <p:spPr>
          <a:xfrm>
            <a:off x="5285232" y="3273552"/>
            <a:ext cx="1755648" cy="960120"/>
          </a:xfrm>
          <a:prstGeom prst="rect">
            <a:avLst/>
          </a:prstGeom>
          <a:noFill/>
        </p:spPr>
        <p:txBody>
          <a:bodyPr wrap="square" lIns="0" tIns="0" rIns="0" bIns="0" anchor="t">
            <a:noAutofit/>
          </a:bodyPr>
          <a:lstStyle/>
          <a:p>
            <a:pPr algn="l">
              <a:lnSpc>
                <a:spcPct val="126000"/>
              </a:lnSpc>
              <a:spcBef>
                <a:spcPts val="0"/>
              </a:spcBef>
              <a:spcAft>
                <a:spcPts val="400"/>
              </a:spcAft>
            </a:pPr>
            <a:r>
              <a:rPr sz="1050" b="0" i="0">
                <a:solidFill>
                  <a:srgbClr val="5A7480"/>
                </a:solidFill>
                <a:latin typeface="Calibri"/>
              </a:rPr>
              <a:t>Meets all criteria. Record and move on.</a:t>
            </a:r>
          </a:p>
        </p:txBody>
      </p:sp>
      <p:sp>
        <p:nvSpPr>
          <p:cNvPr id="20" name="Rounded Rectangle 19"/>
          <p:cNvSpPr/>
          <p:nvPr/>
        </p:nvSpPr>
        <p:spPr>
          <a:xfrm>
            <a:off x="566928" y="4443984"/>
            <a:ext cx="6793992" cy="1792224"/>
          </a:xfrm>
          <a:prstGeom prst="roundRect">
            <a:avLst>
              <a:gd name="adj" fmla="val 4500"/>
            </a:avLst>
          </a:prstGeom>
          <a:solidFill>
            <a:srgbClr val="E2EFF4"/>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1248" y="4626864"/>
            <a:ext cx="6400800" cy="365760"/>
          </a:xfrm>
          <a:prstGeom prst="rect">
            <a:avLst/>
          </a:prstGeom>
          <a:noFill/>
        </p:spPr>
        <p:txBody>
          <a:bodyPr wrap="square" lIns="0" tIns="0" rIns="0" bIns="0" anchor="t">
            <a:noAutofit/>
          </a:bodyPr>
          <a:lstStyle/>
          <a:p>
            <a:pPr algn="l">
              <a:lnSpc>
                <a:spcPct val="118000"/>
              </a:lnSpc>
              <a:spcBef>
                <a:spcPts val="0"/>
              </a:spcBef>
              <a:spcAft>
                <a:spcPts val="400"/>
              </a:spcAft>
            </a:pPr>
            <a:r>
              <a:rPr sz="1050" b="1" i="0" spc="160" dirty="0">
                <a:solidFill>
                  <a:srgbClr val="F07D2E"/>
                </a:solidFill>
                <a:latin typeface="Consolas"/>
              </a:rPr>
              <a:t>IN THE </a:t>
            </a:r>
            <a:r>
              <a:rPr lang="en-US" sz="1050" b="1" i="0" spc="160" dirty="0">
                <a:solidFill>
                  <a:srgbClr val="F07D2E"/>
                </a:solidFill>
                <a:latin typeface="Consolas"/>
              </a:rPr>
              <a:t>SCORE CARD TOOL</a:t>
            </a:r>
            <a:endParaRPr sz="1050" b="1" i="0" spc="160" dirty="0">
              <a:solidFill>
                <a:srgbClr val="F07D2E"/>
              </a:solidFill>
              <a:latin typeface="Consolas"/>
            </a:endParaRPr>
          </a:p>
        </p:txBody>
      </p:sp>
      <p:sp>
        <p:nvSpPr>
          <p:cNvPr id="22" name="TextBox 21"/>
          <p:cNvSpPr txBox="1"/>
          <p:nvPr/>
        </p:nvSpPr>
        <p:spPr>
          <a:xfrm>
            <a:off x="841248" y="4974336"/>
            <a:ext cx="6355080" cy="1188720"/>
          </a:xfrm>
          <a:prstGeom prst="rect">
            <a:avLst/>
          </a:prstGeom>
          <a:noFill/>
        </p:spPr>
        <p:txBody>
          <a:bodyPr wrap="square" lIns="0" tIns="0" rIns="0" bIns="0" anchor="t">
            <a:noAutofit/>
          </a:bodyPr>
          <a:lstStyle/>
          <a:p>
            <a:pPr algn="l">
              <a:lnSpc>
                <a:spcPct val="125000"/>
              </a:lnSpc>
              <a:spcBef>
                <a:spcPts val="0"/>
              </a:spcBef>
              <a:spcAft>
                <a:spcPts val="800"/>
              </a:spcAft>
            </a:pPr>
            <a:r>
              <a:rPr sz="1250" b="0" i="0" dirty="0">
                <a:solidFill>
                  <a:srgbClr val="5A7480"/>
                </a:solidFill>
                <a:latin typeface="Calibri"/>
              </a:rPr>
              <a:t>Score each parameter: </a:t>
            </a:r>
            <a:r>
              <a:rPr sz="1250" b="1" i="0" dirty="0">
                <a:solidFill>
                  <a:srgbClr val="1FA85C"/>
                </a:solidFill>
                <a:latin typeface="Calibri"/>
              </a:rPr>
              <a:t>Pass </a:t>
            </a:r>
            <a:r>
              <a:rPr sz="1250" b="1" i="0" dirty="0">
                <a:solidFill>
                  <a:srgbClr val="F07D2E"/>
                </a:solidFill>
                <a:latin typeface="Calibri"/>
              </a:rPr>
              <a:t>/ Marginal </a:t>
            </a:r>
            <a:r>
              <a:rPr sz="1250" b="1" i="0" dirty="0">
                <a:solidFill>
                  <a:srgbClr val="C92E33"/>
                </a:solidFill>
                <a:latin typeface="Calibri"/>
              </a:rPr>
              <a:t>/ Fail</a:t>
            </a:r>
            <a:r>
              <a:rPr sz="1250" b="0" i="0" dirty="0">
                <a:solidFill>
                  <a:srgbClr val="5A7480"/>
                </a:solidFill>
                <a:latin typeface="Calibri"/>
              </a:rPr>
              <a:t> - and add a free-text note for each finding.</a:t>
            </a:r>
          </a:p>
          <a:p>
            <a:pPr algn="l">
              <a:lnSpc>
                <a:spcPct val="125000"/>
              </a:lnSpc>
              <a:spcBef>
                <a:spcPts val="0"/>
              </a:spcBef>
              <a:spcAft>
                <a:spcPts val="400"/>
              </a:spcAft>
            </a:pPr>
            <a:r>
              <a:rPr sz="1250" b="0" i="0" dirty="0">
                <a:solidFill>
                  <a:srgbClr val="5A7480"/>
                </a:solidFill>
                <a:latin typeface="Calibri"/>
              </a:rPr>
              <a:t>Your completed scorecard will anchor the </a:t>
            </a:r>
            <a:r>
              <a:rPr sz="1250" b="1" i="0" dirty="0">
                <a:solidFill>
                  <a:srgbClr val="14313C"/>
                </a:solidFill>
                <a:latin typeface="Calibri"/>
              </a:rPr>
              <a:t>case review discussion</a:t>
            </a:r>
            <a:r>
              <a:rPr sz="1250" b="0" i="0" dirty="0">
                <a:solidFill>
                  <a:srgbClr val="5A7480"/>
                </a:solidFill>
                <a:latin typeface="Calibri"/>
              </a:rPr>
              <a:t> that follows.</a:t>
            </a:r>
          </a:p>
        </p:txBody>
      </p:sp>
      <p:sp>
        <p:nvSpPr>
          <p:cNvPr id="23" name="Rounded Rectangle 22"/>
          <p:cNvSpPr/>
          <p:nvPr/>
        </p:nvSpPr>
        <p:spPr>
          <a:xfrm>
            <a:off x="7607808" y="2432304"/>
            <a:ext cx="4023360" cy="3803904"/>
          </a:xfrm>
          <a:prstGeom prst="roundRect">
            <a:avLst>
              <a:gd name="adj" fmla="val 4500"/>
            </a:avLst>
          </a:prstGeom>
          <a:solidFill>
            <a:srgbClr val="F0F7FA"/>
          </a:solidFill>
          <a:ln w="16510">
            <a:solidFill>
              <a:srgbClr val="F07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82127" y="2670048"/>
            <a:ext cx="3474720" cy="411480"/>
          </a:xfrm>
          <a:prstGeom prst="rect">
            <a:avLst/>
          </a:prstGeom>
          <a:noFill/>
        </p:spPr>
        <p:txBody>
          <a:bodyPr wrap="square" lIns="0" tIns="0" rIns="0" bIns="0" anchor="t">
            <a:noAutofit/>
          </a:bodyPr>
          <a:lstStyle/>
          <a:p>
            <a:pPr algn="l">
              <a:lnSpc>
                <a:spcPct val="118000"/>
              </a:lnSpc>
              <a:spcBef>
                <a:spcPts val="0"/>
              </a:spcBef>
              <a:spcAft>
                <a:spcPts val="400"/>
              </a:spcAft>
            </a:pPr>
            <a:r>
              <a:rPr sz="1050" b="1" i="0" spc="150" dirty="0">
                <a:solidFill>
                  <a:srgbClr val="F07D2E"/>
                </a:solidFill>
                <a:latin typeface="Consolas"/>
              </a:rPr>
              <a:t>BEFORE CASE REVIEW</a:t>
            </a:r>
          </a:p>
        </p:txBody>
      </p:sp>
      <p:sp>
        <p:nvSpPr>
          <p:cNvPr id="25" name="TextBox 24"/>
          <p:cNvSpPr txBox="1"/>
          <p:nvPr/>
        </p:nvSpPr>
        <p:spPr>
          <a:xfrm>
            <a:off x="7882127" y="3072384"/>
            <a:ext cx="3493008" cy="822960"/>
          </a:xfrm>
          <a:prstGeom prst="rect">
            <a:avLst/>
          </a:prstGeom>
          <a:noFill/>
        </p:spPr>
        <p:txBody>
          <a:bodyPr wrap="square" lIns="0" tIns="0" rIns="0" bIns="0" anchor="t">
            <a:noAutofit/>
          </a:bodyPr>
          <a:lstStyle/>
          <a:p>
            <a:pPr algn="l">
              <a:lnSpc>
                <a:spcPct val="122000"/>
              </a:lnSpc>
              <a:spcBef>
                <a:spcPts val="0"/>
              </a:spcBef>
              <a:spcAft>
                <a:spcPts val="400"/>
              </a:spcAft>
            </a:pPr>
            <a:r>
              <a:rPr sz="1600" b="1" i="1" dirty="0">
                <a:solidFill>
                  <a:srgbClr val="14313C"/>
                </a:solidFill>
                <a:latin typeface="Georgia"/>
              </a:rPr>
              <a:t>"What are your top three concerns with this plan?"</a:t>
            </a:r>
          </a:p>
        </p:txBody>
      </p:sp>
      <p:sp>
        <p:nvSpPr>
          <p:cNvPr id="26" name="TextBox 25"/>
          <p:cNvSpPr txBox="1"/>
          <p:nvPr/>
        </p:nvSpPr>
        <p:spPr>
          <a:xfrm>
            <a:off x="7882127" y="4078224"/>
            <a:ext cx="3493008" cy="2011680"/>
          </a:xfrm>
          <a:prstGeom prst="rect">
            <a:avLst/>
          </a:prstGeom>
          <a:noFill/>
        </p:spPr>
        <p:txBody>
          <a:bodyPr wrap="square" lIns="0" tIns="0" rIns="0" bIns="0" anchor="t">
            <a:noAutofit/>
          </a:bodyPr>
          <a:lstStyle/>
          <a:p>
            <a:pPr algn="l">
              <a:lnSpc>
                <a:spcPct val="126000"/>
              </a:lnSpc>
              <a:spcBef>
                <a:spcPts val="0"/>
              </a:spcBef>
              <a:spcAft>
                <a:spcPts val="800"/>
              </a:spcAft>
            </a:pPr>
            <a:r>
              <a:rPr sz="1230" b="0" i="0" dirty="0">
                <a:solidFill>
                  <a:srgbClr val="5A7480"/>
                </a:solidFill>
                <a:latin typeface="Calibri"/>
              </a:rPr>
              <a:t>Complete the </a:t>
            </a:r>
            <a:r>
              <a:rPr lang="en-US" sz="1230" dirty="0">
                <a:solidFill>
                  <a:srgbClr val="5A7480"/>
                </a:solidFill>
                <a:latin typeface="Calibri"/>
              </a:rPr>
              <a:t>score card tool </a:t>
            </a:r>
            <a:r>
              <a:rPr sz="1230" b="0" i="0" dirty="0">
                <a:solidFill>
                  <a:srgbClr val="5A7480"/>
                </a:solidFill>
                <a:latin typeface="Calibri"/>
              </a:rPr>
              <a:t>before the group discussion opens.</a:t>
            </a:r>
          </a:p>
          <a:p>
            <a:pPr algn="l">
              <a:lnSpc>
                <a:spcPct val="126000"/>
              </a:lnSpc>
              <a:spcBef>
                <a:spcPts val="0"/>
              </a:spcBef>
              <a:spcAft>
                <a:spcPts val="400"/>
              </a:spcAft>
            </a:pPr>
            <a:r>
              <a:rPr sz="1230" b="0" i="0" dirty="0">
                <a:solidFill>
                  <a:srgbClr val="5A7480"/>
                </a:solidFill>
                <a:latin typeface="Calibri"/>
              </a:rPr>
              <a:t>Naming your top three concerns first separates </a:t>
            </a:r>
            <a:r>
              <a:rPr sz="1230" b="1" i="0" dirty="0">
                <a:solidFill>
                  <a:srgbClr val="C92E33"/>
                </a:solidFill>
                <a:latin typeface="Calibri"/>
              </a:rPr>
              <a:t>critical</a:t>
            </a:r>
            <a:r>
              <a:rPr sz="1230" b="0" i="0" dirty="0">
                <a:solidFill>
                  <a:srgbClr val="5A7480"/>
                </a:solidFill>
                <a:latin typeface="Calibri"/>
              </a:rPr>
              <a:t> from </a:t>
            </a:r>
            <a:r>
              <a:rPr sz="1230" b="1" i="0" dirty="0">
                <a:solidFill>
                  <a:srgbClr val="96AAB4"/>
                </a:solidFill>
                <a:latin typeface="Calibri"/>
              </a:rPr>
              <a:t>minor</a:t>
            </a:r>
            <a:r>
              <a:rPr sz="1230" b="0" i="0" dirty="0">
                <a:solidFill>
                  <a:srgbClr val="5A7480"/>
                </a:solidFill>
                <a:latin typeface="Calibri"/>
              </a:rPr>
              <a:t> thinking before any ideal answer is shown.</a:t>
            </a:r>
          </a:p>
        </p:txBody>
      </p:sp>
      <p:sp>
        <p:nvSpPr>
          <p:cNvPr id="27" name="TextBox 26"/>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a:solidFill>
                  <a:srgbClr val="96AAB4"/>
                </a:solidFill>
                <a:latin typeface="Consolas"/>
              </a:rPr>
              <a:t>3DCRT PLAN EVALUATION  /  THEORY MODULE</a:t>
            </a:r>
          </a:p>
        </p:txBody>
      </p:sp>
      <p:sp>
        <p:nvSpPr>
          <p:cNvPr id="28" name="TextBox 27"/>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25 / 34</a:t>
            </a:r>
          </a:p>
        </p:txBody>
      </p:sp>
    </p:spTree>
    <p:extLst>
      <p:ext uri="{BB962C8B-B14F-4D97-AF65-F5344CB8AC3E}">
        <p14:creationId xmlns:p14="http://schemas.microsoft.com/office/powerpoint/2010/main" val="1320011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F0BC6922-6B23-AC05-E3BD-31B66F59C22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7581497-8783-89E3-C4BF-E1AD0F14B83A}"/>
              </a:ext>
            </a:extLst>
          </p:cNvPr>
          <p:cNvSpPr txBox="1"/>
          <p:nvPr/>
        </p:nvSpPr>
        <p:spPr>
          <a:xfrm>
            <a:off x="749808" y="1170432"/>
            <a:ext cx="4206240" cy="2743200"/>
          </a:xfrm>
          <a:prstGeom prst="rect">
            <a:avLst/>
          </a:prstGeom>
          <a:noFill/>
        </p:spPr>
        <p:txBody>
          <a:bodyPr wrap="square" lIns="0" tIns="0" rIns="0" bIns="0" anchor="t">
            <a:noAutofit/>
          </a:bodyPr>
          <a:lstStyle/>
          <a:p>
            <a:pPr algn="l">
              <a:lnSpc>
                <a:spcPct val="118000"/>
              </a:lnSpc>
              <a:spcBef>
                <a:spcPts val="0"/>
              </a:spcBef>
              <a:spcAft>
                <a:spcPts val="400"/>
              </a:spcAft>
            </a:pPr>
            <a:r>
              <a:rPr lang="en-US" sz="16800" b="1" i="0" dirty="0">
                <a:solidFill>
                  <a:schemeClr val="bg1"/>
                </a:solidFill>
                <a:latin typeface="Georgia"/>
              </a:rPr>
              <a:t>04</a:t>
            </a:r>
            <a:endParaRPr sz="16800" b="1" i="0" dirty="0">
              <a:solidFill>
                <a:schemeClr val="bg1"/>
              </a:solidFill>
              <a:latin typeface="Georgia"/>
            </a:endParaRPr>
          </a:p>
        </p:txBody>
      </p:sp>
      <p:sp>
        <p:nvSpPr>
          <p:cNvPr id="3" name="TextBox 2">
            <a:extLst>
              <a:ext uri="{FF2B5EF4-FFF2-40B4-BE49-F238E27FC236}">
                <a16:creationId xmlns:a16="http://schemas.microsoft.com/office/drawing/2014/main" id="{4580658A-0E50-EC0D-32E4-131372152F7D}"/>
              </a:ext>
            </a:extLst>
          </p:cNvPr>
          <p:cNvSpPr txBox="1"/>
          <p:nvPr/>
        </p:nvSpPr>
        <p:spPr>
          <a:xfrm>
            <a:off x="932688" y="4224528"/>
            <a:ext cx="4023360" cy="365760"/>
          </a:xfrm>
          <a:prstGeom prst="rect">
            <a:avLst/>
          </a:prstGeom>
          <a:noFill/>
        </p:spPr>
        <p:txBody>
          <a:bodyPr wrap="square" lIns="0" tIns="0" rIns="0" bIns="0" anchor="t">
            <a:noAutofit/>
          </a:bodyPr>
          <a:lstStyle/>
          <a:p>
            <a:pPr algn="l">
              <a:lnSpc>
                <a:spcPct val="118000"/>
              </a:lnSpc>
              <a:spcBef>
                <a:spcPts val="0"/>
              </a:spcBef>
              <a:spcAft>
                <a:spcPts val="400"/>
              </a:spcAft>
            </a:pPr>
            <a:r>
              <a:rPr sz="1300" b="1" i="0" spc="300" dirty="0">
                <a:solidFill>
                  <a:srgbClr val="FFFFFF"/>
                </a:solidFill>
                <a:latin typeface="Consolas"/>
              </a:rPr>
              <a:t>BLOCK</a:t>
            </a:r>
            <a:r>
              <a:rPr lang="en-US" sz="1300" b="1" i="0" spc="300" dirty="0">
                <a:solidFill>
                  <a:srgbClr val="FFFFFF"/>
                </a:solidFill>
                <a:latin typeface="Consolas"/>
              </a:rPr>
              <a:t> FOUR</a:t>
            </a:r>
            <a:endParaRPr sz="1300" b="1" i="0" spc="300" dirty="0">
              <a:solidFill>
                <a:srgbClr val="FFFFFF"/>
              </a:solidFill>
              <a:latin typeface="Consolas"/>
            </a:endParaRPr>
          </a:p>
        </p:txBody>
      </p:sp>
      <p:sp>
        <p:nvSpPr>
          <p:cNvPr id="4" name="Rectangle 3">
            <a:extLst>
              <a:ext uri="{FF2B5EF4-FFF2-40B4-BE49-F238E27FC236}">
                <a16:creationId xmlns:a16="http://schemas.microsoft.com/office/drawing/2014/main" id="{B343CFE3-D508-3B56-3775-30FA5043E03B}"/>
              </a:ext>
            </a:extLst>
          </p:cNvPr>
          <p:cNvSpPr/>
          <p:nvPr/>
        </p:nvSpPr>
        <p:spPr>
          <a:xfrm>
            <a:off x="4526280" y="1810512"/>
            <a:ext cx="4572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FDCC48DF-4E49-40C7-D68B-31C743C7E579}"/>
              </a:ext>
            </a:extLst>
          </p:cNvPr>
          <p:cNvSpPr txBox="1"/>
          <p:nvPr/>
        </p:nvSpPr>
        <p:spPr>
          <a:xfrm>
            <a:off x="4956048" y="1737360"/>
            <a:ext cx="6766560" cy="1188720"/>
          </a:xfrm>
          <a:prstGeom prst="rect">
            <a:avLst/>
          </a:prstGeom>
          <a:noFill/>
        </p:spPr>
        <p:txBody>
          <a:bodyPr wrap="square" lIns="0" tIns="0" rIns="0" bIns="0" anchor="t">
            <a:noAutofit/>
          </a:bodyPr>
          <a:lstStyle/>
          <a:p>
            <a:pPr algn="l">
              <a:lnSpc>
                <a:spcPct val="118000"/>
              </a:lnSpc>
              <a:spcBef>
                <a:spcPts val="0"/>
              </a:spcBef>
              <a:spcAft>
                <a:spcPts val="400"/>
              </a:spcAft>
            </a:pPr>
            <a:r>
              <a:rPr lang="en-US" sz="4400" b="1" i="0" dirty="0">
                <a:solidFill>
                  <a:srgbClr val="FFFFFF"/>
                </a:solidFill>
                <a:latin typeface="Georgia"/>
              </a:rPr>
              <a:t>Case Reviews</a:t>
            </a:r>
            <a:endParaRPr sz="4400" b="1" i="0" dirty="0">
              <a:solidFill>
                <a:srgbClr val="FFFFFF"/>
              </a:solidFill>
              <a:latin typeface="Georgia"/>
            </a:endParaRPr>
          </a:p>
        </p:txBody>
      </p:sp>
      <p:sp>
        <p:nvSpPr>
          <p:cNvPr id="6" name="Rounded Rectangle 5">
            <a:extLst>
              <a:ext uri="{FF2B5EF4-FFF2-40B4-BE49-F238E27FC236}">
                <a16:creationId xmlns:a16="http://schemas.microsoft.com/office/drawing/2014/main" id="{3B105622-DD92-93E0-6AEA-1DC6CA2223D6}"/>
              </a:ext>
            </a:extLst>
          </p:cNvPr>
          <p:cNvSpPr/>
          <p:nvPr/>
        </p:nvSpPr>
        <p:spPr>
          <a:xfrm>
            <a:off x="4992624" y="2798064"/>
            <a:ext cx="1783080" cy="402336"/>
          </a:xfrm>
          <a:prstGeom prst="roundRect">
            <a:avLst>
              <a:gd name="adj" fmla="val 50000"/>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D12DFCB2-A126-58A1-EB18-E9AFA9AEC890}"/>
              </a:ext>
            </a:extLst>
          </p:cNvPr>
          <p:cNvSpPr txBox="1"/>
          <p:nvPr/>
        </p:nvSpPr>
        <p:spPr>
          <a:xfrm>
            <a:off x="4956048" y="2819320"/>
            <a:ext cx="1783080" cy="384048"/>
          </a:xfrm>
          <a:prstGeom prst="rect">
            <a:avLst/>
          </a:prstGeom>
          <a:noFill/>
        </p:spPr>
        <p:txBody>
          <a:bodyPr wrap="square" lIns="0" tIns="0" rIns="0" bIns="0" anchor="ctr">
            <a:noAutofit/>
          </a:bodyPr>
          <a:lstStyle/>
          <a:p>
            <a:pPr algn="ctr">
              <a:lnSpc>
                <a:spcPct val="118000"/>
              </a:lnSpc>
              <a:spcBef>
                <a:spcPts val="0"/>
              </a:spcBef>
              <a:spcAft>
                <a:spcPts val="400"/>
              </a:spcAft>
            </a:pPr>
            <a:r>
              <a:rPr lang="en-US" sz="950" b="1" i="0" spc="130" dirty="0">
                <a:solidFill>
                  <a:schemeClr val="bg1"/>
                </a:solidFill>
                <a:latin typeface="Consolas"/>
              </a:rPr>
              <a:t>90</a:t>
            </a:r>
            <a:r>
              <a:rPr sz="950" b="1" i="0" spc="130" dirty="0">
                <a:solidFill>
                  <a:schemeClr val="bg1"/>
                </a:solidFill>
                <a:latin typeface="Consolas"/>
              </a:rPr>
              <a:t> MINUTES</a:t>
            </a:r>
          </a:p>
        </p:txBody>
      </p:sp>
      <p:sp>
        <p:nvSpPr>
          <p:cNvPr id="8" name="Oval 7">
            <a:extLst>
              <a:ext uri="{FF2B5EF4-FFF2-40B4-BE49-F238E27FC236}">
                <a16:creationId xmlns:a16="http://schemas.microsoft.com/office/drawing/2014/main" id="{0CE9D348-096E-6878-451A-36CC43FE37CE}"/>
              </a:ext>
            </a:extLst>
          </p:cNvPr>
          <p:cNvSpPr/>
          <p:nvPr/>
        </p:nvSpPr>
        <p:spPr>
          <a:xfrm>
            <a:off x="5010912" y="3639312"/>
            <a:ext cx="137160" cy="137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8D7792F1-B662-C3F2-5454-F695C9528418}"/>
              </a:ext>
            </a:extLst>
          </p:cNvPr>
          <p:cNvSpPr txBox="1"/>
          <p:nvPr/>
        </p:nvSpPr>
        <p:spPr>
          <a:xfrm>
            <a:off x="5303520" y="3547872"/>
            <a:ext cx="6309360" cy="457200"/>
          </a:xfrm>
          <a:prstGeom prst="rect">
            <a:avLst/>
          </a:prstGeom>
          <a:noFill/>
        </p:spPr>
        <p:txBody>
          <a:bodyPr wrap="square" lIns="0" tIns="0" rIns="0" bIns="0" anchor="t">
            <a:noAutofit/>
          </a:bodyPr>
          <a:lstStyle/>
          <a:p>
            <a:pPr algn="l">
              <a:lnSpc>
                <a:spcPct val="118000"/>
              </a:lnSpc>
              <a:spcBef>
                <a:spcPts val="0"/>
              </a:spcBef>
              <a:spcAft>
                <a:spcPts val="400"/>
              </a:spcAft>
            </a:pPr>
            <a:r>
              <a:rPr lang="en-US" sz="1450" b="0" i="0" dirty="0">
                <a:solidFill>
                  <a:schemeClr val="bg1"/>
                </a:solidFill>
                <a:latin typeface="Calibri"/>
              </a:rPr>
              <a:t>Case 1: Breast</a:t>
            </a:r>
            <a:endParaRPr sz="1450" b="0" i="0" dirty="0">
              <a:solidFill>
                <a:schemeClr val="bg1"/>
              </a:solidFill>
              <a:latin typeface="Calibri"/>
            </a:endParaRPr>
          </a:p>
        </p:txBody>
      </p:sp>
      <p:sp>
        <p:nvSpPr>
          <p:cNvPr id="10" name="Oval 9">
            <a:extLst>
              <a:ext uri="{FF2B5EF4-FFF2-40B4-BE49-F238E27FC236}">
                <a16:creationId xmlns:a16="http://schemas.microsoft.com/office/drawing/2014/main" id="{D6C53132-47FF-E891-1C87-6035E06A7C3F}"/>
              </a:ext>
            </a:extLst>
          </p:cNvPr>
          <p:cNvSpPr/>
          <p:nvPr/>
        </p:nvSpPr>
        <p:spPr>
          <a:xfrm>
            <a:off x="5010912" y="4151376"/>
            <a:ext cx="137160" cy="137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734E23C1-7F50-7DCA-6718-455E83D602FA}"/>
              </a:ext>
            </a:extLst>
          </p:cNvPr>
          <p:cNvSpPr txBox="1"/>
          <p:nvPr/>
        </p:nvSpPr>
        <p:spPr>
          <a:xfrm>
            <a:off x="5303520" y="4059936"/>
            <a:ext cx="6309360" cy="457200"/>
          </a:xfrm>
          <a:prstGeom prst="rect">
            <a:avLst/>
          </a:prstGeom>
          <a:noFill/>
        </p:spPr>
        <p:txBody>
          <a:bodyPr wrap="square" lIns="0" tIns="0" rIns="0" bIns="0" anchor="t">
            <a:noAutofit/>
          </a:bodyPr>
          <a:lstStyle/>
          <a:p>
            <a:pPr algn="l">
              <a:lnSpc>
                <a:spcPct val="118000"/>
              </a:lnSpc>
              <a:spcBef>
                <a:spcPts val="0"/>
              </a:spcBef>
              <a:spcAft>
                <a:spcPts val="400"/>
              </a:spcAft>
            </a:pPr>
            <a:r>
              <a:rPr lang="en-US" sz="1450" b="0" i="0" dirty="0">
                <a:solidFill>
                  <a:srgbClr val="FFFFFF"/>
                </a:solidFill>
                <a:latin typeface="Calibri"/>
              </a:rPr>
              <a:t>Case 2: Gynae</a:t>
            </a:r>
            <a:endParaRPr sz="1450" b="0" i="0" dirty="0">
              <a:solidFill>
                <a:srgbClr val="FFFFFF"/>
              </a:solidFill>
              <a:latin typeface="Calibri"/>
            </a:endParaRPr>
          </a:p>
        </p:txBody>
      </p:sp>
      <p:sp>
        <p:nvSpPr>
          <p:cNvPr id="12" name="Oval 11">
            <a:extLst>
              <a:ext uri="{FF2B5EF4-FFF2-40B4-BE49-F238E27FC236}">
                <a16:creationId xmlns:a16="http://schemas.microsoft.com/office/drawing/2014/main" id="{16FD4AF8-AABA-D7C1-E144-059AF57E41FE}"/>
              </a:ext>
            </a:extLst>
          </p:cNvPr>
          <p:cNvSpPr/>
          <p:nvPr/>
        </p:nvSpPr>
        <p:spPr>
          <a:xfrm>
            <a:off x="5010912" y="4663440"/>
            <a:ext cx="137160" cy="137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6CF99CD6-4B77-1BD2-D960-16A3D9434A9F}"/>
              </a:ext>
            </a:extLst>
          </p:cNvPr>
          <p:cNvSpPr txBox="1"/>
          <p:nvPr/>
        </p:nvSpPr>
        <p:spPr>
          <a:xfrm>
            <a:off x="5303520" y="4572000"/>
            <a:ext cx="6309360" cy="457200"/>
          </a:xfrm>
          <a:prstGeom prst="rect">
            <a:avLst/>
          </a:prstGeom>
          <a:noFill/>
        </p:spPr>
        <p:txBody>
          <a:bodyPr wrap="square" lIns="0" tIns="0" rIns="0" bIns="0" anchor="t">
            <a:noAutofit/>
          </a:bodyPr>
          <a:lstStyle/>
          <a:p>
            <a:pPr algn="l">
              <a:lnSpc>
                <a:spcPct val="118000"/>
              </a:lnSpc>
              <a:spcBef>
                <a:spcPts val="0"/>
              </a:spcBef>
              <a:spcAft>
                <a:spcPts val="400"/>
              </a:spcAft>
            </a:pPr>
            <a:r>
              <a:rPr lang="en-US" sz="1450" b="0" i="0" dirty="0">
                <a:solidFill>
                  <a:srgbClr val="FFFFFF"/>
                </a:solidFill>
                <a:latin typeface="Calibri"/>
              </a:rPr>
              <a:t>Case 3: Prostate</a:t>
            </a:r>
            <a:endParaRPr sz="1450" b="0" i="0" dirty="0">
              <a:solidFill>
                <a:srgbClr val="FFFFFF"/>
              </a:solidFill>
              <a:latin typeface="Calibri"/>
            </a:endParaRPr>
          </a:p>
        </p:txBody>
      </p:sp>
      <p:sp>
        <p:nvSpPr>
          <p:cNvPr id="14" name="TextBox 13">
            <a:extLst>
              <a:ext uri="{FF2B5EF4-FFF2-40B4-BE49-F238E27FC236}">
                <a16:creationId xmlns:a16="http://schemas.microsoft.com/office/drawing/2014/main" id="{328CD913-5EA6-C30D-7AD3-ADAE0BB3961D}"/>
              </a:ext>
            </a:extLst>
          </p:cNvPr>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dirty="0">
                <a:solidFill>
                  <a:srgbClr val="CDEBF8"/>
                </a:solidFill>
                <a:latin typeface="Consolas"/>
              </a:rPr>
              <a:t>3DCRT PLAN EVALUATION  /  </a:t>
            </a:r>
            <a:r>
              <a:rPr lang="en-US" sz="850" spc="150" dirty="0">
                <a:solidFill>
                  <a:srgbClr val="CDEBF8"/>
                </a:solidFill>
                <a:latin typeface="Consolas"/>
              </a:rPr>
              <a:t>PRACTICAL</a:t>
            </a:r>
            <a:r>
              <a:rPr sz="850" b="0" i="0" spc="150" dirty="0">
                <a:solidFill>
                  <a:srgbClr val="CDEBF8"/>
                </a:solidFill>
                <a:latin typeface="Consolas"/>
              </a:rPr>
              <a:t> MODULE</a:t>
            </a:r>
          </a:p>
        </p:txBody>
      </p:sp>
      <p:sp>
        <p:nvSpPr>
          <p:cNvPr id="15" name="TextBox 14">
            <a:extLst>
              <a:ext uri="{FF2B5EF4-FFF2-40B4-BE49-F238E27FC236}">
                <a16:creationId xmlns:a16="http://schemas.microsoft.com/office/drawing/2014/main" id="{9518BE5E-9443-D761-FE7A-65E73071B9F9}"/>
              </a:ext>
            </a:extLst>
          </p:cNvPr>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lang="en-US" sz="850" b="0" i="0" spc="150" dirty="0">
                <a:solidFill>
                  <a:srgbClr val="CDEBF8"/>
                </a:solidFill>
                <a:latin typeface="Consolas"/>
              </a:rPr>
              <a:t>26</a:t>
            </a:r>
            <a:r>
              <a:rPr sz="850" b="0" i="0" spc="150" dirty="0">
                <a:solidFill>
                  <a:srgbClr val="CDEBF8"/>
                </a:solidFill>
                <a:latin typeface="Consolas"/>
              </a:rPr>
              <a:t> / 3</a:t>
            </a:r>
            <a:r>
              <a:rPr lang="en-US" sz="850" b="0" i="0" spc="150" dirty="0">
                <a:solidFill>
                  <a:srgbClr val="CDEBF8"/>
                </a:solidFill>
                <a:latin typeface="Consolas"/>
              </a:rPr>
              <a:t>5</a:t>
            </a:r>
            <a:endParaRPr sz="850" b="0" i="0" spc="150" dirty="0">
              <a:solidFill>
                <a:srgbClr val="CDEBF8"/>
              </a:solidFill>
              <a:latin typeface="Consolas"/>
            </a:endParaRPr>
          </a:p>
        </p:txBody>
      </p:sp>
      <p:sp>
        <p:nvSpPr>
          <p:cNvPr id="16" name="Oval 15">
            <a:extLst>
              <a:ext uri="{FF2B5EF4-FFF2-40B4-BE49-F238E27FC236}">
                <a16:creationId xmlns:a16="http://schemas.microsoft.com/office/drawing/2014/main" id="{69D8A160-1105-9471-C0CB-2850F1C84D71}"/>
              </a:ext>
            </a:extLst>
          </p:cNvPr>
          <p:cNvSpPr/>
          <p:nvPr/>
        </p:nvSpPr>
        <p:spPr>
          <a:xfrm>
            <a:off x="5010912" y="5148072"/>
            <a:ext cx="137160" cy="137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6EF9A8B0-66AD-8FEB-F2B1-E01B457F2A07}"/>
              </a:ext>
            </a:extLst>
          </p:cNvPr>
          <p:cNvSpPr txBox="1"/>
          <p:nvPr/>
        </p:nvSpPr>
        <p:spPr>
          <a:xfrm>
            <a:off x="5303520" y="5056632"/>
            <a:ext cx="6309360" cy="457200"/>
          </a:xfrm>
          <a:prstGeom prst="rect">
            <a:avLst/>
          </a:prstGeom>
          <a:noFill/>
        </p:spPr>
        <p:txBody>
          <a:bodyPr wrap="square" lIns="0" tIns="0" rIns="0" bIns="0" anchor="t">
            <a:noAutofit/>
          </a:bodyPr>
          <a:lstStyle/>
          <a:p>
            <a:pPr algn="l">
              <a:lnSpc>
                <a:spcPct val="118000"/>
              </a:lnSpc>
              <a:spcBef>
                <a:spcPts val="0"/>
              </a:spcBef>
              <a:spcAft>
                <a:spcPts val="400"/>
              </a:spcAft>
            </a:pPr>
            <a:r>
              <a:rPr lang="en-US" sz="1450" b="0" i="0" dirty="0">
                <a:solidFill>
                  <a:srgbClr val="FFFFFF"/>
                </a:solidFill>
                <a:latin typeface="Calibri"/>
              </a:rPr>
              <a:t>Case 4: Neuro</a:t>
            </a:r>
            <a:endParaRPr sz="1450" b="0" i="0" dirty="0">
              <a:solidFill>
                <a:srgbClr val="FFFFFF"/>
              </a:solidFill>
              <a:latin typeface="Calibri"/>
            </a:endParaRPr>
          </a:p>
        </p:txBody>
      </p:sp>
      <p:sp>
        <p:nvSpPr>
          <p:cNvPr id="18" name="Oval 17">
            <a:extLst>
              <a:ext uri="{FF2B5EF4-FFF2-40B4-BE49-F238E27FC236}">
                <a16:creationId xmlns:a16="http://schemas.microsoft.com/office/drawing/2014/main" id="{D5381D63-418D-A4DE-0AAC-364425B33106}"/>
              </a:ext>
            </a:extLst>
          </p:cNvPr>
          <p:cNvSpPr/>
          <p:nvPr/>
        </p:nvSpPr>
        <p:spPr>
          <a:xfrm>
            <a:off x="5010912" y="5609844"/>
            <a:ext cx="137160" cy="137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A2288BE9-C8FA-0DEC-4B6B-7C572E40AC36}"/>
              </a:ext>
            </a:extLst>
          </p:cNvPr>
          <p:cNvSpPr txBox="1"/>
          <p:nvPr/>
        </p:nvSpPr>
        <p:spPr>
          <a:xfrm>
            <a:off x="5303520" y="5518404"/>
            <a:ext cx="6309360" cy="457200"/>
          </a:xfrm>
          <a:prstGeom prst="rect">
            <a:avLst/>
          </a:prstGeom>
          <a:noFill/>
        </p:spPr>
        <p:txBody>
          <a:bodyPr wrap="square" lIns="0" tIns="0" rIns="0" bIns="0" anchor="t">
            <a:noAutofit/>
          </a:bodyPr>
          <a:lstStyle/>
          <a:p>
            <a:pPr algn="l">
              <a:lnSpc>
                <a:spcPct val="118000"/>
              </a:lnSpc>
              <a:spcBef>
                <a:spcPts val="0"/>
              </a:spcBef>
              <a:spcAft>
                <a:spcPts val="400"/>
              </a:spcAft>
            </a:pPr>
            <a:r>
              <a:rPr lang="en-US" sz="1450" b="0" i="0" dirty="0">
                <a:solidFill>
                  <a:srgbClr val="FFFFFF"/>
                </a:solidFill>
                <a:latin typeface="Calibri"/>
              </a:rPr>
              <a:t>Case 5: Head &amp; Neck</a:t>
            </a:r>
            <a:endParaRPr sz="1450" b="0" i="0" dirty="0">
              <a:solidFill>
                <a:srgbClr val="FFFFFF"/>
              </a:solidFill>
              <a:latin typeface="Calibri"/>
            </a:endParaRPr>
          </a:p>
        </p:txBody>
      </p:sp>
    </p:spTree>
    <p:extLst>
      <p:ext uri="{BB962C8B-B14F-4D97-AF65-F5344CB8AC3E}">
        <p14:creationId xmlns:p14="http://schemas.microsoft.com/office/powerpoint/2010/main" val="30108928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1C5F2-45D5-4447-F01B-78E1C0A88283}"/>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07B76893-02C3-A631-FB2A-AADE7503DB7D}"/>
              </a:ext>
            </a:extLst>
          </p:cNvPr>
          <p:cNvSpPr/>
          <p:nvPr/>
        </p:nvSpPr>
        <p:spPr>
          <a:xfrm>
            <a:off x="566928" y="1654269"/>
            <a:ext cx="3584448" cy="4673379"/>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3F375394-A074-2AB4-CB00-EF77C6ECE6CD}"/>
              </a:ext>
            </a:extLst>
          </p:cNvPr>
          <p:cNvSpPr/>
          <p:nvPr/>
        </p:nvSpPr>
        <p:spPr>
          <a:xfrm>
            <a:off x="566928" y="1649233"/>
            <a:ext cx="3584448" cy="6400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21D10279-5769-EDD9-0E9B-4D1DC24BAA08}"/>
              </a:ext>
            </a:extLst>
          </p:cNvPr>
          <p:cNvSpPr txBox="1"/>
          <p:nvPr/>
        </p:nvSpPr>
        <p:spPr>
          <a:xfrm>
            <a:off x="850392" y="1874520"/>
            <a:ext cx="3017520" cy="219456"/>
          </a:xfrm>
          <a:prstGeom prst="rect">
            <a:avLst/>
          </a:prstGeom>
          <a:noFill/>
        </p:spPr>
        <p:txBody>
          <a:bodyPr wrap="square" lIns="0" tIns="0" rIns="0" bIns="0" anchor="t">
            <a:noAutofit/>
          </a:bodyPr>
          <a:lstStyle/>
          <a:p>
            <a:pPr algn="l">
              <a:lnSpc>
                <a:spcPct val="118000"/>
              </a:lnSpc>
              <a:spcBef>
                <a:spcPts val="0"/>
              </a:spcBef>
              <a:spcAft>
                <a:spcPts val="400"/>
              </a:spcAft>
            </a:pPr>
            <a:r>
              <a:rPr lang="en-US" sz="1100" b="1" i="0" spc="160" dirty="0">
                <a:solidFill>
                  <a:srgbClr val="FF0000"/>
                </a:solidFill>
                <a:latin typeface="Consolas"/>
              </a:rPr>
              <a:t>Bad Plan</a:t>
            </a:r>
            <a:endParaRPr sz="1100" b="1" i="0" spc="160" dirty="0">
              <a:solidFill>
                <a:srgbClr val="FF0000"/>
              </a:solidFill>
              <a:latin typeface="Consolas"/>
            </a:endParaRPr>
          </a:p>
        </p:txBody>
      </p:sp>
      <p:sp>
        <p:nvSpPr>
          <p:cNvPr id="7" name="TextBox 6">
            <a:extLst>
              <a:ext uri="{FF2B5EF4-FFF2-40B4-BE49-F238E27FC236}">
                <a16:creationId xmlns:a16="http://schemas.microsoft.com/office/drawing/2014/main" id="{7288AF41-F82A-EB84-E7BD-D2702F5E54BF}"/>
              </a:ext>
            </a:extLst>
          </p:cNvPr>
          <p:cNvSpPr txBox="1"/>
          <p:nvPr/>
        </p:nvSpPr>
        <p:spPr>
          <a:xfrm>
            <a:off x="850392" y="2163948"/>
            <a:ext cx="3108960" cy="277435"/>
          </a:xfrm>
          <a:prstGeom prst="rect">
            <a:avLst/>
          </a:prstGeom>
          <a:noFill/>
        </p:spPr>
        <p:txBody>
          <a:bodyPr wrap="square" lIns="0" tIns="0" rIns="0" bIns="0" anchor="t">
            <a:noAutofit/>
          </a:bodyPr>
          <a:lstStyle/>
          <a:p>
            <a:pPr algn="l">
              <a:lnSpc>
                <a:spcPct val="118000"/>
              </a:lnSpc>
              <a:spcBef>
                <a:spcPts val="0"/>
              </a:spcBef>
              <a:spcAft>
                <a:spcPts val="400"/>
              </a:spcAft>
            </a:pPr>
            <a:r>
              <a:rPr lang="en-US" sz="1900" b="1" dirty="0">
                <a:solidFill>
                  <a:srgbClr val="14313C"/>
                </a:solidFill>
                <a:latin typeface="Georgia"/>
              </a:rPr>
              <a:t>No Wedges</a:t>
            </a:r>
            <a:endParaRPr sz="1900" b="1" i="0" dirty="0">
              <a:solidFill>
                <a:srgbClr val="14313C"/>
              </a:solidFill>
              <a:latin typeface="Georgia"/>
            </a:endParaRPr>
          </a:p>
        </p:txBody>
      </p:sp>
      <p:sp>
        <p:nvSpPr>
          <p:cNvPr id="8" name="TextBox 7">
            <a:extLst>
              <a:ext uri="{FF2B5EF4-FFF2-40B4-BE49-F238E27FC236}">
                <a16:creationId xmlns:a16="http://schemas.microsoft.com/office/drawing/2014/main" id="{BD8D85C3-9DBD-BEB9-DAAF-BCB39318CFA0}"/>
              </a:ext>
            </a:extLst>
          </p:cNvPr>
          <p:cNvSpPr txBox="1"/>
          <p:nvPr/>
        </p:nvSpPr>
        <p:spPr>
          <a:xfrm>
            <a:off x="719328" y="4057650"/>
            <a:ext cx="3355848" cy="2093974"/>
          </a:xfrm>
          <a:prstGeom prst="rect">
            <a:avLst/>
          </a:prstGeom>
          <a:noFill/>
        </p:spPr>
        <p:txBody>
          <a:bodyPr wrap="square" lIns="0" tIns="0" rIns="0" bIns="0" anchor="t">
            <a:noAutofit/>
          </a:bodyPr>
          <a:lstStyle/>
          <a:p>
            <a:pPr marL="171450" indent="-171450" algn="l">
              <a:lnSpc>
                <a:spcPct val="130000"/>
              </a:lnSpc>
              <a:spcBef>
                <a:spcPts val="0"/>
              </a:spcBef>
              <a:spcAft>
                <a:spcPts val="400"/>
              </a:spcAft>
              <a:buFont typeface="Arial" panose="020B0604020202020204" pitchFamily="34" charset="0"/>
              <a:buChar char="•"/>
            </a:pPr>
            <a:r>
              <a:rPr lang="en-US" sz="1170" b="0" i="0" dirty="0">
                <a:solidFill>
                  <a:srgbClr val="5A7480"/>
                </a:solidFill>
                <a:latin typeface="Calibri"/>
              </a:rPr>
              <a:t>Poor iso placement (too deep into lung &amp; heart)</a:t>
            </a:r>
          </a:p>
          <a:p>
            <a:pPr marL="171450" indent="-171450" algn="l">
              <a:lnSpc>
                <a:spcPct val="130000"/>
              </a:lnSpc>
              <a:spcBef>
                <a:spcPts val="0"/>
              </a:spcBef>
              <a:spcAft>
                <a:spcPts val="400"/>
              </a:spcAft>
              <a:buFont typeface="Arial" panose="020B0604020202020204" pitchFamily="34" charset="0"/>
              <a:buChar char="•"/>
            </a:pPr>
            <a:r>
              <a:rPr lang="en-US" sz="1170" dirty="0">
                <a:solidFill>
                  <a:srgbClr val="5A7480"/>
                </a:solidFill>
                <a:latin typeface="Calibri"/>
              </a:rPr>
              <a:t>Crossing midline (unnecessary contralateral dose)</a:t>
            </a:r>
          </a:p>
          <a:p>
            <a:pPr marL="171450" indent="-171450" algn="l">
              <a:lnSpc>
                <a:spcPct val="130000"/>
              </a:lnSpc>
              <a:spcBef>
                <a:spcPts val="0"/>
              </a:spcBef>
              <a:spcAft>
                <a:spcPts val="400"/>
              </a:spcAft>
              <a:buFont typeface="Arial" panose="020B0604020202020204" pitchFamily="34" charset="0"/>
              <a:buChar char="•"/>
            </a:pPr>
            <a:r>
              <a:rPr lang="en-US" sz="1170" b="0" i="0" dirty="0">
                <a:solidFill>
                  <a:srgbClr val="5A7480"/>
                </a:solidFill>
                <a:latin typeface="Calibri"/>
              </a:rPr>
              <a:t>No flash applied (under coverage of superficial breast tissue)</a:t>
            </a:r>
          </a:p>
          <a:p>
            <a:pPr marL="171450" indent="-171450" algn="l">
              <a:lnSpc>
                <a:spcPct val="130000"/>
              </a:lnSpc>
              <a:spcBef>
                <a:spcPts val="0"/>
              </a:spcBef>
              <a:spcAft>
                <a:spcPts val="400"/>
              </a:spcAft>
              <a:buFont typeface="Arial" panose="020B0604020202020204" pitchFamily="34" charset="0"/>
              <a:buChar char="•"/>
            </a:pPr>
            <a:r>
              <a:rPr lang="en-US" sz="1170" dirty="0">
                <a:solidFill>
                  <a:srgbClr val="5A7480"/>
                </a:solidFill>
                <a:latin typeface="Calibri"/>
              </a:rPr>
              <a:t>Poor normalization point placement (in lung)</a:t>
            </a:r>
            <a:endParaRPr lang="en-US" sz="1170" b="0" i="0" dirty="0">
              <a:solidFill>
                <a:srgbClr val="5A7480"/>
              </a:solidFill>
              <a:latin typeface="Calibri"/>
            </a:endParaRPr>
          </a:p>
          <a:p>
            <a:pPr marL="171450" indent="-171450" algn="l">
              <a:lnSpc>
                <a:spcPct val="130000"/>
              </a:lnSpc>
              <a:spcBef>
                <a:spcPts val="0"/>
              </a:spcBef>
              <a:spcAft>
                <a:spcPts val="400"/>
              </a:spcAft>
              <a:buFont typeface="Arial" panose="020B0604020202020204" pitchFamily="34" charset="0"/>
              <a:buChar char="•"/>
            </a:pPr>
            <a:r>
              <a:rPr lang="en-US" sz="1170" dirty="0">
                <a:solidFill>
                  <a:srgbClr val="5A7480"/>
                </a:solidFill>
                <a:latin typeface="Calibri"/>
              </a:rPr>
              <a:t>Unacceptable hotspot value (&gt;115%) and location</a:t>
            </a:r>
          </a:p>
          <a:p>
            <a:pPr marL="171450" indent="-171450" algn="l">
              <a:lnSpc>
                <a:spcPct val="130000"/>
              </a:lnSpc>
              <a:spcBef>
                <a:spcPts val="0"/>
              </a:spcBef>
              <a:spcAft>
                <a:spcPts val="400"/>
              </a:spcAft>
              <a:buFont typeface="Arial" panose="020B0604020202020204" pitchFamily="34" charset="0"/>
              <a:buChar char="•"/>
            </a:pPr>
            <a:r>
              <a:rPr lang="en-US" sz="1170" b="0" i="0" dirty="0">
                <a:solidFill>
                  <a:srgbClr val="5A7480"/>
                </a:solidFill>
                <a:latin typeface="Calibri"/>
              </a:rPr>
              <a:t>No dose shaping, poor homogeneity</a:t>
            </a:r>
          </a:p>
          <a:p>
            <a:pPr marL="171450" indent="-171450" algn="l">
              <a:lnSpc>
                <a:spcPct val="130000"/>
              </a:lnSpc>
              <a:spcBef>
                <a:spcPts val="0"/>
              </a:spcBef>
              <a:spcAft>
                <a:spcPts val="400"/>
              </a:spcAft>
              <a:buFont typeface="Arial" panose="020B0604020202020204" pitchFamily="34" charset="0"/>
              <a:buChar char="•"/>
            </a:pPr>
            <a:r>
              <a:rPr lang="en-US" sz="1170" dirty="0">
                <a:solidFill>
                  <a:srgbClr val="5A7480"/>
                </a:solidFill>
                <a:latin typeface="Calibri"/>
              </a:rPr>
              <a:t>Heart exceeding tolerance</a:t>
            </a:r>
            <a:endParaRPr lang="en-US" sz="1170" b="0" i="0" dirty="0">
              <a:solidFill>
                <a:srgbClr val="FF0000"/>
              </a:solidFill>
              <a:latin typeface="Calibri"/>
            </a:endParaRPr>
          </a:p>
          <a:p>
            <a:pPr marL="171450" indent="-171450" algn="l">
              <a:lnSpc>
                <a:spcPct val="130000"/>
              </a:lnSpc>
              <a:spcBef>
                <a:spcPts val="0"/>
              </a:spcBef>
              <a:spcAft>
                <a:spcPts val="400"/>
              </a:spcAft>
              <a:buFont typeface="Arial" panose="020B0604020202020204" pitchFamily="34" charset="0"/>
              <a:buChar char="•"/>
            </a:pPr>
            <a:endParaRPr lang="en-US" sz="1170" b="0" i="0" dirty="0">
              <a:solidFill>
                <a:srgbClr val="5A7480"/>
              </a:solidFill>
              <a:latin typeface="Calibri"/>
            </a:endParaRPr>
          </a:p>
          <a:p>
            <a:pPr marL="171450" indent="-171450" algn="l">
              <a:lnSpc>
                <a:spcPct val="130000"/>
              </a:lnSpc>
              <a:spcBef>
                <a:spcPts val="0"/>
              </a:spcBef>
              <a:spcAft>
                <a:spcPts val="400"/>
              </a:spcAft>
              <a:buFont typeface="Arial" panose="020B0604020202020204" pitchFamily="34" charset="0"/>
              <a:buChar char="•"/>
            </a:pPr>
            <a:endParaRPr sz="1170" b="0" i="0" dirty="0">
              <a:solidFill>
                <a:srgbClr val="5A7480"/>
              </a:solidFill>
              <a:latin typeface="Calibri"/>
            </a:endParaRPr>
          </a:p>
        </p:txBody>
      </p:sp>
      <p:sp>
        <p:nvSpPr>
          <p:cNvPr id="9" name="Rounded Rectangle 8">
            <a:extLst>
              <a:ext uri="{FF2B5EF4-FFF2-40B4-BE49-F238E27FC236}">
                <a16:creationId xmlns:a16="http://schemas.microsoft.com/office/drawing/2014/main" id="{ECB37B8A-0711-1D9F-2A85-35E7585CC8C6}"/>
              </a:ext>
            </a:extLst>
          </p:cNvPr>
          <p:cNvSpPr/>
          <p:nvPr/>
        </p:nvSpPr>
        <p:spPr>
          <a:xfrm>
            <a:off x="4306824" y="1649233"/>
            <a:ext cx="3584448" cy="4678415"/>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33935A58-7ED7-FBB1-0DFA-B8A134D31E49}"/>
              </a:ext>
            </a:extLst>
          </p:cNvPr>
          <p:cNvSpPr/>
          <p:nvPr/>
        </p:nvSpPr>
        <p:spPr>
          <a:xfrm>
            <a:off x="4297680" y="1649233"/>
            <a:ext cx="3584448" cy="64008"/>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67A8995F-1B5C-5FC8-B05A-0DA2E7F5FEF4}"/>
              </a:ext>
            </a:extLst>
          </p:cNvPr>
          <p:cNvSpPr txBox="1"/>
          <p:nvPr/>
        </p:nvSpPr>
        <p:spPr>
          <a:xfrm>
            <a:off x="4550664" y="1874520"/>
            <a:ext cx="3017520" cy="219456"/>
          </a:xfrm>
          <a:prstGeom prst="rect">
            <a:avLst/>
          </a:prstGeom>
          <a:noFill/>
        </p:spPr>
        <p:txBody>
          <a:bodyPr wrap="square" lIns="0" tIns="0" rIns="0" bIns="0" anchor="t">
            <a:noAutofit/>
          </a:bodyPr>
          <a:lstStyle/>
          <a:p>
            <a:pPr algn="l">
              <a:lnSpc>
                <a:spcPct val="118000"/>
              </a:lnSpc>
              <a:spcBef>
                <a:spcPts val="0"/>
              </a:spcBef>
              <a:spcAft>
                <a:spcPts val="400"/>
              </a:spcAft>
            </a:pPr>
            <a:r>
              <a:rPr lang="en-US" sz="1100" b="1" i="0" spc="160" dirty="0">
                <a:solidFill>
                  <a:schemeClr val="accent6">
                    <a:lumMod val="75000"/>
                  </a:schemeClr>
                </a:solidFill>
                <a:latin typeface="Consolas"/>
              </a:rPr>
              <a:t>Acceptable Plan</a:t>
            </a:r>
            <a:endParaRPr sz="1100" b="1" i="0" spc="160" dirty="0">
              <a:solidFill>
                <a:schemeClr val="accent6">
                  <a:lumMod val="75000"/>
                </a:schemeClr>
              </a:solidFill>
              <a:latin typeface="Consolas"/>
            </a:endParaRPr>
          </a:p>
        </p:txBody>
      </p:sp>
      <p:sp>
        <p:nvSpPr>
          <p:cNvPr id="12" name="TextBox 11">
            <a:extLst>
              <a:ext uri="{FF2B5EF4-FFF2-40B4-BE49-F238E27FC236}">
                <a16:creationId xmlns:a16="http://schemas.microsoft.com/office/drawing/2014/main" id="{E485C810-5D99-4B5D-D937-7E30FE780435}"/>
              </a:ext>
            </a:extLst>
          </p:cNvPr>
          <p:cNvSpPr txBox="1"/>
          <p:nvPr/>
        </p:nvSpPr>
        <p:spPr>
          <a:xfrm>
            <a:off x="4550664" y="2163948"/>
            <a:ext cx="3108960" cy="277435"/>
          </a:xfrm>
          <a:prstGeom prst="rect">
            <a:avLst/>
          </a:prstGeom>
          <a:noFill/>
        </p:spPr>
        <p:txBody>
          <a:bodyPr wrap="square" lIns="0" tIns="0" rIns="0" bIns="0" anchor="t">
            <a:noAutofit/>
          </a:bodyPr>
          <a:lstStyle/>
          <a:p>
            <a:pPr algn="l">
              <a:lnSpc>
                <a:spcPct val="118000"/>
              </a:lnSpc>
              <a:spcBef>
                <a:spcPts val="0"/>
              </a:spcBef>
              <a:spcAft>
                <a:spcPts val="400"/>
              </a:spcAft>
            </a:pPr>
            <a:r>
              <a:rPr lang="en-US" sz="1900" b="1" i="0" dirty="0">
                <a:solidFill>
                  <a:srgbClr val="14313C"/>
                </a:solidFill>
                <a:latin typeface="Georgia"/>
              </a:rPr>
              <a:t>Wedged</a:t>
            </a:r>
            <a:endParaRPr sz="1900" b="1" i="0" dirty="0">
              <a:solidFill>
                <a:srgbClr val="14313C"/>
              </a:solidFill>
              <a:latin typeface="Georgia"/>
            </a:endParaRPr>
          </a:p>
        </p:txBody>
      </p:sp>
      <p:sp>
        <p:nvSpPr>
          <p:cNvPr id="13" name="TextBox 12">
            <a:extLst>
              <a:ext uri="{FF2B5EF4-FFF2-40B4-BE49-F238E27FC236}">
                <a16:creationId xmlns:a16="http://schemas.microsoft.com/office/drawing/2014/main" id="{19D6AE46-A89D-17BB-FDFF-76ADB9BA4E07}"/>
              </a:ext>
            </a:extLst>
          </p:cNvPr>
          <p:cNvSpPr txBox="1"/>
          <p:nvPr/>
        </p:nvSpPr>
        <p:spPr>
          <a:xfrm>
            <a:off x="4495800" y="4031847"/>
            <a:ext cx="3386328" cy="2119777"/>
          </a:xfrm>
          <a:prstGeom prst="rect">
            <a:avLst/>
          </a:prstGeom>
          <a:noFill/>
        </p:spPr>
        <p:txBody>
          <a:bodyPr wrap="square" lIns="0" tIns="0" rIns="0" bIns="0" anchor="t">
            <a:noAutofit/>
          </a:bodyPr>
          <a:lstStyle/>
          <a:p>
            <a:pPr marL="171450" indent="-171450">
              <a:lnSpc>
                <a:spcPct val="130000"/>
              </a:lnSpc>
              <a:spcAft>
                <a:spcPts val="400"/>
              </a:spcAft>
              <a:buFont typeface="Arial" panose="020B0604020202020204" pitchFamily="34" charset="0"/>
              <a:buChar char="•"/>
            </a:pPr>
            <a:r>
              <a:rPr lang="en-US" sz="1170" dirty="0">
                <a:solidFill>
                  <a:srgbClr val="5A7480"/>
                </a:solidFill>
              </a:rPr>
              <a:t>Good iso placement</a:t>
            </a:r>
          </a:p>
          <a:p>
            <a:pPr marL="171450" indent="-171450">
              <a:lnSpc>
                <a:spcPct val="130000"/>
              </a:lnSpc>
              <a:spcAft>
                <a:spcPts val="400"/>
              </a:spcAft>
              <a:buFont typeface="Arial" panose="020B0604020202020204" pitchFamily="34" charset="0"/>
              <a:buChar char="•"/>
            </a:pPr>
            <a:r>
              <a:rPr lang="en-US" sz="1170" dirty="0">
                <a:solidFill>
                  <a:srgbClr val="5A7480"/>
                </a:solidFill>
              </a:rPr>
              <a:t>In midline (contralateral spared)</a:t>
            </a:r>
          </a:p>
          <a:p>
            <a:pPr marL="171450" indent="-171450">
              <a:lnSpc>
                <a:spcPct val="130000"/>
              </a:lnSpc>
              <a:spcAft>
                <a:spcPts val="400"/>
              </a:spcAft>
              <a:buFont typeface="Arial" panose="020B0604020202020204" pitchFamily="34" charset="0"/>
              <a:buChar char="•"/>
            </a:pPr>
            <a:r>
              <a:rPr lang="en-US" sz="1170" dirty="0">
                <a:solidFill>
                  <a:srgbClr val="5A7480"/>
                </a:solidFill>
              </a:rPr>
              <a:t>Flash applied ( 2cm beyond breast tissue for superficial breast coverage, breathing &amp; set up error)</a:t>
            </a:r>
          </a:p>
          <a:p>
            <a:pPr marL="171450" indent="-171450">
              <a:lnSpc>
                <a:spcPct val="130000"/>
              </a:lnSpc>
              <a:spcAft>
                <a:spcPts val="400"/>
              </a:spcAft>
              <a:buFont typeface="Arial" panose="020B0604020202020204" pitchFamily="34" charset="0"/>
              <a:buChar char="•"/>
            </a:pPr>
            <a:r>
              <a:rPr lang="en-US" sz="1170" dirty="0">
                <a:solidFill>
                  <a:srgbClr val="5A7480"/>
                </a:solidFill>
              </a:rPr>
              <a:t>Good normalization point placement, good coverage </a:t>
            </a:r>
          </a:p>
          <a:p>
            <a:pPr marL="171450" indent="-171450">
              <a:lnSpc>
                <a:spcPct val="130000"/>
              </a:lnSpc>
              <a:spcAft>
                <a:spcPts val="400"/>
              </a:spcAft>
              <a:buFont typeface="Arial" panose="020B0604020202020204" pitchFamily="34" charset="0"/>
              <a:buChar char="•"/>
            </a:pPr>
            <a:r>
              <a:rPr lang="en-US" sz="1170" b="1" dirty="0">
                <a:solidFill>
                  <a:schemeClr val="accent6">
                    <a:lumMod val="75000"/>
                  </a:schemeClr>
                </a:solidFill>
              </a:rPr>
              <a:t>Acceptable hotspot value (&lt;115% ) and location</a:t>
            </a:r>
          </a:p>
          <a:p>
            <a:pPr marL="171450" indent="-171450">
              <a:lnSpc>
                <a:spcPct val="130000"/>
              </a:lnSpc>
              <a:spcAft>
                <a:spcPts val="400"/>
              </a:spcAft>
              <a:buFont typeface="Arial" panose="020B0604020202020204" pitchFamily="34" charset="0"/>
              <a:buChar char="•"/>
            </a:pPr>
            <a:r>
              <a:rPr lang="en-US" sz="1170" b="1" dirty="0">
                <a:solidFill>
                  <a:schemeClr val="accent6">
                    <a:lumMod val="75000"/>
                  </a:schemeClr>
                </a:solidFill>
              </a:rPr>
              <a:t>Wedges applied, improved homogeneity </a:t>
            </a:r>
          </a:p>
          <a:p>
            <a:pPr marL="171450" indent="-171450">
              <a:lnSpc>
                <a:spcPct val="130000"/>
              </a:lnSpc>
              <a:spcAft>
                <a:spcPts val="400"/>
              </a:spcAft>
              <a:buFont typeface="Arial" panose="020B0604020202020204" pitchFamily="34" charset="0"/>
              <a:buChar char="•"/>
            </a:pPr>
            <a:r>
              <a:rPr lang="en-US" sz="1170" dirty="0">
                <a:solidFill>
                  <a:srgbClr val="5A7480"/>
                </a:solidFill>
              </a:rPr>
              <a:t>Heart &amp; Lung within tolerance</a:t>
            </a:r>
            <a:endParaRPr lang="en-US" sz="1170" dirty="0">
              <a:solidFill>
                <a:srgbClr val="FF0000"/>
              </a:solidFill>
            </a:endParaRPr>
          </a:p>
          <a:p>
            <a:pPr marL="171450" indent="-171450">
              <a:lnSpc>
                <a:spcPct val="130000"/>
              </a:lnSpc>
              <a:spcAft>
                <a:spcPts val="400"/>
              </a:spcAft>
              <a:buFont typeface="Arial" panose="020B0604020202020204" pitchFamily="34" charset="0"/>
              <a:buChar char="•"/>
            </a:pPr>
            <a:endParaRPr lang="en-US" sz="1170" dirty="0">
              <a:solidFill>
                <a:srgbClr val="5A7480"/>
              </a:solidFill>
            </a:endParaRPr>
          </a:p>
          <a:p>
            <a:pPr marL="171450" indent="-171450">
              <a:lnSpc>
                <a:spcPct val="130000"/>
              </a:lnSpc>
              <a:spcAft>
                <a:spcPts val="400"/>
              </a:spcAft>
              <a:buFont typeface="Arial" panose="020B0604020202020204" pitchFamily="34" charset="0"/>
              <a:buChar char="•"/>
            </a:pPr>
            <a:endParaRPr lang="en-US" sz="1170" dirty="0">
              <a:solidFill>
                <a:srgbClr val="5A7480"/>
              </a:solidFill>
            </a:endParaRPr>
          </a:p>
        </p:txBody>
      </p:sp>
      <p:sp>
        <p:nvSpPr>
          <p:cNvPr id="14" name="Rounded Rectangle 13">
            <a:extLst>
              <a:ext uri="{FF2B5EF4-FFF2-40B4-BE49-F238E27FC236}">
                <a16:creationId xmlns:a16="http://schemas.microsoft.com/office/drawing/2014/main" id="{AB874826-7CA8-9980-4021-175C9CDC5623}"/>
              </a:ext>
            </a:extLst>
          </p:cNvPr>
          <p:cNvSpPr/>
          <p:nvPr/>
        </p:nvSpPr>
        <p:spPr>
          <a:xfrm>
            <a:off x="8046720" y="1713241"/>
            <a:ext cx="3584448" cy="4614407"/>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CBF67099-382E-E83D-E761-5A3896517F72}"/>
              </a:ext>
            </a:extLst>
          </p:cNvPr>
          <p:cNvSpPr/>
          <p:nvPr/>
        </p:nvSpPr>
        <p:spPr>
          <a:xfrm>
            <a:off x="8046720" y="1649697"/>
            <a:ext cx="3584448" cy="64008"/>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6D181FCF-74DD-C4BC-0959-192387688B71}"/>
              </a:ext>
            </a:extLst>
          </p:cNvPr>
          <p:cNvSpPr txBox="1"/>
          <p:nvPr/>
        </p:nvSpPr>
        <p:spPr>
          <a:xfrm>
            <a:off x="8241792" y="1850865"/>
            <a:ext cx="3017520" cy="278097"/>
          </a:xfrm>
          <a:prstGeom prst="rect">
            <a:avLst/>
          </a:prstGeom>
          <a:noFill/>
        </p:spPr>
        <p:txBody>
          <a:bodyPr wrap="square" lIns="0" tIns="0" rIns="0" bIns="0" anchor="t">
            <a:noAutofit/>
          </a:bodyPr>
          <a:lstStyle/>
          <a:p>
            <a:pPr algn="l">
              <a:lnSpc>
                <a:spcPct val="118000"/>
              </a:lnSpc>
              <a:spcBef>
                <a:spcPts val="0"/>
              </a:spcBef>
              <a:spcAft>
                <a:spcPts val="400"/>
              </a:spcAft>
            </a:pPr>
            <a:r>
              <a:rPr lang="en-US" sz="1100" b="1" i="0" spc="160" dirty="0">
                <a:solidFill>
                  <a:srgbClr val="00B050"/>
                </a:solidFill>
                <a:latin typeface="Consolas"/>
              </a:rPr>
              <a:t>Good Plan</a:t>
            </a:r>
            <a:endParaRPr sz="1100" b="1" i="0" spc="160" dirty="0">
              <a:solidFill>
                <a:srgbClr val="00B050"/>
              </a:solidFill>
              <a:latin typeface="Consolas"/>
            </a:endParaRPr>
          </a:p>
        </p:txBody>
      </p:sp>
      <p:sp>
        <p:nvSpPr>
          <p:cNvPr id="17" name="TextBox 16">
            <a:extLst>
              <a:ext uri="{FF2B5EF4-FFF2-40B4-BE49-F238E27FC236}">
                <a16:creationId xmlns:a16="http://schemas.microsoft.com/office/drawing/2014/main" id="{D534F3F9-CCA0-9C54-2D70-D32739F43452}"/>
              </a:ext>
            </a:extLst>
          </p:cNvPr>
          <p:cNvSpPr txBox="1"/>
          <p:nvPr/>
        </p:nvSpPr>
        <p:spPr>
          <a:xfrm>
            <a:off x="8241792" y="2140293"/>
            <a:ext cx="3108960" cy="301090"/>
          </a:xfrm>
          <a:prstGeom prst="rect">
            <a:avLst/>
          </a:prstGeom>
          <a:noFill/>
        </p:spPr>
        <p:txBody>
          <a:bodyPr wrap="square" lIns="0" tIns="0" rIns="0" bIns="0" anchor="t">
            <a:noAutofit/>
          </a:bodyPr>
          <a:lstStyle/>
          <a:p>
            <a:pPr algn="l">
              <a:lnSpc>
                <a:spcPct val="118000"/>
              </a:lnSpc>
              <a:spcBef>
                <a:spcPts val="0"/>
              </a:spcBef>
              <a:spcAft>
                <a:spcPts val="400"/>
              </a:spcAft>
            </a:pPr>
            <a:r>
              <a:rPr lang="en-US" sz="1900" b="1" i="0" dirty="0">
                <a:solidFill>
                  <a:srgbClr val="14313C"/>
                </a:solidFill>
                <a:latin typeface="Georgia"/>
              </a:rPr>
              <a:t>FiF</a:t>
            </a:r>
            <a:endParaRPr sz="1900" b="1" i="0" dirty="0">
              <a:solidFill>
                <a:srgbClr val="14313C"/>
              </a:solidFill>
              <a:latin typeface="Georgia"/>
            </a:endParaRPr>
          </a:p>
        </p:txBody>
      </p:sp>
      <p:sp>
        <p:nvSpPr>
          <p:cNvPr id="22" name="TextBox 21">
            <a:extLst>
              <a:ext uri="{FF2B5EF4-FFF2-40B4-BE49-F238E27FC236}">
                <a16:creationId xmlns:a16="http://schemas.microsoft.com/office/drawing/2014/main" id="{C8863ACC-2458-3442-DA31-4E8B9F953A29}"/>
              </a:ext>
            </a:extLst>
          </p:cNvPr>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dirty="0">
                <a:solidFill>
                  <a:srgbClr val="96AAB4"/>
                </a:solidFill>
                <a:latin typeface="Consolas"/>
              </a:rPr>
              <a:t>3DCRT PLAN EVALUATION  /  </a:t>
            </a:r>
            <a:r>
              <a:rPr lang="en-US" sz="850" b="0" i="0" spc="150" dirty="0">
                <a:solidFill>
                  <a:srgbClr val="96AAB4"/>
                </a:solidFill>
                <a:latin typeface="Consolas"/>
              </a:rPr>
              <a:t>PRACTICAL</a:t>
            </a:r>
            <a:r>
              <a:rPr sz="850" b="0" i="0" spc="150" dirty="0">
                <a:solidFill>
                  <a:srgbClr val="96AAB4"/>
                </a:solidFill>
                <a:latin typeface="Consolas"/>
              </a:rPr>
              <a:t> MODULE</a:t>
            </a:r>
          </a:p>
        </p:txBody>
      </p:sp>
      <p:sp>
        <p:nvSpPr>
          <p:cNvPr id="23" name="TextBox 22">
            <a:extLst>
              <a:ext uri="{FF2B5EF4-FFF2-40B4-BE49-F238E27FC236}">
                <a16:creationId xmlns:a16="http://schemas.microsoft.com/office/drawing/2014/main" id="{D7486BFF-F2CB-045C-648B-AAA22A7DAB2E}"/>
              </a:ext>
            </a:extLst>
          </p:cNvPr>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27 / 34</a:t>
            </a:r>
          </a:p>
        </p:txBody>
      </p:sp>
      <p:sp>
        <p:nvSpPr>
          <p:cNvPr id="24" name="TextBox 23">
            <a:extLst>
              <a:ext uri="{FF2B5EF4-FFF2-40B4-BE49-F238E27FC236}">
                <a16:creationId xmlns:a16="http://schemas.microsoft.com/office/drawing/2014/main" id="{54FD4224-2958-30D9-3BB8-7B2D55BCA84D}"/>
              </a:ext>
            </a:extLst>
          </p:cNvPr>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dirty="0">
                <a:solidFill>
                  <a:srgbClr val="7030A0"/>
                </a:solidFill>
                <a:latin typeface="Consolas"/>
              </a:rPr>
              <a:t>BLOCK </a:t>
            </a:r>
            <a:r>
              <a:rPr lang="en-US" sz="1200" b="1" i="0" spc="220" dirty="0">
                <a:solidFill>
                  <a:srgbClr val="7030A0"/>
                </a:solidFill>
                <a:latin typeface="Consolas"/>
              </a:rPr>
              <a:t>4</a:t>
            </a:r>
            <a:r>
              <a:rPr sz="1200" b="1" i="0" spc="220" dirty="0">
                <a:solidFill>
                  <a:srgbClr val="7030A0"/>
                </a:solidFill>
                <a:latin typeface="Consolas"/>
              </a:rPr>
              <a:t> · </a:t>
            </a:r>
            <a:r>
              <a:rPr lang="en-US" sz="1200" b="1" spc="220" dirty="0">
                <a:solidFill>
                  <a:srgbClr val="7030A0"/>
                </a:solidFill>
                <a:latin typeface="Consolas"/>
              </a:rPr>
              <a:t>CASE REVIEWS</a:t>
            </a:r>
            <a:endParaRPr sz="1200" b="1" i="0" spc="220" dirty="0">
              <a:solidFill>
                <a:srgbClr val="7030A0"/>
              </a:solidFill>
              <a:latin typeface="Consolas"/>
            </a:endParaRPr>
          </a:p>
        </p:txBody>
      </p:sp>
      <p:sp>
        <p:nvSpPr>
          <p:cNvPr id="25" name="TextBox 24">
            <a:extLst>
              <a:ext uri="{FF2B5EF4-FFF2-40B4-BE49-F238E27FC236}">
                <a16:creationId xmlns:a16="http://schemas.microsoft.com/office/drawing/2014/main" id="{C0206310-CF3D-D7BF-C824-E69A44ACAEB7}"/>
              </a:ext>
            </a:extLst>
          </p:cNvPr>
          <p:cNvSpPr txBox="1"/>
          <p:nvPr/>
        </p:nvSpPr>
        <p:spPr>
          <a:xfrm>
            <a:off x="566928" y="713232"/>
            <a:ext cx="11064240" cy="485294"/>
          </a:xfrm>
          <a:prstGeom prst="rect">
            <a:avLst/>
          </a:prstGeom>
          <a:noFill/>
        </p:spPr>
        <p:txBody>
          <a:bodyPr wrap="square" lIns="0" tIns="0" rIns="0" bIns="0" anchor="t">
            <a:noAutofit/>
          </a:bodyPr>
          <a:lstStyle/>
          <a:p>
            <a:pPr algn="l">
              <a:lnSpc>
                <a:spcPct val="106000"/>
              </a:lnSpc>
              <a:spcBef>
                <a:spcPts val="0"/>
              </a:spcBef>
              <a:spcAft>
                <a:spcPts val="400"/>
              </a:spcAft>
            </a:pPr>
            <a:r>
              <a:rPr lang="en-US" sz="2900" b="1" i="0" dirty="0">
                <a:solidFill>
                  <a:srgbClr val="00A9E0"/>
                </a:solidFill>
                <a:latin typeface="Georgia"/>
              </a:rPr>
              <a:t>Case 1: Breast</a:t>
            </a:r>
            <a:endParaRPr sz="2900" b="1" i="0" dirty="0">
              <a:solidFill>
                <a:srgbClr val="00A9E0"/>
              </a:solidFill>
              <a:latin typeface="Georgia"/>
            </a:endParaRPr>
          </a:p>
        </p:txBody>
      </p:sp>
      <p:sp>
        <p:nvSpPr>
          <p:cNvPr id="28" name="TextBox 27">
            <a:extLst>
              <a:ext uri="{FF2B5EF4-FFF2-40B4-BE49-F238E27FC236}">
                <a16:creationId xmlns:a16="http://schemas.microsoft.com/office/drawing/2014/main" id="{08B7A7A0-EFEC-83F6-1007-93B2A684F556}"/>
              </a:ext>
            </a:extLst>
          </p:cNvPr>
          <p:cNvSpPr txBox="1"/>
          <p:nvPr/>
        </p:nvSpPr>
        <p:spPr>
          <a:xfrm>
            <a:off x="8149689" y="4057650"/>
            <a:ext cx="3386328" cy="2119777"/>
          </a:xfrm>
          <a:prstGeom prst="rect">
            <a:avLst/>
          </a:prstGeom>
          <a:noFill/>
        </p:spPr>
        <p:txBody>
          <a:bodyPr wrap="square" lIns="0" tIns="0" rIns="0" bIns="0" anchor="t">
            <a:noAutofit/>
          </a:bodyPr>
          <a:lstStyle/>
          <a:p>
            <a:pPr marL="171450" indent="-171450">
              <a:lnSpc>
                <a:spcPct val="130000"/>
              </a:lnSpc>
              <a:spcAft>
                <a:spcPts val="400"/>
              </a:spcAft>
              <a:buFont typeface="Arial" panose="020B0604020202020204" pitchFamily="34" charset="0"/>
              <a:buChar char="•"/>
            </a:pPr>
            <a:r>
              <a:rPr lang="en-US" sz="1170" dirty="0">
                <a:solidFill>
                  <a:srgbClr val="5A7480"/>
                </a:solidFill>
              </a:rPr>
              <a:t>Good iso placement</a:t>
            </a:r>
          </a:p>
          <a:p>
            <a:pPr marL="171450" indent="-171450">
              <a:lnSpc>
                <a:spcPct val="130000"/>
              </a:lnSpc>
              <a:spcAft>
                <a:spcPts val="400"/>
              </a:spcAft>
              <a:buFont typeface="Arial" panose="020B0604020202020204" pitchFamily="34" charset="0"/>
              <a:buChar char="•"/>
            </a:pPr>
            <a:r>
              <a:rPr lang="en-US" sz="1170" dirty="0">
                <a:solidFill>
                  <a:srgbClr val="5A7480"/>
                </a:solidFill>
              </a:rPr>
              <a:t>In midline (contralateral spared)</a:t>
            </a:r>
          </a:p>
          <a:p>
            <a:pPr marL="171450" indent="-171450">
              <a:lnSpc>
                <a:spcPct val="130000"/>
              </a:lnSpc>
              <a:spcAft>
                <a:spcPts val="400"/>
              </a:spcAft>
              <a:buFont typeface="Arial" panose="020B0604020202020204" pitchFamily="34" charset="0"/>
              <a:buChar char="•"/>
            </a:pPr>
            <a:r>
              <a:rPr lang="en-US" sz="1170" dirty="0">
                <a:solidFill>
                  <a:srgbClr val="5A7480"/>
                </a:solidFill>
              </a:rPr>
              <a:t>Flash applied ( 2cm beyond breast tissue for superficial breast coverage, breathing &amp; set up error)</a:t>
            </a:r>
          </a:p>
          <a:p>
            <a:pPr marL="171450" indent="-171450">
              <a:lnSpc>
                <a:spcPct val="130000"/>
              </a:lnSpc>
              <a:spcAft>
                <a:spcPts val="400"/>
              </a:spcAft>
              <a:buFont typeface="Arial" panose="020B0604020202020204" pitchFamily="34" charset="0"/>
              <a:buChar char="•"/>
            </a:pPr>
            <a:r>
              <a:rPr lang="en-US" sz="1170" dirty="0">
                <a:solidFill>
                  <a:srgbClr val="5A7480"/>
                </a:solidFill>
              </a:rPr>
              <a:t>Good normalization point placement, good coverage </a:t>
            </a:r>
          </a:p>
          <a:p>
            <a:pPr marL="171450" indent="-171450">
              <a:lnSpc>
                <a:spcPct val="130000"/>
              </a:lnSpc>
              <a:spcAft>
                <a:spcPts val="400"/>
              </a:spcAft>
              <a:buFont typeface="Arial" panose="020B0604020202020204" pitchFamily="34" charset="0"/>
              <a:buChar char="•"/>
            </a:pPr>
            <a:r>
              <a:rPr lang="en-US" sz="1170" b="1" dirty="0">
                <a:solidFill>
                  <a:srgbClr val="00B050"/>
                </a:solidFill>
              </a:rPr>
              <a:t>Acceptable hotspot value (&lt;110%) and location</a:t>
            </a:r>
          </a:p>
          <a:p>
            <a:pPr marL="171450" indent="-171450">
              <a:lnSpc>
                <a:spcPct val="130000"/>
              </a:lnSpc>
              <a:spcAft>
                <a:spcPts val="400"/>
              </a:spcAft>
              <a:buFont typeface="Arial" panose="020B0604020202020204" pitchFamily="34" charset="0"/>
              <a:buChar char="•"/>
            </a:pPr>
            <a:r>
              <a:rPr lang="en-US" sz="1170" b="1" dirty="0">
                <a:solidFill>
                  <a:srgbClr val="00B050"/>
                </a:solidFill>
              </a:rPr>
              <a:t>Selective reduction of hotspots using subfields</a:t>
            </a:r>
          </a:p>
          <a:p>
            <a:pPr marL="171450" indent="-171450">
              <a:lnSpc>
                <a:spcPct val="130000"/>
              </a:lnSpc>
              <a:spcAft>
                <a:spcPts val="400"/>
              </a:spcAft>
              <a:buFont typeface="Arial" panose="020B0604020202020204" pitchFamily="34" charset="0"/>
              <a:buChar char="•"/>
            </a:pPr>
            <a:r>
              <a:rPr lang="en-US" sz="1170" dirty="0">
                <a:solidFill>
                  <a:srgbClr val="5A7480"/>
                </a:solidFill>
              </a:rPr>
              <a:t>Heart &amp; Lung within tolerance</a:t>
            </a:r>
            <a:endParaRPr lang="en-US" sz="1170" dirty="0">
              <a:solidFill>
                <a:srgbClr val="FF0000"/>
              </a:solidFill>
            </a:endParaRPr>
          </a:p>
          <a:p>
            <a:pPr marL="171450" indent="-171450">
              <a:lnSpc>
                <a:spcPct val="130000"/>
              </a:lnSpc>
              <a:spcAft>
                <a:spcPts val="400"/>
              </a:spcAft>
              <a:buFont typeface="Arial" panose="020B0604020202020204" pitchFamily="34" charset="0"/>
              <a:buChar char="•"/>
            </a:pPr>
            <a:endParaRPr lang="en-US" sz="1170" dirty="0">
              <a:solidFill>
                <a:srgbClr val="5A7480"/>
              </a:solidFill>
            </a:endParaRPr>
          </a:p>
          <a:p>
            <a:pPr marL="171450" indent="-171450">
              <a:lnSpc>
                <a:spcPct val="130000"/>
              </a:lnSpc>
              <a:spcAft>
                <a:spcPts val="400"/>
              </a:spcAft>
              <a:buFont typeface="Arial" panose="020B0604020202020204" pitchFamily="34" charset="0"/>
              <a:buChar char="•"/>
            </a:pPr>
            <a:endParaRPr lang="en-US" sz="1170" dirty="0">
              <a:solidFill>
                <a:srgbClr val="5A7480"/>
              </a:solidFill>
            </a:endParaRPr>
          </a:p>
        </p:txBody>
      </p:sp>
      <p:pic>
        <p:nvPicPr>
          <p:cNvPr id="32" name="Picture 31">
            <a:extLst>
              <a:ext uri="{FF2B5EF4-FFF2-40B4-BE49-F238E27FC236}">
                <a16:creationId xmlns:a16="http://schemas.microsoft.com/office/drawing/2014/main" id="{7065B7E2-A6FB-CB94-AB48-C0E113130CB4}"/>
              </a:ext>
            </a:extLst>
          </p:cNvPr>
          <p:cNvPicPr>
            <a:picLocks noChangeAspect="1"/>
          </p:cNvPicPr>
          <p:nvPr/>
        </p:nvPicPr>
        <p:blipFill>
          <a:blip r:embed="rId3"/>
          <a:stretch>
            <a:fillRect/>
          </a:stretch>
        </p:blipFill>
        <p:spPr>
          <a:xfrm>
            <a:off x="923212" y="2484395"/>
            <a:ext cx="2963319" cy="1521704"/>
          </a:xfrm>
          <a:prstGeom prst="rect">
            <a:avLst/>
          </a:prstGeom>
        </p:spPr>
      </p:pic>
      <p:pic>
        <p:nvPicPr>
          <p:cNvPr id="34" name="Picture 33">
            <a:extLst>
              <a:ext uri="{FF2B5EF4-FFF2-40B4-BE49-F238E27FC236}">
                <a16:creationId xmlns:a16="http://schemas.microsoft.com/office/drawing/2014/main" id="{E0F4A7FC-5431-ED5C-DF7B-BBF324842B62}"/>
              </a:ext>
            </a:extLst>
          </p:cNvPr>
          <p:cNvPicPr>
            <a:picLocks noChangeAspect="1"/>
          </p:cNvPicPr>
          <p:nvPr/>
        </p:nvPicPr>
        <p:blipFill>
          <a:blip r:embed="rId4"/>
          <a:stretch>
            <a:fillRect/>
          </a:stretch>
        </p:blipFill>
        <p:spPr>
          <a:xfrm>
            <a:off x="4607085" y="2498740"/>
            <a:ext cx="2961099" cy="1521704"/>
          </a:xfrm>
          <a:prstGeom prst="rect">
            <a:avLst/>
          </a:prstGeom>
        </p:spPr>
      </p:pic>
      <p:pic>
        <p:nvPicPr>
          <p:cNvPr id="2" name="Picture 1">
            <a:extLst>
              <a:ext uri="{FF2B5EF4-FFF2-40B4-BE49-F238E27FC236}">
                <a16:creationId xmlns:a16="http://schemas.microsoft.com/office/drawing/2014/main" id="{1F525036-B110-85D4-4E66-7A3F6CD15276}"/>
              </a:ext>
            </a:extLst>
          </p:cNvPr>
          <p:cNvPicPr>
            <a:picLocks noChangeAspect="1"/>
          </p:cNvPicPr>
          <p:nvPr/>
        </p:nvPicPr>
        <p:blipFill>
          <a:blip r:embed="rId5"/>
          <a:stretch>
            <a:fillRect/>
          </a:stretch>
        </p:blipFill>
        <p:spPr>
          <a:xfrm>
            <a:off x="8270003" y="2498740"/>
            <a:ext cx="2961098" cy="1521704"/>
          </a:xfrm>
          <a:prstGeom prst="rect">
            <a:avLst/>
          </a:prstGeom>
        </p:spPr>
      </p:pic>
    </p:spTree>
    <p:extLst>
      <p:ext uri="{BB962C8B-B14F-4D97-AF65-F5344CB8AC3E}">
        <p14:creationId xmlns:p14="http://schemas.microsoft.com/office/powerpoint/2010/main" val="12494242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1C5F2-45D5-4447-F01B-78E1C0A88283}"/>
            </a:ext>
          </a:extLst>
        </p:cNvPr>
        <p:cNvGrpSpPr/>
        <p:nvPr/>
      </p:nvGrpSpPr>
      <p:grpSpPr>
        <a:xfrm>
          <a:off x="0" y="0"/>
          <a:ext cx="0" cy="0"/>
          <a:chOff x="0" y="0"/>
          <a:chExt cx="0" cy="0"/>
        </a:xfrm>
      </p:grpSpPr>
      <p:sp>
        <p:nvSpPr>
          <p:cNvPr id="18" name="Rounded Rectangle 17">
            <a:extLst>
              <a:ext uri="{FF2B5EF4-FFF2-40B4-BE49-F238E27FC236}">
                <a16:creationId xmlns:a16="http://schemas.microsoft.com/office/drawing/2014/main" id="{6E59B4A9-0212-8A3E-4A38-2C890C4D9556}"/>
              </a:ext>
            </a:extLst>
          </p:cNvPr>
          <p:cNvSpPr/>
          <p:nvPr/>
        </p:nvSpPr>
        <p:spPr>
          <a:xfrm>
            <a:off x="5219114" y="1491134"/>
            <a:ext cx="6412054" cy="4869844"/>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54FD4224-2958-30D9-3BB8-7B2D55BCA84D}"/>
              </a:ext>
            </a:extLst>
          </p:cNvPr>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dirty="0">
                <a:solidFill>
                  <a:srgbClr val="7030A0"/>
                </a:solidFill>
                <a:latin typeface="Consolas"/>
              </a:rPr>
              <a:t>BLOCK </a:t>
            </a:r>
            <a:r>
              <a:rPr lang="en-US" sz="1200" b="1" i="0" spc="220" dirty="0">
                <a:solidFill>
                  <a:srgbClr val="7030A0"/>
                </a:solidFill>
                <a:latin typeface="Consolas"/>
              </a:rPr>
              <a:t>4</a:t>
            </a:r>
            <a:r>
              <a:rPr sz="1200" b="1" i="0" spc="220" dirty="0">
                <a:solidFill>
                  <a:srgbClr val="7030A0"/>
                </a:solidFill>
                <a:latin typeface="Consolas"/>
              </a:rPr>
              <a:t> · </a:t>
            </a:r>
            <a:r>
              <a:rPr lang="en-US" sz="1200" b="1" spc="220" dirty="0">
                <a:solidFill>
                  <a:srgbClr val="7030A0"/>
                </a:solidFill>
                <a:latin typeface="Consolas"/>
              </a:rPr>
              <a:t>CASE REVIEWS</a:t>
            </a:r>
            <a:endParaRPr sz="1200" b="1" i="0" spc="220" dirty="0">
              <a:solidFill>
                <a:srgbClr val="7030A0"/>
              </a:solidFill>
              <a:latin typeface="Consolas"/>
            </a:endParaRPr>
          </a:p>
        </p:txBody>
      </p:sp>
      <p:sp>
        <p:nvSpPr>
          <p:cNvPr id="25" name="TextBox 24">
            <a:extLst>
              <a:ext uri="{FF2B5EF4-FFF2-40B4-BE49-F238E27FC236}">
                <a16:creationId xmlns:a16="http://schemas.microsoft.com/office/drawing/2014/main" id="{C0206310-CF3D-D7BF-C824-E69A44ACAEB7}"/>
              </a:ext>
            </a:extLst>
          </p:cNvPr>
          <p:cNvSpPr txBox="1"/>
          <p:nvPr/>
        </p:nvSpPr>
        <p:spPr>
          <a:xfrm>
            <a:off x="566928" y="713232"/>
            <a:ext cx="11064240" cy="485294"/>
          </a:xfrm>
          <a:prstGeom prst="rect">
            <a:avLst/>
          </a:prstGeom>
          <a:noFill/>
        </p:spPr>
        <p:txBody>
          <a:bodyPr wrap="square" lIns="0" tIns="0" rIns="0" bIns="0" anchor="t">
            <a:noAutofit/>
          </a:bodyPr>
          <a:lstStyle/>
          <a:p>
            <a:pPr algn="l">
              <a:lnSpc>
                <a:spcPct val="106000"/>
              </a:lnSpc>
              <a:spcBef>
                <a:spcPts val="0"/>
              </a:spcBef>
              <a:spcAft>
                <a:spcPts val="400"/>
              </a:spcAft>
            </a:pPr>
            <a:r>
              <a:rPr lang="en-US" sz="2900" b="1" i="0" dirty="0">
                <a:solidFill>
                  <a:srgbClr val="00A9E0"/>
                </a:solidFill>
                <a:latin typeface="Georgia"/>
              </a:rPr>
              <a:t>Case 2: Gynae</a:t>
            </a:r>
            <a:endParaRPr sz="2900" b="1" i="0" dirty="0">
              <a:solidFill>
                <a:srgbClr val="00A9E0"/>
              </a:solidFill>
              <a:latin typeface="Georgia"/>
            </a:endParaRPr>
          </a:p>
        </p:txBody>
      </p:sp>
      <p:pic>
        <p:nvPicPr>
          <p:cNvPr id="3" name="Picture 2">
            <a:extLst>
              <a:ext uri="{FF2B5EF4-FFF2-40B4-BE49-F238E27FC236}">
                <a16:creationId xmlns:a16="http://schemas.microsoft.com/office/drawing/2014/main" id="{2A744478-E292-D32F-0B4C-B6A83E7DC910}"/>
              </a:ext>
            </a:extLst>
          </p:cNvPr>
          <p:cNvPicPr>
            <a:picLocks noChangeAspect="1"/>
          </p:cNvPicPr>
          <p:nvPr/>
        </p:nvPicPr>
        <p:blipFill>
          <a:blip r:embed="rId3"/>
          <a:stretch>
            <a:fillRect/>
          </a:stretch>
        </p:blipFill>
        <p:spPr>
          <a:xfrm>
            <a:off x="5350943" y="2759542"/>
            <a:ext cx="6183424" cy="2781061"/>
          </a:xfrm>
          <a:prstGeom prst="rect">
            <a:avLst/>
          </a:prstGeom>
        </p:spPr>
      </p:pic>
      <p:sp>
        <p:nvSpPr>
          <p:cNvPr id="20" name="TextBox 19">
            <a:extLst>
              <a:ext uri="{FF2B5EF4-FFF2-40B4-BE49-F238E27FC236}">
                <a16:creationId xmlns:a16="http://schemas.microsoft.com/office/drawing/2014/main" id="{2178A853-02D0-ED2C-3278-7C264100F368}"/>
              </a:ext>
            </a:extLst>
          </p:cNvPr>
          <p:cNvSpPr txBox="1"/>
          <p:nvPr/>
        </p:nvSpPr>
        <p:spPr>
          <a:xfrm>
            <a:off x="5552243" y="1691672"/>
            <a:ext cx="3386479" cy="219456"/>
          </a:xfrm>
          <a:prstGeom prst="rect">
            <a:avLst/>
          </a:prstGeom>
          <a:noFill/>
        </p:spPr>
        <p:txBody>
          <a:bodyPr wrap="square" lIns="0" tIns="0" rIns="0" bIns="0" anchor="t">
            <a:noAutofit/>
          </a:bodyPr>
          <a:lstStyle/>
          <a:p>
            <a:pPr algn="l">
              <a:lnSpc>
                <a:spcPct val="118000"/>
              </a:lnSpc>
              <a:spcBef>
                <a:spcPts val="0"/>
              </a:spcBef>
              <a:spcAft>
                <a:spcPts val="400"/>
              </a:spcAft>
            </a:pPr>
            <a:r>
              <a:rPr lang="en-US" sz="1100" b="1" i="0" spc="160" dirty="0">
                <a:solidFill>
                  <a:srgbClr val="00B0F0"/>
                </a:solidFill>
                <a:latin typeface="Consolas"/>
              </a:rPr>
              <a:t>Trade Off Plan</a:t>
            </a:r>
            <a:endParaRPr sz="1100" b="1" i="0" spc="160" dirty="0">
              <a:solidFill>
                <a:srgbClr val="00B0F0"/>
              </a:solidFill>
              <a:latin typeface="Consolas"/>
            </a:endParaRPr>
          </a:p>
        </p:txBody>
      </p:sp>
      <p:sp>
        <p:nvSpPr>
          <p:cNvPr id="21" name="TextBox 20">
            <a:extLst>
              <a:ext uri="{FF2B5EF4-FFF2-40B4-BE49-F238E27FC236}">
                <a16:creationId xmlns:a16="http://schemas.microsoft.com/office/drawing/2014/main" id="{68E4A964-580F-F833-60A8-9035AB61A717}"/>
              </a:ext>
            </a:extLst>
          </p:cNvPr>
          <p:cNvSpPr txBox="1"/>
          <p:nvPr/>
        </p:nvSpPr>
        <p:spPr>
          <a:xfrm>
            <a:off x="5548087" y="1939167"/>
            <a:ext cx="3489099" cy="277435"/>
          </a:xfrm>
          <a:prstGeom prst="rect">
            <a:avLst/>
          </a:prstGeom>
          <a:noFill/>
        </p:spPr>
        <p:txBody>
          <a:bodyPr wrap="square" lIns="0" tIns="0" rIns="0" bIns="0" anchor="t">
            <a:noAutofit/>
          </a:bodyPr>
          <a:lstStyle/>
          <a:p>
            <a:pPr algn="l">
              <a:lnSpc>
                <a:spcPct val="118000"/>
              </a:lnSpc>
              <a:spcBef>
                <a:spcPts val="0"/>
              </a:spcBef>
              <a:spcAft>
                <a:spcPts val="400"/>
              </a:spcAft>
            </a:pPr>
            <a:r>
              <a:rPr lang="en-US" sz="1900" b="1" i="0" dirty="0">
                <a:solidFill>
                  <a:srgbClr val="14313C"/>
                </a:solidFill>
                <a:latin typeface="Georgia"/>
              </a:rPr>
              <a:t>4 Field Box (FiF)</a:t>
            </a:r>
            <a:endParaRPr sz="1900" b="1" i="0" dirty="0">
              <a:solidFill>
                <a:srgbClr val="14313C"/>
              </a:solidFill>
              <a:latin typeface="Georgia"/>
            </a:endParaRPr>
          </a:p>
        </p:txBody>
      </p:sp>
      <p:sp>
        <p:nvSpPr>
          <p:cNvPr id="26" name="TextBox 25">
            <a:extLst>
              <a:ext uri="{FF2B5EF4-FFF2-40B4-BE49-F238E27FC236}">
                <a16:creationId xmlns:a16="http://schemas.microsoft.com/office/drawing/2014/main" id="{B9F1BB74-503B-71ED-5901-B4F11BDA4A18}"/>
              </a:ext>
            </a:extLst>
          </p:cNvPr>
          <p:cNvSpPr txBox="1"/>
          <p:nvPr/>
        </p:nvSpPr>
        <p:spPr>
          <a:xfrm>
            <a:off x="560832" y="2216602"/>
            <a:ext cx="4342514" cy="2781061"/>
          </a:xfrm>
          <a:prstGeom prst="rect">
            <a:avLst/>
          </a:prstGeom>
          <a:noFill/>
        </p:spPr>
        <p:txBody>
          <a:bodyPr wrap="square" lIns="0" tIns="0" rIns="0" bIns="0" anchor="t">
            <a:noAutofit/>
          </a:bodyPr>
          <a:lstStyle/>
          <a:p>
            <a:pPr marL="171450" indent="-171450">
              <a:lnSpc>
                <a:spcPct val="130000"/>
              </a:lnSpc>
              <a:spcAft>
                <a:spcPts val="400"/>
              </a:spcAft>
              <a:buFont typeface="Arial" panose="020B0604020202020204" pitchFamily="34" charset="0"/>
              <a:buChar char="•"/>
            </a:pPr>
            <a:r>
              <a:rPr lang="en-US" sz="1170" dirty="0">
                <a:solidFill>
                  <a:srgbClr val="5A7480"/>
                </a:solidFill>
              </a:rPr>
              <a:t>PTV coverage → – good and maintained</a:t>
            </a:r>
          </a:p>
          <a:p>
            <a:pPr marL="171450" indent="-171450">
              <a:lnSpc>
                <a:spcPct val="130000"/>
              </a:lnSpc>
              <a:spcAft>
                <a:spcPts val="400"/>
              </a:spcAft>
              <a:buFont typeface="Arial" panose="020B0604020202020204" pitchFamily="34" charset="0"/>
              <a:buChar char="•"/>
            </a:pPr>
            <a:r>
              <a:rPr lang="en-US" sz="1170" dirty="0">
                <a:solidFill>
                  <a:srgbClr val="5A7480"/>
                </a:solidFill>
              </a:rPr>
              <a:t>Rectum dose → ↑ exceeds tolerance (e.g. V45 / V30)</a:t>
            </a:r>
          </a:p>
          <a:p>
            <a:pPr marL="171450" indent="-171450">
              <a:lnSpc>
                <a:spcPct val="130000"/>
              </a:lnSpc>
              <a:spcAft>
                <a:spcPts val="400"/>
              </a:spcAft>
              <a:buFont typeface="Arial" panose="020B0604020202020204" pitchFamily="34" charset="0"/>
              <a:buChar char="•"/>
            </a:pPr>
            <a:r>
              <a:rPr lang="en-US" sz="1170" dirty="0">
                <a:solidFill>
                  <a:srgbClr val="5A7480"/>
                </a:solidFill>
              </a:rPr>
              <a:t>High dose region extends into posterior pelvis (rectum region)</a:t>
            </a:r>
          </a:p>
          <a:p>
            <a:pPr marL="171450" indent="-171450">
              <a:lnSpc>
                <a:spcPct val="130000"/>
              </a:lnSpc>
              <a:spcAft>
                <a:spcPts val="400"/>
              </a:spcAft>
              <a:buFont typeface="Arial" panose="020B0604020202020204" pitchFamily="34" charset="0"/>
              <a:buChar char="•"/>
            </a:pPr>
            <a:r>
              <a:rPr lang="en-US" sz="1170" dirty="0">
                <a:solidFill>
                  <a:srgbClr val="5A7480"/>
                </a:solidFill>
              </a:rPr>
              <a:t>Dose distribution driven by anterior–posterior beam contribution</a:t>
            </a:r>
          </a:p>
          <a:p>
            <a:pPr marL="171450" indent="-171450">
              <a:lnSpc>
                <a:spcPct val="130000"/>
              </a:lnSpc>
              <a:spcAft>
                <a:spcPts val="400"/>
              </a:spcAft>
              <a:buFont typeface="Arial" panose="020B0604020202020204" pitchFamily="34" charset="0"/>
              <a:buChar char="•"/>
            </a:pPr>
            <a:r>
              <a:rPr lang="en-US" sz="1170" dirty="0">
                <a:solidFill>
                  <a:srgbClr val="5A7480"/>
                </a:solidFill>
              </a:rPr>
              <a:t>Other OARs (bladder, bowel, etc.) → – within acceptable limits</a:t>
            </a:r>
          </a:p>
          <a:p>
            <a:pPr marL="171450" indent="-171450">
              <a:lnSpc>
                <a:spcPct val="130000"/>
              </a:lnSpc>
              <a:spcAft>
                <a:spcPts val="400"/>
              </a:spcAft>
              <a:buFont typeface="Arial" panose="020B0604020202020204" pitchFamily="34" charset="0"/>
              <a:buChar char="•"/>
            </a:pPr>
            <a:r>
              <a:rPr lang="en-US" sz="1170" dirty="0">
                <a:solidFill>
                  <a:srgbClr val="00B0F0"/>
                </a:solidFill>
              </a:rPr>
              <a:t>Improving rectum dose would compromise target coverage </a:t>
            </a:r>
          </a:p>
          <a:p>
            <a:pPr marL="171450" indent="-171450">
              <a:lnSpc>
                <a:spcPct val="130000"/>
              </a:lnSpc>
              <a:spcAft>
                <a:spcPts val="400"/>
              </a:spcAft>
              <a:buFont typeface="Arial" panose="020B0604020202020204" pitchFamily="34" charset="0"/>
              <a:buChar char="•"/>
            </a:pPr>
            <a:r>
              <a:rPr lang="en-US" sz="1170" dirty="0">
                <a:solidFill>
                  <a:srgbClr val="00B0F0"/>
                </a:solidFill>
              </a:rPr>
              <a:t>Current plan </a:t>
            </a:r>
            <a:r>
              <a:rPr lang="en-US" sz="1170" dirty="0" err="1">
                <a:solidFill>
                  <a:srgbClr val="00B0F0"/>
                </a:solidFill>
              </a:rPr>
              <a:t>prioritises</a:t>
            </a:r>
            <a:r>
              <a:rPr lang="en-US" sz="1170" dirty="0">
                <a:solidFill>
                  <a:srgbClr val="00B0F0"/>
                </a:solidFill>
              </a:rPr>
              <a:t> coverage over rectum sparing</a:t>
            </a:r>
          </a:p>
          <a:p>
            <a:pPr marL="171450" indent="-171450">
              <a:lnSpc>
                <a:spcPct val="130000"/>
              </a:lnSpc>
              <a:spcAft>
                <a:spcPts val="400"/>
              </a:spcAft>
              <a:buFont typeface="Arial" panose="020B0604020202020204" pitchFamily="34" charset="0"/>
              <a:buChar char="•"/>
            </a:pPr>
            <a:r>
              <a:rPr lang="en-US" sz="1170" dirty="0">
                <a:solidFill>
                  <a:srgbClr val="00B0F0"/>
                </a:solidFill>
              </a:rPr>
              <a:t>No clear way to improve both without introducing a compromise</a:t>
            </a:r>
          </a:p>
        </p:txBody>
      </p:sp>
      <p:sp>
        <p:nvSpPr>
          <p:cNvPr id="29" name="Rectangle 28">
            <a:extLst>
              <a:ext uri="{FF2B5EF4-FFF2-40B4-BE49-F238E27FC236}">
                <a16:creationId xmlns:a16="http://schemas.microsoft.com/office/drawing/2014/main" id="{428C1F5E-DE54-8EF7-D3FD-77011359E423}"/>
              </a:ext>
            </a:extLst>
          </p:cNvPr>
          <p:cNvSpPr/>
          <p:nvPr/>
        </p:nvSpPr>
        <p:spPr>
          <a:xfrm>
            <a:off x="5219113" y="1470245"/>
            <a:ext cx="6412053" cy="75753"/>
          </a:xfrm>
          <a:prstGeom prst="rect">
            <a:avLst/>
          </a:prstGeom>
          <a:solidFill>
            <a:srgbClr val="00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E6639AED-A1A2-068D-66C1-89CC490FB03F}"/>
              </a:ext>
            </a:extLst>
          </p:cNvPr>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dirty="0">
                <a:solidFill>
                  <a:srgbClr val="96AAB4"/>
                </a:solidFill>
                <a:latin typeface="Consolas"/>
              </a:rPr>
              <a:t>3DCRT PLAN EVALUATION  /  </a:t>
            </a:r>
            <a:r>
              <a:rPr lang="en-US" sz="850" b="0" i="0" spc="150" dirty="0">
                <a:solidFill>
                  <a:srgbClr val="96AAB4"/>
                </a:solidFill>
                <a:latin typeface="Consolas"/>
              </a:rPr>
              <a:t>PRACTICAL</a:t>
            </a:r>
            <a:r>
              <a:rPr sz="850" b="0" i="0" spc="150" dirty="0">
                <a:solidFill>
                  <a:srgbClr val="96AAB4"/>
                </a:solidFill>
                <a:latin typeface="Consolas"/>
              </a:rPr>
              <a:t> MODULE</a:t>
            </a:r>
          </a:p>
        </p:txBody>
      </p:sp>
      <p:sp>
        <p:nvSpPr>
          <p:cNvPr id="31" name="TextBox 30">
            <a:extLst>
              <a:ext uri="{FF2B5EF4-FFF2-40B4-BE49-F238E27FC236}">
                <a16:creationId xmlns:a16="http://schemas.microsoft.com/office/drawing/2014/main" id="{3C04811F-2FDA-52EA-F786-242676D15492}"/>
              </a:ext>
            </a:extLst>
          </p:cNvPr>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lang="en-US" sz="850" b="0" i="0" spc="150" dirty="0">
                <a:solidFill>
                  <a:srgbClr val="96AAB4"/>
                </a:solidFill>
                <a:latin typeface="Consolas"/>
              </a:rPr>
              <a:t>28</a:t>
            </a:r>
            <a:r>
              <a:rPr sz="850" b="0" i="0" spc="150" dirty="0">
                <a:solidFill>
                  <a:srgbClr val="96AAB4"/>
                </a:solidFill>
                <a:latin typeface="Consolas"/>
              </a:rPr>
              <a:t> / 34</a:t>
            </a:r>
          </a:p>
        </p:txBody>
      </p:sp>
    </p:spTree>
    <p:extLst>
      <p:ext uri="{BB962C8B-B14F-4D97-AF65-F5344CB8AC3E}">
        <p14:creationId xmlns:p14="http://schemas.microsoft.com/office/powerpoint/2010/main" val="12494242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03C3F-4C86-0BD7-ED97-3310E09BE7F4}"/>
            </a:ext>
          </a:extLst>
        </p:cNvPr>
        <p:cNvGrpSpPr/>
        <p:nvPr/>
      </p:nvGrpSpPr>
      <p:grpSpPr>
        <a:xfrm>
          <a:off x="0" y="0"/>
          <a:ext cx="0" cy="0"/>
          <a:chOff x="0" y="0"/>
          <a:chExt cx="0" cy="0"/>
        </a:xfrm>
      </p:grpSpPr>
      <p:sp>
        <p:nvSpPr>
          <p:cNvPr id="18" name="Rounded Rectangle 17">
            <a:extLst>
              <a:ext uri="{FF2B5EF4-FFF2-40B4-BE49-F238E27FC236}">
                <a16:creationId xmlns:a16="http://schemas.microsoft.com/office/drawing/2014/main" id="{86F4E0B8-7BBE-E9A0-A787-67454C5CAC00}"/>
              </a:ext>
            </a:extLst>
          </p:cNvPr>
          <p:cNvSpPr/>
          <p:nvPr/>
        </p:nvSpPr>
        <p:spPr>
          <a:xfrm>
            <a:off x="5219114" y="1491134"/>
            <a:ext cx="6412054" cy="4869844"/>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067CCB7E-AD02-A46E-D2A0-D049DCA50DDD}"/>
              </a:ext>
            </a:extLst>
          </p:cNvPr>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dirty="0">
                <a:solidFill>
                  <a:srgbClr val="7030A0"/>
                </a:solidFill>
                <a:latin typeface="Consolas"/>
              </a:rPr>
              <a:t>BLOCK </a:t>
            </a:r>
            <a:r>
              <a:rPr lang="en-US" sz="1200" b="1" i="0" spc="220" dirty="0">
                <a:solidFill>
                  <a:srgbClr val="7030A0"/>
                </a:solidFill>
                <a:latin typeface="Consolas"/>
              </a:rPr>
              <a:t>4</a:t>
            </a:r>
            <a:r>
              <a:rPr sz="1200" b="1" i="0" spc="220" dirty="0">
                <a:solidFill>
                  <a:srgbClr val="7030A0"/>
                </a:solidFill>
                <a:latin typeface="Consolas"/>
              </a:rPr>
              <a:t> · </a:t>
            </a:r>
            <a:r>
              <a:rPr lang="en-US" sz="1200" b="1" spc="220" dirty="0">
                <a:solidFill>
                  <a:srgbClr val="7030A0"/>
                </a:solidFill>
                <a:latin typeface="Consolas"/>
              </a:rPr>
              <a:t>CASE REVIEWS</a:t>
            </a:r>
            <a:endParaRPr sz="1200" b="1" i="0" spc="220" dirty="0">
              <a:solidFill>
                <a:srgbClr val="7030A0"/>
              </a:solidFill>
              <a:latin typeface="Consolas"/>
            </a:endParaRPr>
          </a:p>
        </p:txBody>
      </p:sp>
      <p:sp>
        <p:nvSpPr>
          <p:cNvPr id="25" name="TextBox 24">
            <a:extLst>
              <a:ext uri="{FF2B5EF4-FFF2-40B4-BE49-F238E27FC236}">
                <a16:creationId xmlns:a16="http://schemas.microsoft.com/office/drawing/2014/main" id="{817BE148-B00B-9A81-3347-5A21B2E2310E}"/>
              </a:ext>
            </a:extLst>
          </p:cNvPr>
          <p:cNvSpPr txBox="1"/>
          <p:nvPr/>
        </p:nvSpPr>
        <p:spPr>
          <a:xfrm>
            <a:off x="566928" y="713232"/>
            <a:ext cx="11064240" cy="485294"/>
          </a:xfrm>
          <a:prstGeom prst="rect">
            <a:avLst/>
          </a:prstGeom>
          <a:noFill/>
        </p:spPr>
        <p:txBody>
          <a:bodyPr wrap="square" lIns="0" tIns="0" rIns="0" bIns="0" anchor="t">
            <a:noAutofit/>
          </a:bodyPr>
          <a:lstStyle/>
          <a:p>
            <a:pPr algn="l">
              <a:lnSpc>
                <a:spcPct val="106000"/>
              </a:lnSpc>
              <a:spcBef>
                <a:spcPts val="0"/>
              </a:spcBef>
              <a:spcAft>
                <a:spcPts val="400"/>
              </a:spcAft>
            </a:pPr>
            <a:r>
              <a:rPr lang="en-US" sz="2900" b="1" i="0" dirty="0">
                <a:solidFill>
                  <a:srgbClr val="00A9E0"/>
                </a:solidFill>
                <a:latin typeface="Georgia"/>
              </a:rPr>
              <a:t>Case 3: Prostate</a:t>
            </a:r>
            <a:endParaRPr sz="2900" b="1" i="0" dirty="0">
              <a:solidFill>
                <a:srgbClr val="00A9E0"/>
              </a:solidFill>
              <a:latin typeface="Georgia"/>
            </a:endParaRPr>
          </a:p>
        </p:txBody>
      </p:sp>
      <p:sp>
        <p:nvSpPr>
          <p:cNvPr id="20" name="TextBox 19">
            <a:extLst>
              <a:ext uri="{FF2B5EF4-FFF2-40B4-BE49-F238E27FC236}">
                <a16:creationId xmlns:a16="http://schemas.microsoft.com/office/drawing/2014/main" id="{8E8415F4-A0F5-0EC3-61FA-0B3BD9D9A1E4}"/>
              </a:ext>
            </a:extLst>
          </p:cNvPr>
          <p:cNvSpPr txBox="1"/>
          <p:nvPr/>
        </p:nvSpPr>
        <p:spPr>
          <a:xfrm>
            <a:off x="5552243" y="1691672"/>
            <a:ext cx="3386479" cy="219456"/>
          </a:xfrm>
          <a:prstGeom prst="rect">
            <a:avLst/>
          </a:prstGeom>
          <a:noFill/>
        </p:spPr>
        <p:txBody>
          <a:bodyPr wrap="square" lIns="0" tIns="0" rIns="0" bIns="0" anchor="t">
            <a:noAutofit/>
          </a:bodyPr>
          <a:lstStyle/>
          <a:p>
            <a:pPr algn="l">
              <a:lnSpc>
                <a:spcPct val="118000"/>
              </a:lnSpc>
              <a:spcBef>
                <a:spcPts val="0"/>
              </a:spcBef>
              <a:spcAft>
                <a:spcPts val="400"/>
              </a:spcAft>
            </a:pPr>
            <a:r>
              <a:rPr lang="en-US" sz="1100" b="1" i="0" spc="160" dirty="0">
                <a:solidFill>
                  <a:srgbClr val="00B0F0"/>
                </a:solidFill>
                <a:latin typeface="Consolas"/>
              </a:rPr>
              <a:t>Trade Off Plan</a:t>
            </a:r>
            <a:endParaRPr sz="1100" b="1" i="0" spc="160" dirty="0">
              <a:solidFill>
                <a:srgbClr val="00B0F0"/>
              </a:solidFill>
              <a:latin typeface="Consolas"/>
            </a:endParaRPr>
          </a:p>
        </p:txBody>
      </p:sp>
      <p:sp>
        <p:nvSpPr>
          <p:cNvPr id="21" name="TextBox 20">
            <a:extLst>
              <a:ext uri="{FF2B5EF4-FFF2-40B4-BE49-F238E27FC236}">
                <a16:creationId xmlns:a16="http://schemas.microsoft.com/office/drawing/2014/main" id="{BED98F0A-B4EC-8190-D010-828EEEDBCEAD}"/>
              </a:ext>
            </a:extLst>
          </p:cNvPr>
          <p:cNvSpPr txBox="1"/>
          <p:nvPr/>
        </p:nvSpPr>
        <p:spPr>
          <a:xfrm>
            <a:off x="5548087" y="1939167"/>
            <a:ext cx="3489099" cy="277435"/>
          </a:xfrm>
          <a:prstGeom prst="rect">
            <a:avLst/>
          </a:prstGeom>
          <a:noFill/>
        </p:spPr>
        <p:txBody>
          <a:bodyPr wrap="square" lIns="0" tIns="0" rIns="0" bIns="0" anchor="t">
            <a:noAutofit/>
          </a:bodyPr>
          <a:lstStyle/>
          <a:p>
            <a:pPr algn="l">
              <a:lnSpc>
                <a:spcPct val="118000"/>
              </a:lnSpc>
              <a:spcBef>
                <a:spcPts val="0"/>
              </a:spcBef>
              <a:spcAft>
                <a:spcPts val="400"/>
              </a:spcAft>
            </a:pPr>
            <a:r>
              <a:rPr lang="en-US" sz="1900" b="1" i="0" dirty="0">
                <a:solidFill>
                  <a:srgbClr val="14313C"/>
                </a:solidFill>
                <a:latin typeface="Georgia"/>
              </a:rPr>
              <a:t>3 Field</a:t>
            </a:r>
            <a:endParaRPr sz="1900" b="1" i="0" dirty="0">
              <a:solidFill>
                <a:srgbClr val="14313C"/>
              </a:solidFill>
              <a:latin typeface="Georgia"/>
            </a:endParaRPr>
          </a:p>
        </p:txBody>
      </p:sp>
      <p:sp>
        <p:nvSpPr>
          <p:cNvPr id="26" name="TextBox 25">
            <a:extLst>
              <a:ext uri="{FF2B5EF4-FFF2-40B4-BE49-F238E27FC236}">
                <a16:creationId xmlns:a16="http://schemas.microsoft.com/office/drawing/2014/main" id="{64672ADE-3A93-C680-3FE2-5F2051E49253}"/>
              </a:ext>
            </a:extLst>
          </p:cNvPr>
          <p:cNvSpPr txBox="1"/>
          <p:nvPr/>
        </p:nvSpPr>
        <p:spPr>
          <a:xfrm>
            <a:off x="559174" y="1801400"/>
            <a:ext cx="4342514" cy="3753768"/>
          </a:xfrm>
          <a:prstGeom prst="rect">
            <a:avLst/>
          </a:prstGeom>
          <a:noFill/>
        </p:spPr>
        <p:txBody>
          <a:bodyPr wrap="square" lIns="0" tIns="0" rIns="0" bIns="0" anchor="t">
            <a:noAutofit/>
          </a:bodyPr>
          <a:lstStyle/>
          <a:p>
            <a:pPr marL="171450" indent="-171450">
              <a:lnSpc>
                <a:spcPct val="130000"/>
              </a:lnSpc>
              <a:spcAft>
                <a:spcPts val="400"/>
              </a:spcAft>
              <a:buFont typeface="Arial" panose="020B0604020202020204" pitchFamily="34" charset="0"/>
              <a:buChar char="•"/>
            </a:pPr>
            <a:r>
              <a:rPr lang="en-US" sz="1170" dirty="0">
                <a:solidFill>
                  <a:srgbClr val="5A7480"/>
                </a:solidFill>
              </a:rPr>
              <a:t>PTV coverage → – good and maintained (CTV D98 ≈ 99.2%, PTV D98 ≈ 96.6%)</a:t>
            </a:r>
          </a:p>
          <a:p>
            <a:pPr marL="171450" indent="-171450">
              <a:lnSpc>
                <a:spcPct val="130000"/>
              </a:lnSpc>
              <a:spcAft>
                <a:spcPts val="400"/>
              </a:spcAft>
              <a:buFont typeface="Arial" panose="020B0604020202020204" pitchFamily="34" charset="0"/>
              <a:buChar char="•"/>
            </a:pPr>
            <a:r>
              <a:rPr lang="en-US" sz="1170" dirty="0">
                <a:solidFill>
                  <a:srgbClr val="5A7480"/>
                </a:solidFill>
              </a:rPr>
              <a:t>Rectum dose → ↑ exceeds tolerance (V55 ≈ 37.9%, V59 ≈ 32.9%)</a:t>
            </a:r>
          </a:p>
          <a:p>
            <a:pPr marL="171450" indent="-171450">
              <a:lnSpc>
                <a:spcPct val="130000"/>
              </a:lnSpc>
              <a:spcAft>
                <a:spcPts val="400"/>
              </a:spcAft>
              <a:buFont typeface="Arial" panose="020B0604020202020204" pitchFamily="34" charset="0"/>
              <a:buChar char="•"/>
            </a:pPr>
            <a:r>
              <a:rPr lang="en-US" sz="1170" dirty="0">
                <a:solidFill>
                  <a:srgbClr val="5A7480"/>
                </a:solidFill>
              </a:rPr>
              <a:t>Penile bulb mean ≈ 62.8 Gy → ↑ significantly above tolerance</a:t>
            </a:r>
          </a:p>
          <a:p>
            <a:pPr marL="171450" indent="-171450">
              <a:lnSpc>
                <a:spcPct val="130000"/>
              </a:lnSpc>
              <a:spcAft>
                <a:spcPts val="400"/>
              </a:spcAft>
              <a:buFont typeface="Arial" panose="020B0604020202020204" pitchFamily="34" charset="0"/>
              <a:buChar char="•"/>
            </a:pPr>
            <a:r>
              <a:rPr lang="en-US" sz="1170" dirty="0">
                <a:solidFill>
                  <a:srgbClr val="5A7480"/>
                </a:solidFill>
              </a:rPr>
              <a:t>Small bowel → mostly within limits, with minor focal exceedance (V52)</a:t>
            </a:r>
          </a:p>
          <a:p>
            <a:pPr marL="171450" indent="-171450">
              <a:lnSpc>
                <a:spcPct val="130000"/>
              </a:lnSpc>
              <a:spcAft>
                <a:spcPts val="400"/>
              </a:spcAft>
              <a:buFont typeface="Arial" panose="020B0604020202020204" pitchFamily="34" charset="0"/>
              <a:buChar char="•"/>
            </a:pPr>
            <a:r>
              <a:rPr lang="en-US" sz="1170" dirty="0">
                <a:solidFill>
                  <a:srgbClr val="5A7480"/>
                </a:solidFill>
              </a:rPr>
              <a:t>Bladder → – well controlled and within all constraints</a:t>
            </a:r>
          </a:p>
          <a:p>
            <a:pPr marL="171450" indent="-171450">
              <a:lnSpc>
                <a:spcPct val="130000"/>
              </a:lnSpc>
              <a:spcAft>
                <a:spcPts val="400"/>
              </a:spcAft>
              <a:buFont typeface="Arial" panose="020B0604020202020204" pitchFamily="34" charset="0"/>
              <a:buChar char="•"/>
            </a:pPr>
            <a:r>
              <a:rPr lang="en-US" sz="1170" dirty="0">
                <a:solidFill>
                  <a:srgbClr val="5A7480"/>
                </a:solidFill>
              </a:rPr>
              <a:t>Femoral heads → – within tolerance</a:t>
            </a:r>
          </a:p>
          <a:p>
            <a:pPr marL="171450" indent="-171450">
              <a:lnSpc>
                <a:spcPct val="130000"/>
              </a:lnSpc>
              <a:spcAft>
                <a:spcPts val="400"/>
              </a:spcAft>
              <a:buFont typeface="Arial" panose="020B0604020202020204" pitchFamily="34" charset="0"/>
              <a:buChar char="•"/>
            </a:pPr>
            <a:r>
              <a:rPr lang="en-US" sz="1170" dirty="0">
                <a:solidFill>
                  <a:srgbClr val="00B0F0"/>
                </a:solidFill>
              </a:rPr>
              <a:t>Reducing rectum / penile bulb dose would compromise target coverage ⚖️</a:t>
            </a:r>
          </a:p>
          <a:p>
            <a:pPr marL="171450" indent="-171450">
              <a:lnSpc>
                <a:spcPct val="130000"/>
              </a:lnSpc>
              <a:spcAft>
                <a:spcPts val="400"/>
              </a:spcAft>
              <a:buFont typeface="Arial" panose="020B0604020202020204" pitchFamily="34" charset="0"/>
              <a:buChar char="•"/>
            </a:pPr>
            <a:r>
              <a:rPr lang="en-US" sz="1170" dirty="0">
                <a:solidFill>
                  <a:srgbClr val="00B0F0"/>
                </a:solidFill>
              </a:rPr>
              <a:t>Plan </a:t>
            </a:r>
            <a:r>
              <a:rPr lang="en-US" sz="1170" dirty="0" err="1">
                <a:solidFill>
                  <a:srgbClr val="00B0F0"/>
                </a:solidFill>
              </a:rPr>
              <a:t>prioritises</a:t>
            </a:r>
            <a:r>
              <a:rPr lang="en-US" sz="1170" dirty="0">
                <a:solidFill>
                  <a:srgbClr val="00B0F0"/>
                </a:solidFill>
              </a:rPr>
              <a:t> target coverage over posterior OAR sparing</a:t>
            </a:r>
          </a:p>
          <a:p>
            <a:pPr marL="171450" indent="-171450">
              <a:lnSpc>
                <a:spcPct val="130000"/>
              </a:lnSpc>
              <a:spcAft>
                <a:spcPts val="400"/>
              </a:spcAft>
              <a:buFont typeface="Arial" panose="020B0604020202020204" pitchFamily="34" charset="0"/>
              <a:buChar char="•"/>
            </a:pPr>
            <a:r>
              <a:rPr lang="en-US" sz="1170" dirty="0">
                <a:solidFill>
                  <a:srgbClr val="00B0F0"/>
                </a:solidFill>
              </a:rPr>
              <a:t>Requires clinical decision — not simple </a:t>
            </a:r>
            <a:r>
              <a:rPr lang="en-US" sz="1170" dirty="0" err="1">
                <a:solidFill>
                  <a:srgbClr val="00B0F0"/>
                </a:solidFill>
              </a:rPr>
              <a:t>optimisation</a:t>
            </a:r>
            <a:endParaRPr lang="en-US" sz="1170" dirty="0">
              <a:solidFill>
                <a:srgbClr val="00B0F0"/>
              </a:solidFill>
            </a:endParaRPr>
          </a:p>
        </p:txBody>
      </p:sp>
      <p:sp>
        <p:nvSpPr>
          <p:cNvPr id="29" name="Rectangle 28">
            <a:extLst>
              <a:ext uri="{FF2B5EF4-FFF2-40B4-BE49-F238E27FC236}">
                <a16:creationId xmlns:a16="http://schemas.microsoft.com/office/drawing/2014/main" id="{124729F4-CBC4-686B-4F09-B5ED19290036}"/>
              </a:ext>
            </a:extLst>
          </p:cNvPr>
          <p:cNvSpPr/>
          <p:nvPr/>
        </p:nvSpPr>
        <p:spPr>
          <a:xfrm>
            <a:off x="5219113" y="1470245"/>
            <a:ext cx="6412053" cy="75753"/>
          </a:xfrm>
          <a:prstGeom prst="rect">
            <a:avLst/>
          </a:prstGeom>
          <a:solidFill>
            <a:srgbClr val="00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0D7A74FB-127F-3591-53FA-3CCC8469046B}"/>
              </a:ext>
            </a:extLst>
          </p:cNvPr>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dirty="0">
                <a:solidFill>
                  <a:srgbClr val="96AAB4"/>
                </a:solidFill>
                <a:latin typeface="Consolas"/>
              </a:rPr>
              <a:t>3DCRT PLAN EVALUATION  /  </a:t>
            </a:r>
            <a:r>
              <a:rPr lang="en-US" sz="850" b="0" i="0" spc="150" dirty="0">
                <a:solidFill>
                  <a:srgbClr val="96AAB4"/>
                </a:solidFill>
                <a:latin typeface="Consolas"/>
              </a:rPr>
              <a:t>PRACTICAL</a:t>
            </a:r>
            <a:r>
              <a:rPr sz="850" b="0" i="0" spc="150" dirty="0">
                <a:solidFill>
                  <a:srgbClr val="96AAB4"/>
                </a:solidFill>
                <a:latin typeface="Consolas"/>
              </a:rPr>
              <a:t> MODULE</a:t>
            </a:r>
          </a:p>
        </p:txBody>
      </p:sp>
      <p:sp>
        <p:nvSpPr>
          <p:cNvPr id="31" name="TextBox 30">
            <a:extLst>
              <a:ext uri="{FF2B5EF4-FFF2-40B4-BE49-F238E27FC236}">
                <a16:creationId xmlns:a16="http://schemas.microsoft.com/office/drawing/2014/main" id="{8307FD9E-1042-9EDE-604C-8944ED3AC048}"/>
              </a:ext>
            </a:extLst>
          </p:cNvPr>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lang="en-US" sz="850" b="0" i="0" spc="150" dirty="0">
                <a:solidFill>
                  <a:srgbClr val="96AAB4"/>
                </a:solidFill>
                <a:latin typeface="Consolas"/>
              </a:rPr>
              <a:t>29</a:t>
            </a:r>
            <a:r>
              <a:rPr sz="850" b="0" i="0" spc="150" dirty="0">
                <a:solidFill>
                  <a:srgbClr val="96AAB4"/>
                </a:solidFill>
                <a:latin typeface="Consolas"/>
              </a:rPr>
              <a:t> / 34</a:t>
            </a:r>
          </a:p>
        </p:txBody>
      </p:sp>
      <p:pic>
        <p:nvPicPr>
          <p:cNvPr id="3" name="Picture 2">
            <a:extLst>
              <a:ext uri="{FF2B5EF4-FFF2-40B4-BE49-F238E27FC236}">
                <a16:creationId xmlns:a16="http://schemas.microsoft.com/office/drawing/2014/main" id="{C89F70BD-55BB-79F9-CDD1-5048E200A60F}"/>
              </a:ext>
            </a:extLst>
          </p:cNvPr>
          <p:cNvPicPr>
            <a:picLocks noChangeAspect="1"/>
          </p:cNvPicPr>
          <p:nvPr/>
        </p:nvPicPr>
        <p:blipFill>
          <a:blip r:embed="rId3"/>
          <a:stretch>
            <a:fillRect/>
          </a:stretch>
        </p:blipFill>
        <p:spPr>
          <a:xfrm>
            <a:off x="5444198" y="2503960"/>
            <a:ext cx="5992330" cy="2738122"/>
          </a:xfrm>
          <a:prstGeom prst="rect">
            <a:avLst/>
          </a:prstGeom>
        </p:spPr>
      </p:pic>
    </p:spTree>
    <p:extLst>
      <p:ext uri="{BB962C8B-B14F-4D97-AF65-F5344CB8AC3E}">
        <p14:creationId xmlns:p14="http://schemas.microsoft.com/office/powerpoint/2010/main" val="37189545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B9D86-2A5C-BEBA-1AC5-B45E36722165}"/>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F2479D9D-6CF9-7EF3-97FC-6AA0B1ACFC77}"/>
              </a:ext>
            </a:extLst>
          </p:cNvPr>
          <p:cNvSpPr/>
          <p:nvPr/>
        </p:nvSpPr>
        <p:spPr>
          <a:xfrm>
            <a:off x="469449" y="1513927"/>
            <a:ext cx="5367130" cy="4869844"/>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E2C7058F-3458-4182-9B11-05343BC5AA76}"/>
              </a:ext>
            </a:extLst>
          </p:cNvPr>
          <p:cNvSpPr/>
          <p:nvPr/>
        </p:nvSpPr>
        <p:spPr>
          <a:xfrm>
            <a:off x="498770" y="1513927"/>
            <a:ext cx="5337809" cy="45719"/>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8CA7BCCD-132A-7955-3748-5274CDB9DBB1}"/>
              </a:ext>
            </a:extLst>
          </p:cNvPr>
          <p:cNvSpPr txBox="1"/>
          <p:nvPr/>
        </p:nvSpPr>
        <p:spPr>
          <a:xfrm>
            <a:off x="875940" y="1687663"/>
            <a:ext cx="3386479" cy="219456"/>
          </a:xfrm>
          <a:prstGeom prst="rect">
            <a:avLst/>
          </a:prstGeom>
          <a:noFill/>
        </p:spPr>
        <p:txBody>
          <a:bodyPr wrap="square" lIns="0" tIns="0" rIns="0" bIns="0" anchor="t">
            <a:noAutofit/>
          </a:bodyPr>
          <a:lstStyle/>
          <a:p>
            <a:pPr algn="l">
              <a:lnSpc>
                <a:spcPct val="118000"/>
              </a:lnSpc>
              <a:spcBef>
                <a:spcPts val="0"/>
              </a:spcBef>
              <a:spcAft>
                <a:spcPts val="400"/>
              </a:spcAft>
            </a:pPr>
            <a:r>
              <a:rPr lang="en-US" sz="1100" b="1" i="0" spc="160" dirty="0">
                <a:solidFill>
                  <a:schemeClr val="accent6">
                    <a:lumMod val="75000"/>
                  </a:schemeClr>
                </a:solidFill>
                <a:latin typeface="Consolas"/>
              </a:rPr>
              <a:t>Acceptable Plan</a:t>
            </a:r>
            <a:endParaRPr sz="1100" b="1" i="0" spc="160" dirty="0">
              <a:solidFill>
                <a:schemeClr val="accent6">
                  <a:lumMod val="75000"/>
                </a:schemeClr>
              </a:solidFill>
              <a:latin typeface="Consolas"/>
            </a:endParaRPr>
          </a:p>
        </p:txBody>
      </p:sp>
      <p:sp>
        <p:nvSpPr>
          <p:cNvPr id="12" name="TextBox 11">
            <a:extLst>
              <a:ext uri="{FF2B5EF4-FFF2-40B4-BE49-F238E27FC236}">
                <a16:creationId xmlns:a16="http://schemas.microsoft.com/office/drawing/2014/main" id="{6838E983-2EDE-BD52-4837-CD0A8D68BB2B}"/>
              </a:ext>
            </a:extLst>
          </p:cNvPr>
          <p:cNvSpPr txBox="1"/>
          <p:nvPr/>
        </p:nvSpPr>
        <p:spPr>
          <a:xfrm>
            <a:off x="871784" y="1935158"/>
            <a:ext cx="3489099" cy="277435"/>
          </a:xfrm>
          <a:prstGeom prst="rect">
            <a:avLst/>
          </a:prstGeom>
          <a:noFill/>
        </p:spPr>
        <p:txBody>
          <a:bodyPr wrap="square" lIns="0" tIns="0" rIns="0" bIns="0" anchor="t">
            <a:noAutofit/>
          </a:bodyPr>
          <a:lstStyle/>
          <a:p>
            <a:pPr algn="l">
              <a:lnSpc>
                <a:spcPct val="118000"/>
              </a:lnSpc>
              <a:spcBef>
                <a:spcPts val="0"/>
              </a:spcBef>
              <a:spcAft>
                <a:spcPts val="400"/>
              </a:spcAft>
            </a:pPr>
            <a:r>
              <a:rPr lang="en-US" sz="1900" b="1" i="0" dirty="0">
                <a:solidFill>
                  <a:srgbClr val="14313C"/>
                </a:solidFill>
                <a:latin typeface="Georgia"/>
              </a:rPr>
              <a:t>Coplanar</a:t>
            </a:r>
            <a:endParaRPr sz="1900" b="1" i="0" dirty="0">
              <a:solidFill>
                <a:srgbClr val="14313C"/>
              </a:solidFill>
              <a:latin typeface="Georgia"/>
            </a:endParaRPr>
          </a:p>
        </p:txBody>
      </p:sp>
      <p:sp>
        <p:nvSpPr>
          <p:cNvPr id="13" name="TextBox 12">
            <a:extLst>
              <a:ext uri="{FF2B5EF4-FFF2-40B4-BE49-F238E27FC236}">
                <a16:creationId xmlns:a16="http://schemas.microsoft.com/office/drawing/2014/main" id="{1320152E-49F6-88EF-5F81-CF57EA794062}"/>
              </a:ext>
            </a:extLst>
          </p:cNvPr>
          <p:cNvSpPr txBox="1"/>
          <p:nvPr/>
        </p:nvSpPr>
        <p:spPr>
          <a:xfrm>
            <a:off x="725390" y="4228083"/>
            <a:ext cx="4768288" cy="2033861"/>
          </a:xfrm>
          <a:prstGeom prst="rect">
            <a:avLst/>
          </a:prstGeom>
          <a:noFill/>
        </p:spPr>
        <p:txBody>
          <a:bodyPr wrap="square" lIns="0" tIns="0" rIns="0" bIns="0" anchor="t">
            <a:noAutofit/>
          </a:bodyPr>
          <a:lstStyle/>
          <a:p>
            <a:pPr marL="171450" indent="-171450">
              <a:lnSpc>
                <a:spcPct val="130000"/>
              </a:lnSpc>
              <a:spcAft>
                <a:spcPts val="400"/>
              </a:spcAft>
              <a:buFont typeface="Arial" panose="020B0604020202020204" pitchFamily="34" charset="0"/>
              <a:buChar char="•"/>
            </a:pPr>
            <a:r>
              <a:rPr lang="en-US" sz="1170" dirty="0">
                <a:solidFill>
                  <a:srgbClr val="5A7480"/>
                </a:solidFill>
              </a:rPr>
              <a:t>PTV min = 41.75 Gy → inferior coverage still reduced</a:t>
            </a:r>
          </a:p>
          <a:p>
            <a:pPr marL="171450" indent="-171450">
              <a:lnSpc>
                <a:spcPct val="130000"/>
              </a:lnSpc>
              <a:spcAft>
                <a:spcPts val="400"/>
              </a:spcAft>
              <a:buFont typeface="Arial" panose="020B0604020202020204" pitchFamily="34" charset="0"/>
              <a:buChar char="•"/>
            </a:pPr>
            <a:r>
              <a:rPr lang="en-US" sz="1170" dirty="0">
                <a:solidFill>
                  <a:srgbClr val="5A7480"/>
                </a:solidFill>
              </a:rPr>
              <a:t>Optic chiasm max = 54.9 Gy → high but acceptable</a:t>
            </a:r>
          </a:p>
          <a:p>
            <a:pPr marL="171450" indent="-171450">
              <a:lnSpc>
                <a:spcPct val="130000"/>
              </a:lnSpc>
              <a:spcAft>
                <a:spcPts val="400"/>
              </a:spcAft>
              <a:buFont typeface="Arial" panose="020B0604020202020204" pitchFamily="34" charset="0"/>
              <a:buChar char="•"/>
            </a:pPr>
            <a:r>
              <a:rPr lang="en-US" sz="1170" dirty="0">
                <a:solidFill>
                  <a:srgbClr val="5A7480"/>
                </a:solidFill>
              </a:rPr>
              <a:t>Optic nerves ~53 Gy max → reasonable</a:t>
            </a:r>
          </a:p>
          <a:p>
            <a:pPr marL="171450" indent="-171450">
              <a:lnSpc>
                <a:spcPct val="130000"/>
              </a:lnSpc>
              <a:spcAft>
                <a:spcPts val="400"/>
              </a:spcAft>
              <a:buFont typeface="Arial" panose="020B0604020202020204" pitchFamily="34" charset="0"/>
              <a:buChar char="•"/>
            </a:pPr>
            <a:r>
              <a:rPr lang="en-US" sz="1170" dirty="0">
                <a:solidFill>
                  <a:srgbClr val="5A7480"/>
                </a:solidFill>
              </a:rPr>
              <a:t>Brainstem max = 52.5 Gy, mean ~11 Gy → acceptable</a:t>
            </a:r>
          </a:p>
          <a:p>
            <a:pPr marL="171450" indent="-171450">
              <a:lnSpc>
                <a:spcPct val="130000"/>
              </a:lnSpc>
              <a:spcAft>
                <a:spcPts val="400"/>
              </a:spcAft>
              <a:buFont typeface="Arial" panose="020B0604020202020204" pitchFamily="34" charset="0"/>
              <a:buChar char="•"/>
            </a:pPr>
            <a:r>
              <a:rPr lang="en-US" sz="1170" dirty="0">
                <a:solidFill>
                  <a:srgbClr val="5A7480"/>
                </a:solidFill>
              </a:rPr>
              <a:t>Air region under coverage (88.7%) → physics-driven</a:t>
            </a:r>
          </a:p>
          <a:p>
            <a:pPr marL="171450" indent="-171450">
              <a:lnSpc>
                <a:spcPct val="130000"/>
              </a:lnSpc>
              <a:spcAft>
                <a:spcPts val="400"/>
              </a:spcAft>
              <a:buFont typeface="Arial" panose="020B0604020202020204" pitchFamily="34" charset="0"/>
              <a:buChar char="•"/>
            </a:pPr>
            <a:r>
              <a:rPr lang="en-US" sz="1170" dirty="0">
                <a:solidFill>
                  <a:schemeClr val="accent6">
                    <a:lumMod val="75000"/>
                  </a:schemeClr>
                </a:solidFill>
              </a:rPr>
              <a:t>No major planning errors – clinically deliverable</a:t>
            </a:r>
          </a:p>
          <a:p>
            <a:pPr marL="171450" indent="-171450">
              <a:lnSpc>
                <a:spcPct val="130000"/>
              </a:lnSpc>
              <a:spcAft>
                <a:spcPts val="400"/>
              </a:spcAft>
              <a:buFont typeface="Arial" panose="020B0604020202020204" pitchFamily="34" charset="0"/>
              <a:buChar char="•"/>
            </a:pPr>
            <a:r>
              <a:rPr lang="en-US" sz="1170" dirty="0">
                <a:solidFill>
                  <a:schemeClr val="accent6">
                    <a:lumMod val="75000"/>
                  </a:schemeClr>
                </a:solidFill>
              </a:rPr>
              <a:t>Improvement achievable with alternative beam arrangement</a:t>
            </a:r>
          </a:p>
          <a:p>
            <a:pPr marL="171450" indent="-171450">
              <a:lnSpc>
                <a:spcPct val="130000"/>
              </a:lnSpc>
              <a:spcAft>
                <a:spcPts val="400"/>
              </a:spcAft>
              <a:buFont typeface="Arial" panose="020B0604020202020204" pitchFamily="34" charset="0"/>
              <a:buChar char="•"/>
            </a:pPr>
            <a:endParaRPr lang="en-US" sz="1170" dirty="0">
              <a:solidFill>
                <a:srgbClr val="5A7480"/>
              </a:solidFill>
            </a:endParaRPr>
          </a:p>
        </p:txBody>
      </p:sp>
      <p:sp>
        <p:nvSpPr>
          <p:cNvPr id="14" name="Rounded Rectangle 13">
            <a:extLst>
              <a:ext uri="{FF2B5EF4-FFF2-40B4-BE49-F238E27FC236}">
                <a16:creationId xmlns:a16="http://schemas.microsoft.com/office/drawing/2014/main" id="{0D92260E-FEEF-A5E0-3EA6-CE9E5AA3C153}"/>
              </a:ext>
            </a:extLst>
          </p:cNvPr>
          <p:cNvSpPr/>
          <p:nvPr/>
        </p:nvSpPr>
        <p:spPr>
          <a:xfrm>
            <a:off x="6355422" y="1577471"/>
            <a:ext cx="5367130" cy="4795897"/>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33973115-851C-7B05-037B-F3BCF6DD98D1}"/>
              </a:ext>
            </a:extLst>
          </p:cNvPr>
          <p:cNvSpPr/>
          <p:nvPr/>
        </p:nvSpPr>
        <p:spPr>
          <a:xfrm>
            <a:off x="6355421" y="1527179"/>
            <a:ext cx="5367129" cy="52213"/>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834578DE-247D-58A8-6D89-1BADB1B126C0}"/>
              </a:ext>
            </a:extLst>
          </p:cNvPr>
          <p:cNvSpPr txBox="1"/>
          <p:nvPr/>
        </p:nvSpPr>
        <p:spPr>
          <a:xfrm>
            <a:off x="6532871" y="1678783"/>
            <a:ext cx="3386479" cy="278097"/>
          </a:xfrm>
          <a:prstGeom prst="rect">
            <a:avLst/>
          </a:prstGeom>
          <a:noFill/>
        </p:spPr>
        <p:txBody>
          <a:bodyPr wrap="square" lIns="0" tIns="0" rIns="0" bIns="0" anchor="t">
            <a:noAutofit/>
          </a:bodyPr>
          <a:lstStyle/>
          <a:p>
            <a:pPr algn="l">
              <a:lnSpc>
                <a:spcPct val="118000"/>
              </a:lnSpc>
              <a:spcBef>
                <a:spcPts val="0"/>
              </a:spcBef>
              <a:spcAft>
                <a:spcPts val="400"/>
              </a:spcAft>
            </a:pPr>
            <a:r>
              <a:rPr lang="en-US" sz="1100" b="1" i="0" spc="160" dirty="0">
                <a:solidFill>
                  <a:srgbClr val="00B050"/>
                </a:solidFill>
                <a:latin typeface="Consolas"/>
              </a:rPr>
              <a:t>Good Plan</a:t>
            </a:r>
            <a:endParaRPr sz="1100" b="1" i="0" spc="160" dirty="0">
              <a:solidFill>
                <a:srgbClr val="00B050"/>
              </a:solidFill>
              <a:latin typeface="Consolas"/>
            </a:endParaRPr>
          </a:p>
        </p:txBody>
      </p:sp>
      <p:sp>
        <p:nvSpPr>
          <p:cNvPr id="17" name="TextBox 16">
            <a:extLst>
              <a:ext uri="{FF2B5EF4-FFF2-40B4-BE49-F238E27FC236}">
                <a16:creationId xmlns:a16="http://schemas.microsoft.com/office/drawing/2014/main" id="{C5AFF1FE-246F-B97C-9B95-F414067FCF1C}"/>
              </a:ext>
            </a:extLst>
          </p:cNvPr>
          <p:cNvSpPr txBox="1"/>
          <p:nvPr/>
        </p:nvSpPr>
        <p:spPr>
          <a:xfrm>
            <a:off x="6532871" y="1968211"/>
            <a:ext cx="3489099" cy="301090"/>
          </a:xfrm>
          <a:prstGeom prst="rect">
            <a:avLst/>
          </a:prstGeom>
          <a:noFill/>
        </p:spPr>
        <p:txBody>
          <a:bodyPr wrap="square" lIns="0" tIns="0" rIns="0" bIns="0" anchor="t">
            <a:noAutofit/>
          </a:bodyPr>
          <a:lstStyle/>
          <a:p>
            <a:pPr algn="l">
              <a:lnSpc>
                <a:spcPct val="118000"/>
              </a:lnSpc>
              <a:spcBef>
                <a:spcPts val="0"/>
              </a:spcBef>
              <a:spcAft>
                <a:spcPts val="400"/>
              </a:spcAft>
            </a:pPr>
            <a:r>
              <a:rPr lang="en-US" sz="1900" b="1" i="0" dirty="0">
                <a:solidFill>
                  <a:srgbClr val="14313C"/>
                </a:solidFill>
                <a:latin typeface="Georgia"/>
              </a:rPr>
              <a:t>Non-Coplanar</a:t>
            </a:r>
            <a:endParaRPr sz="1900" b="1" i="0" dirty="0">
              <a:solidFill>
                <a:srgbClr val="14313C"/>
              </a:solidFill>
              <a:latin typeface="Georgia"/>
            </a:endParaRPr>
          </a:p>
        </p:txBody>
      </p:sp>
      <p:sp>
        <p:nvSpPr>
          <p:cNvPr id="22" name="TextBox 21">
            <a:extLst>
              <a:ext uri="{FF2B5EF4-FFF2-40B4-BE49-F238E27FC236}">
                <a16:creationId xmlns:a16="http://schemas.microsoft.com/office/drawing/2014/main" id="{ADA6CEDD-A3EF-B2A0-8207-056FE8082656}"/>
              </a:ext>
            </a:extLst>
          </p:cNvPr>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dirty="0">
                <a:solidFill>
                  <a:srgbClr val="96AAB4"/>
                </a:solidFill>
                <a:latin typeface="Consolas"/>
              </a:rPr>
              <a:t>3DCRT PLAN EVALUATION  /  </a:t>
            </a:r>
            <a:r>
              <a:rPr lang="en-US" sz="850" b="0" i="0" spc="150" dirty="0">
                <a:solidFill>
                  <a:srgbClr val="96AAB4"/>
                </a:solidFill>
                <a:latin typeface="Consolas"/>
              </a:rPr>
              <a:t>PRACTICAL</a:t>
            </a:r>
            <a:r>
              <a:rPr sz="850" b="0" i="0" spc="150" dirty="0">
                <a:solidFill>
                  <a:srgbClr val="96AAB4"/>
                </a:solidFill>
                <a:latin typeface="Consolas"/>
              </a:rPr>
              <a:t> MODULE</a:t>
            </a:r>
          </a:p>
        </p:txBody>
      </p:sp>
      <p:sp>
        <p:nvSpPr>
          <p:cNvPr id="23" name="TextBox 22">
            <a:extLst>
              <a:ext uri="{FF2B5EF4-FFF2-40B4-BE49-F238E27FC236}">
                <a16:creationId xmlns:a16="http://schemas.microsoft.com/office/drawing/2014/main" id="{FFB3B68E-4309-3196-C5B2-0FC08128B4D5}"/>
              </a:ext>
            </a:extLst>
          </p:cNvPr>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a:solidFill>
                  <a:srgbClr val="96AAB4"/>
                </a:solidFill>
                <a:latin typeface="Consolas"/>
              </a:rPr>
              <a:t>30 / 34</a:t>
            </a:r>
          </a:p>
        </p:txBody>
      </p:sp>
      <p:sp>
        <p:nvSpPr>
          <p:cNvPr id="24" name="TextBox 23">
            <a:extLst>
              <a:ext uri="{FF2B5EF4-FFF2-40B4-BE49-F238E27FC236}">
                <a16:creationId xmlns:a16="http://schemas.microsoft.com/office/drawing/2014/main" id="{029C2350-48FD-8AA8-EC78-63088D14F803}"/>
              </a:ext>
            </a:extLst>
          </p:cNvPr>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dirty="0">
                <a:solidFill>
                  <a:srgbClr val="7030A0"/>
                </a:solidFill>
                <a:latin typeface="Consolas"/>
              </a:rPr>
              <a:t>BLOCK </a:t>
            </a:r>
            <a:r>
              <a:rPr lang="en-US" sz="1200" b="1" i="0" spc="220" dirty="0">
                <a:solidFill>
                  <a:srgbClr val="7030A0"/>
                </a:solidFill>
                <a:latin typeface="Consolas"/>
              </a:rPr>
              <a:t>4</a:t>
            </a:r>
            <a:r>
              <a:rPr sz="1200" b="1" i="0" spc="220" dirty="0">
                <a:solidFill>
                  <a:srgbClr val="7030A0"/>
                </a:solidFill>
                <a:latin typeface="Consolas"/>
              </a:rPr>
              <a:t> · </a:t>
            </a:r>
            <a:r>
              <a:rPr lang="en-US" sz="1200" b="1" spc="220" dirty="0">
                <a:solidFill>
                  <a:srgbClr val="7030A0"/>
                </a:solidFill>
                <a:latin typeface="Consolas"/>
              </a:rPr>
              <a:t>CASE REVIEWS</a:t>
            </a:r>
            <a:endParaRPr sz="1200" b="1" i="0" spc="220" dirty="0">
              <a:solidFill>
                <a:srgbClr val="7030A0"/>
              </a:solidFill>
              <a:latin typeface="Consolas"/>
            </a:endParaRPr>
          </a:p>
        </p:txBody>
      </p:sp>
      <p:sp>
        <p:nvSpPr>
          <p:cNvPr id="25" name="TextBox 24">
            <a:extLst>
              <a:ext uri="{FF2B5EF4-FFF2-40B4-BE49-F238E27FC236}">
                <a16:creationId xmlns:a16="http://schemas.microsoft.com/office/drawing/2014/main" id="{0B45335C-3915-52F5-A61E-F9AE3E143E3E}"/>
              </a:ext>
            </a:extLst>
          </p:cNvPr>
          <p:cNvSpPr txBox="1"/>
          <p:nvPr/>
        </p:nvSpPr>
        <p:spPr>
          <a:xfrm>
            <a:off x="566928" y="713232"/>
            <a:ext cx="11064240" cy="485294"/>
          </a:xfrm>
          <a:prstGeom prst="rect">
            <a:avLst/>
          </a:prstGeom>
          <a:noFill/>
        </p:spPr>
        <p:txBody>
          <a:bodyPr wrap="square" lIns="0" tIns="0" rIns="0" bIns="0" anchor="t">
            <a:noAutofit/>
          </a:bodyPr>
          <a:lstStyle/>
          <a:p>
            <a:pPr algn="l">
              <a:lnSpc>
                <a:spcPct val="106000"/>
              </a:lnSpc>
              <a:spcBef>
                <a:spcPts val="0"/>
              </a:spcBef>
              <a:spcAft>
                <a:spcPts val="400"/>
              </a:spcAft>
            </a:pPr>
            <a:r>
              <a:rPr lang="en-US" sz="2900" b="1" i="0" dirty="0">
                <a:solidFill>
                  <a:srgbClr val="00A9E0"/>
                </a:solidFill>
                <a:latin typeface="Georgia"/>
              </a:rPr>
              <a:t>Case 4: Neuro</a:t>
            </a:r>
            <a:endParaRPr sz="2900" b="1" i="0" dirty="0">
              <a:solidFill>
                <a:srgbClr val="00A9E0"/>
              </a:solidFill>
              <a:latin typeface="Georgia"/>
            </a:endParaRPr>
          </a:p>
        </p:txBody>
      </p:sp>
      <p:sp>
        <p:nvSpPr>
          <p:cNvPr id="2" name="TextBox 1">
            <a:extLst>
              <a:ext uri="{FF2B5EF4-FFF2-40B4-BE49-F238E27FC236}">
                <a16:creationId xmlns:a16="http://schemas.microsoft.com/office/drawing/2014/main" id="{17F56809-5511-3AE3-CA11-97F0961900B3}"/>
              </a:ext>
            </a:extLst>
          </p:cNvPr>
          <p:cNvSpPr txBox="1"/>
          <p:nvPr/>
        </p:nvSpPr>
        <p:spPr>
          <a:xfrm>
            <a:off x="6532871" y="4162842"/>
            <a:ext cx="5107441" cy="1962113"/>
          </a:xfrm>
          <a:prstGeom prst="rect">
            <a:avLst/>
          </a:prstGeom>
          <a:noFill/>
        </p:spPr>
        <p:txBody>
          <a:bodyPr wrap="square" lIns="0" tIns="0" rIns="0" bIns="0" anchor="t">
            <a:noAutofit/>
          </a:bodyPr>
          <a:lstStyle/>
          <a:p>
            <a:pPr marL="171450" indent="-171450">
              <a:lnSpc>
                <a:spcPct val="130000"/>
              </a:lnSpc>
              <a:spcAft>
                <a:spcPts val="400"/>
              </a:spcAft>
              <a:buFont typeface="Arial" panose="020B0604020202020204" pitchFamily="34" charset="0"/>
              <a:buChar char="•"/>
            </a:pPr>
            <a:r>
              <a:rPr lang="en-US" sz="1170" dirty="0">
                <a:solidFill>
                  <a:srgbClr val="5A7480"/>
                </a:solidFill>
              </a:rPr>
              <a:t>PTV min = ~43.9 Gy → improved inferior coverage (↑ ~2.1 Gy)</a:t>
            </a:r>
          </a:p>
          <a:p>
            <a:pPr marL="171450" indent="-171450">
              <a:lnSpc>
                <a:spcPct val="130000"/>
              </a:lnSpc>
              <a:spcAft>
                <a:spcPts val="400"/>
              </a:spcAft>
              <a:buFont typeface="Arial" panose="020B0604020202020204" pitchFamily="34" charset="0"/>
              <a:buChar char="•"/>
            </a:pPr>
            <a:r>
              <a:rPr lang="en-US" sz="1170" dirty="0">
                <a:solidFill>
                  <a:srgbClr val="5A7480"/>
                </a:solidFill>
              </a:rPr>
              <a:t>Optic chiasm max ≈ ~54.9 Gy → similar (no meaningful change)</a:t>
            </a:r>
          </a:p>
          <a:p>
            <a:pPr marL="171450" indent="-171450">
              <a:lnSpc>
                <a:spcPct val="130000"/>
              </a:lnSpc>
              <a:spcAft>
                <a:spcPts val="400"/>
              </a:spcAft>
              <a:buFont typeface="Arial" panose="020B0604020202020204" pitchFamily="34" charset="0"/>
              <a:buChar char="•"/>
            </a:pPr>
            <a:r>
              <a:rPr lang="en-US" sz="1170" dirty="0">
                <a:solidFill>
                  <a:srgbClr val="5A7480"/>
                </a:solidFill>
              </a:rPr>
              <a:t>Optic nerves max ≈ ~53 Gy → similar, with slight improvement in mean dose (especially R - ↓~2Gy )</a:t>
            </a:r>
          </a:p>
          <a:p>
            <a:pPr marL="171450" indent="-171450">
              <a:lnSpc>
                <a:spcPct val="130000"/>
              </a:lnSpc>
              <a:spcAft>
                <a:spcPts val="400"/>
              </a:spcAft>
              <a:buFont typeface="Arial" panose="020B0604020202020204" pitchFamily="34" charset="0"/>
              <a:buChar char="•"/>
            </a:pPr>
            <a:r>
              <a:rPr lang="en-US" sz="1170" dirty="0">
                <a:solidFill>
                  <a:srgbClr val="5A7480"/>
                </a:solidFill>
              </a:rPr>
              <a:t>Brainstem max ≈ ~52.1 Gy, mean ~9.7 Gy → reduced mean dose (↓ ~1.6 Gy )</a:t>
            </a:r>
          </a:p>
          <a:p>
            <a:pPr marL="171450" indent="-171450">
              <a:lnSpc>
                <a:spcPct val="130000"/>
              </a:lnSpc>
              <a:spcAft>
                <a:spcPts val="400"/>
              </a:spcAft>
              <a:buFont typeface="Arial" panose="020B0604020202020204" pitchFamily="34" charset="0"/>
              <a:buChar char="•"/>
            </a:pPr>
            <a:r>
              <a:rPr lang="en-US" sz="1170" dirty="0">
                <a:solidFill>
                  <a:srgbClr val="5A7480"/>
                </a:solidFill>
              </a:rPr>
              <a:t>Air region under coverage (~88.7%) → unchanged, physics-driven</a:t>
            </a:r>
          </a:p>
          <a:p>
            <a:pPr marL="171450" indent="-171450">
              <a:lnSpc>
                <a:spcPct val="130000"/>
              </a:lnSpc>
              <a:spcAft>
                <a:spcPts val="400"/>
              </a:spcAft>
              <a:buFont typeface="Arial" panose="020B0604020202020204" pitchFamily="34" charset="0"/>
              <a:buChar char="•"/>
            </a:pPr>
            <a:r>
              <a:rPr lang="en-US" sz="1170" dirty="0">
                <a:solidFill>
                  <a:srgbClr val="00B050"/>
                </a:solidFill>
              </a:rPr>
              <a:t>Plan reflects optimal use of geometry to manage anatomical limitation</a:t>
            </a:r>
          </a:p>
          <a:p>
            <a:pPr marL="171450" indent="-171450">
              <a:lnSpc>
                <a:spcPct val="130000"/>
              </a:lnSpc>
              <a:spcAft>
                <a:spcPts val="400"/>
              </a:spcAft>
              <a:buFont typeface="Arial" panose="020B0604020202020204" pitchFamily="34" charset="0"/>
              <a:buChar char="•"/>
            </a:pPr>
            <a:r>
              <a:rPr lang="en-US" sz="1170" dirty="0">
                <a:solidFill>
                  <a:srgbClr val="00B050"/>
                </a:solidFill>
              </a:rPr>
              <a:t>Improvements achieved without compromising other structures</a:t>
            </a:r>
          </a:p>
          <a:p>
            <a:pPr marL="171450" indent="-171450">
              <a:lnSpc>
                <a:spcPct val="130000"/>
              </a:lnSpc>
              <a:spcAft>
                <a:spcPts val="400"/>
              </a:spcAft>
              <a:buFont typeface="Arial" panose="020B0604020202020204" pitchFamily="34" charset="0"/>
              <a:buChar char="•"/>
            </a:pPr>
            <a:endParaRPr lang="en-US" sz="1170" dirty="0">
              <a:solidFill>
                <a:srgbClr val="5A7480"/>
              </a:solidFill>
            </a:endParaRPr>
          </a:p>
        </p:txBody>
      </p:sp>
      <p:pic>
        <p:nvPicPr>
          <p:cNvPr id="18" name="Picture 17">
            <a:extLst>
              <a:ext uri="{FF2B5EF4-FFF2-40B4-BE49-F238E27FC236}">
                <a16:creationId xmlns:a16="http://schemas.microsoft.com/office/drawing/2014/main" id="{88583DE8-4ABA-D1E9-5F04-A4EF8F70827C}"/>
              </a:ext>
            </a:extLst>
          </p:cNvPr>
          <p:cNvPicPr>
            <a:picLocks noChangeAspect="1"/>
          </p:cNvPicPr>
          <p:nvPr/>
        </p:nvPicPr>
        <p:blipFill>
          <a:blip r:embed="rId3"/>
          <a:stretch>
            <a:fillRect/>
          </a:stretch>
        </p:blipFill>
        <p:spPr>
          <a:xfrm>
            <a:off x="1122916" y="2303598"/>
            <a:ext cx="3997712" cy="1820835"/>
          </a:xfrm>
          <a:prstGeom prst="rect">
            <a:avLst/>
          </a:prstGeom>
        </p:spPr>
      </p:pic>
      <p:pic>
        <p:nvPicPr>
          <p:cNvPr id="20" name="Picture 19">
            <a:extLst>
              <a:ext uri="{FF2B5EF4-FFF2-40B4-BE49-F238E27FC236}">
                <a16:creationId xmlns:a16="http://schemas.microsoft.com/office/drawing/2014/main" id="{EC39156D-E1DB-EFE1-7C88-6128C86ED629}"/>
              </a:ext>
            </a:extLst>
          </p:cNvPr>
          <p:cNvPicPr>
            <a:picLocks noChangeAspect="1"/>
          </p:cNvPicPr>
          <p:nvPr/>
        </p:nvPicPr>
        <p:blipFill>
          <a:blip r:embed="rId4"/>
          <a:stretch>
            <a:fillRect/>
          </a:stretch>
        </p:blipFill>
        <p:spPr>
          <a:xfrm>
            <a:off x="6916900" y="2303597"/>
            <a:ext cx="3985315" cy="1820835"/>
          </a:xfrm>
          <a:prstGeom prst="rect">
            <a:avLst/>
          </a:prstGeom>
        </p:spPr>
      </p:pic>
    </p:spTree>
    <p:extLst>
      <p:ext uri="{BB962C8B-B14F-4D97-AF65-F5344CB8AC3E}">
        <p14:creationId xmlns:p14="http://schemas.microsoft.com/office/powerpoint/2010/main" val="8006829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EB2B2-95AB-E1EF-5279-90ABE3804C2A}"/>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9C85646F-3926-F27E-D376-4FE51EC52F9C}"/>
              </a:ext>
            </a:extLst>
          </p:cNvPr>
          <p:cNvSpPr/>
          <p:nvPr/>
        </p:nvSpPr>
        <p:spPr>
          <a:xfrm>
            <a:off x="469448" y="1262534"/>
            <a:ext cx="5626551" cy="5121237"/>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54D3D0AB-56FB-E9CD-8B0B-4F76A29C0A59}"/>
              </a:ext>
            </a:extLst>
          </p:cNvPr>
          <p:cNvSpPr/>
          <p:nvPr/>
        </p:nvSpPr>
        <p:spPr>
          <a:xfrm>
            <a:off x="440628" y="1268927"/>
            <a:ext cx="5337809" cy="45719"/>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1BED25B3-BF3C-7250-30B0-547D947BBB6B}"/>
              </a:ext>
            </a:extLst>
          </p:cNvPr>
          <p:cNvSpPr txBox="1"/>
          <p:nvPr/>
        </p:nvSpPr>
        <p:spPr>
          <a:xfrm>
            <a:off x="776700" y="1424872"/>
            <a:ext cx="3386479" cy="219456"/>
          </a:xfrm>
          <a:prstGeom prst="rect">
            <a:avLst/>
          </a:prstGeom>
          <a:noFill/>
        </p:spPr>
        <p:txBody>
          <a:bodyPr wrap="square" lIns="0" tIns="0" rIns="0" bIns="0" anchor="t">
            <a:noAutofit/>
          </a:bodyPr>
          <a:lstStyle/>
          <a:p>
            <a:pPr algn="l">
              <a:lnSpc>
                <a:spcPct val="118000"/>
              </a:lnSpc>
              <a:spcBef>
                <a:spcPts val="0"/>
              </a:spcBef>
              <a:spcAft>
                <a:spcPts val="400"/>
              </a:spcAft>
            </a:pPr>
            <a:r>
              <a:rPr lang="en-US" sz="1100" b="1" i="0" spc="160" dirty="0">
                <a:solidFill>
                  <a:schemeClr val="accent6">
                    <a:lumMod val="75000"/>
                  </a:schemeClr>
                </a:solidFill>
                <a:latin typeface="Consolas"/>
              </a:rPr>
              <a:t>Acceptable Plan</a:t>
            </a:r>
            <a:endParaRPr sz="1100" b="1" i="0" spc="160" dirty="0">
              <a:solidFill>
                <a:schemeClr val="accent6">
                  <a:lumMod val="75000"/>
                </a:schemeClr>
              </a:solidFill>
              <a:latin typeface="Consolas"/>
            </a:endParaRPr>
          </a:p>
        </p:txBody>
      </p:sp>
      <p:sp>
        <p:nvSpPr>
          <p:cNvPr id="12" name="TextBox 11">
            <a:extLst>
              <a:ext uri="{FF2B5EF4-FFF2-40B4-BE49-F238E27FC236}">
                <a16:creationId xmlns:a16="http://schemas.microsoft.com/office/drawing/2014/main" id="{CA4C6791-935D-1F4F-2FB5-EA983C2412D8}"/>
              </a:ext>
            </a:extLst>
          </p:cNvPr>
          <p:cNvSpPr txBox="1"/>
          <p:nvPr/>
        </p:nvSpPr>
        <p:spPr>
          <a:xfrm>
            <a:off x="725389" y="1629414"/>
            <a:ext cx="3489099" cy="277435"/>
          </a:xfrm>
          <a:prstGeom prst="rect">
            <a:avLst/>
          </a:prstGeom>
          <a:noFill/>
        </p:spPr>
        <p:txBody>
          <a:bodyPr wrap="square" lIns="0" tIns="0" rIns="0" bIns="0" anchor="t">
            <a:noAutofit/>
          </a:bodyPr>
          <a:lstStyle/>
          <a:p>
            <a:pPr algn="l">
              <a:lnSpc>
                <a:spcPct val="118000"/>
              </a:lnSpc>
              <a:spcBef>
                <a:spcPts val="0"/>
              </a:spcBef>
              <a:spcAft>
                <a:spcPts val="400"/>
              </a:spcAft>
            </a:pPr>
            <a:r>
              <a:rPr lang="en-US" sz="1900" b="1" i="0" dirty="0">
                <a:solidFill>
                  <a:srgbClr val="14313C"/>
                </a:solidFill>
                <a:latin typeface="Georgia"/>
              </a:rPr>
              <a:t>4-Field Plan</a:t>
            </a:r>
            <a:endParaRPr sz="1900" b="1" i="0" dirty="0">
              <a:solidFill>
                <a:srgbClr val="14313C"/>
              </a:solidFill>
              <a:latin typeface="Georgia"/>
            </a:endParaRPr>
          </a:p>
        </p:txBody>
      </p:sp>
      <p:sp>
        <p:nvSpPr>
          <p:cNvPr id="13" name="TextBox 12">
            <a:extLst>
              <a:ext uri="{FF2B5EF4-FFF2-40B4-BE49-F238E27FC236}">
                <a16:creationId xmlns:a16="http://schemas.microsoft.com/office/drawing/2014/main" id="{3D3264C3-31D0-8414-50CF-8A1F38BA27B5}"/>
              </a:ext>
            </a:extLst>
          </p:cNvPr>
          <p:cNvSpPr txBox="1"/>
          <p:nvPr/>
        </p:nvSpPr>
        <p:spPr>
          <a:xfrm>
            <a:off x="566928" y="4118857"/>
            <a:ext cx="5706254" cy="2033861"/>
          </a:xfrm>
          <a:prstGeom prst="rect">
            <a:avLst/>
          </a:prstGeom>
          <a:noFill/>
        </p:spPr>
        <p:txBody>
          <a:bodyPr wrap="square" lIns="0" tIns="0" rIns="0" bIns="0" anchor="t">
            <a:noAutofit/>
          </a:bodyPr>
          <a:lstStyle/>
          <a:p>
            <a:pPr marL="171450" indent="-171450">
              <a:lnSpc>
                <a:spcPct val="130000"/>
              </a:lnSpc>
              <a:spcAft>
                <a:spcPts val="400"/>
              </a:spcAft>
              <a:buFont typeface="Arial" panose="020B0604020202020204" pitchFamily="34" charset="0"/>
              <a:buChar char="•"/>
            </a:pPr>
            <a:r>
              <a:rPr lang="en-US" sz="1170" dirty="0">
                <a:solidFill>
                  <a:srgbClr val="5A7480"/>
                </a:solidFill>
              </a:rPr>
              <a:t>Target coverage (PTV High) mean ≈ 66.0 Gy → – acceptable</a:t>
            </a:r>
          </a:p>
          <a:p>
            <a:pPr marL="171450" indent="-171450">
              <a:lnSpc>
                <a:spcPct val="130000"/>
              </a:lnSpc>
              <a:spcAft>
                <a:spcPts val="400"/>
              </a:spcAft>
              <a:buFont typeface="Arial" panose="020B0604020202020204" pitchFamily="34" charset="0"/>
              <a:buChar char="•"/>
            </a:pPr>
            <a:r>
              <a:rPr lang="en-US" sz="1170" dirty="0">
                <a:solidFill>
                  <a:srgbClr val="5A7480"/>
                </a:solidFill>
              </a:rPr>
              <a:t>Contralateral parotid (L) mean ≈ 3.30 Gy → ↑ higher dose (less sparing)</a:t>
            </a:r>
          </a:p>
          <a:p>
            <a:pPr marL="171450" indent="-171450">
              <a:lnSpc>
                <a:spcPct val="130000"/>
              </a:lnSpc>
              <a:spcAft>
                <a:spcPts val="400"/>
              </a:spcAft>
              <a:buFont typeface="Arial" panose="020B0604020202020204" pitchFamily="34" charset="0"/>
              <a:buChar char="•"/>
            </a:pPr>
            <a:r>
              <a:rPr lang="en-US" sz="1170" dirty="0">
                <a:solidFill>
                  <a:srgbClr val="5A7480"/>
                </a:solidFill>
              </a:rPr>
              <a:t>Spinal cord max ≈ 19.9 Gy → – within tolerance</a:t>
            </a:r>
          </a:p>
          <a:p>
            <a:pPr marL="171450" indent="-171450">
              <a:lnSpc>
                <a:spcPct val="130000"/>
              </a:lnSpc>
              <a:spcAft>
                <a:spcPts val="400"/>
              </a:spcAft>
              <a:buFont typeface="Arial" panose="020B0604020202020204" pitchFamily="34" charset="0"/>
              <a:buChar char="•"/>
            </a:pPr>
            <a:r>
              <a:rPr lang="en-US" sz="1170" dirty="0">
                <a:solidFill>
                  <a:srgbClr val="5A7480"/>
                </a:solidFill>
              </a:rPr>
              <a:t>Brainstem max ≈ 18.2 Gy → – within tolerance</a:t>
            </a:r>
          </a:p>
          <a:p>
            <a:pPr marL="171450" indent="-171450">
              <a:lnSpc>
                <a:spcPct val="130000"/>
              </a:lnSpc>
              <a:spcAft>
                <a:spcPts val="400"/>
              </a:spcAft>
              <a:buFont typeface="Arial" panose="020B0604020202020204" pitchFamily="34" charset="0"/>
              <a:buChar char="•"/>
            </a:pPr>
            <a:r>
              <a:rPr lang="en-US" sz="1170" dirty="0">
                <a:solidFill>
                  <a:srgbClr val="5A7480"/>
                </a:solidFill>
              </a:rPr>
              <a:t>Oral cavity mean ≈ 17.2 Gy → – similar</a:t>
            </a:r>
          </a:p>
          <a:p>
            <a:pPr marL="171450" indent="-171450">
              <a:lnSpc>
                <a:spcPct val="130000"/>
              </a:lnSpc>
              <a:spcAft>
                <a:spcPts val="400"/>
              </a:spcAft>
              <a:buFont typeface="Arial" panose="020B0604020202020204" pitchFamily="34" charset="0"/>
              <a:buChar char="•"/>
            </a:pPr>
            <a:r>
              <a:rPr lang="en-US" sz="1170" dirty="0">
                <a:solidFill>
                  <a:srgbClr val="5A7480"/>
                </a:solidFill>
              </a:rPr>
              <a:t>Submandibular gland (R) mean ≈ 40.4 Gy → ↑ higher dose</a:t>
            </a:r>
          </a:p>
          <a:p>
            <a:pPr marL="171450" indent="-171450">
              <a:lnSpc>
                <a:spcPct val="130000"/>
              </a:lnSpc>
              <a:spcAft>
                <a:spcPts val="400"/>
              </a:spcAft>
              <a:buFont typeface="Arial" panose="020B0604020202020204" pitchFamily="34" charset="0"/>
              <a:buChar char="•"/>
            </a:pPr>
            <a:r>
              <a:rPr lang="en-US" sz="1170" dirty="0">
                <a:solidFill>
                  <a:schemeClr val="accent6">
                    <a:lumMod val="75000"/>
                  </a:schemeClr>
                </a:solidFill>
              </a:rPr>
              <a:t>No major planning errors – clinically deliverable</a:t>
            </a:r>
          </a:p>
          <a:p>
            <a:pPr marL="171450" indent="-171450">
              <a:lnSpc>
                <a:spcPct val="130000"/>
              </a:lnSpc>
              <a:spcAft>
                <a:spcPts val="400"/>
              </a:spcAft>
              <a:buFont typeface="Arial" panose="020B0604020202020204" pitchFamily="34" charset="0"/>
              <a:buChar char="•"/>
            </a:pPr>
            <a:r>
              <a:rPr lang="en-US" sz="1170" dirty="0">
                <a:solidFill>
                  <a:schemeClr val="accent6">
                    <a:lumMod val="75000"/>
                  </a:schemeClr>
                </a:solidFill>
              </a:rPr>
              <a:t>Improvement achievable with alternative beam arrangement</a:t>
            </a:r>
          </a:p>
          <a:p>
            <a:pPr marL="171450" indent="-171450">
              <a:lnSpc>
                <a:spcPct val="130000"/>
              </a:lnSpc>
              <a:spcAft>
                <a:spcPts val="400"/>
              </a:spcAft>
              <a:buFont typeface="Arial" panose="020B0604020202020204" pitchFamily="34" charset="0"/>
              <a:buChar char="•"/>
            </a:pPr>
            <a:endParaRPr lang="en-US" sz="1170" dirty="0">
              <a:solidFill>
                <a:srgbClr val="5A7480"/>
              </a:solidFill>
            </a:endParaRPr>
          </a:p>
        </p:txBody>
      </p:sp>
      <p:sp>
        <p:nvSpPr>
          <p:cNvPr id="14" name="Rounded Rectangle 13">
            <a:extLst>
              <a:ext uri="{FF2B5EF4-FFF2-40B4-BE49-F238E27FC236}">
                <a16:creationId xmlns:a16="http://schemas.microsoft.com/office/drawing/2014/main" id="{4F2A4D18-205E-269C-D955-801B223FC3B1}"/>
              </a:ext>
            </a:extLst>
          </p:cNvPr>
          <p:cNvSpPr/>
          <p:nvPr/>
        </p:nvSpPr>
        <p:spPr>
          <a:xfrm>
            <a:off x="6355422" y="1314647"/>
            <a:ext cx="5626550" cy="5058722"/>
          </a:xfrm>
          <a:prstGeom prst="roundRect">
            <a:avLst>
              <a:gd name="adj" fmla="val 4500"/>
            </a:avLst>
          </a:prstGeom>
          <a:solidFill>
            <a:srgbClr val="F0F7FA"/>
          </a:solidFill>
          <a:ln w="12700">
            <a:solidFill>
              <a:srgbClr val="C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92A5F505-C4C4-C1F6-8DF5-8A88EF8E3470}"/>
              </a:ext>
            </a:extLst>
          </p:cNvPr>
          <p:cNvSpPr/>
          <p:nvPr/>
        </p:nvSpPr>
        <p:spPr>
          <a:xfrm>
            <a:off x="6403026" y="1297191"/>
            <a:ext cx="5367129" cy="52213"/>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D4222B53-872D-EF84-519E-BC42346DE7BB}"/>
              </a:ext>
            </a:extLst>
          </p:cNvPr>
          <p:cNvSpPr txBox="1"/>
          <p:nvPr/>
        </p:nvSpPr>
        <p:spPr>
          <a:xfrm>
            <a:off x="6532871" y="1428582"/>
            <a:ext cx="3386479" cy="278097"/>
          </a:xfrm>
          <a:prstGeom prst="rect">
            <a:avLst/>
          </a:prstGeom>
          <a:noFill/>
        </p:spPr>
        <p:txBody>
          <a:bodyPr wrap="square" lIns="0" tIns="0" rIns="0" bIns="0" anchor="t">
            <a:noAutofit/>
          </a:bodyPr>
          <a:lstStyle/>
          <a:p>
            <a:pPr algn="l">
              <a:lnSpc>
                <a:spcPct val="118000"/>
              </a:lnSpc>
              <a:spcBef>
                <a:spcPts val="0"/>
              </a:spcBef>
              <a:spcAft>
                <a:spcPts val="400"/>
              </a:spcAft>
            </a:pPr>
            <a:r>
              <a:rPr lang="en-US" sz="1100" b="1" i="0" spc="160" dirty="0">
                <a:solidFill>
                  <a:srgbClr val="00B050"/>
                </a:solidFill>
                <a:latin typeface="Consolas"/>
              </a:rPr>
              <a:t>Good Plan</a:t>
            </a:r>
            <a:endParaRPr sz="1100" b="1" i="0" spc="160" dirty="0">
              <a:solidFill>
                <a:srgbClr val="00B050"/>
              </a:solidFill>
              <a:latin typeface="Consolas"/>
            </a:endParaRPr>
          </a:p>
        </p:txBody>
      </p:sp>
      <p:sp>
        <p:nvSpPr>
          <p:cNvPr id="17" name="TextBox 16">
            <a:extLst>
              <a:ext uri="{FF2B5EF4-FFF2-40B4-BE49-F238E27FC236}">
                <a16:creationId xmlns:a16="http://schemas.microsoft.com/office/drawing/2014/main" id="{06FAF61E-6660-5D1A-3EF8-D4F7C626D313}"/>
              </a:ext>
            </a:extLst>
          </p:cNvPr>
          <p:cNvSpPr txBox="1"/>
          <p:nvPr/>
        </p:nvSpPr>
        <p:spPr>
          <a:xfrm>
            <a:off x="6520413" y="1629414"/>
            <a:ext cx="3489099" cy="301090"/>
          </a:xfrm>
          <a:prstGeom prst="rect">
            <a:avLst/>
          </a:prstGeom>
          <a:noFill/>
        </p:spPr>
        <p:txBody>
          <a:bodyPr wrap="square" lIns="0" tIns="0" rIns="0" bIns="0" anchor="t">
            <a:noAutofit/>
          </a:bodyPr>
          <a:lstStyle/>
          <a:p>
            <a:pPr algn="l">
              <a:lnSpc>
                <a:spcPct val="118000"/>
              </a:lnSpc>
              <a:spcBef>
                <a:spcPts val="0"/>
              </a:spcBef>
              <a:spcAft>
                <a:spcPts val="400"/>
              </a:spcAft>
            </a:pPr>
            <a:r>
              <a:rPr lang="en-US" sz="1900" b="1" i="0" dirty="0">
                <a:solidFill>
                  <a:srgbClr val="14313C"/>
                </a:solidFill>
                <a:latin typeface="Georgia"/>
              </a:rPr>
              <a:t>3-Field Plan</a:t>
            </a:r>
            <a:endParaRPr sz="1900" b="1" i="0" dirty="0">
              <a:solidFill>
                <a:srgbClr val="14313C"/>
              </a:solidFill>
              <a:latin typeface="Georgia"/>
            </a:endParaRPr>
          </a:p>
        </p:txBody>
      </p:sp>
      <p:sp>
        <p:nvSpPr>
          <p:cNvPr id="22" name="TextBox 21">
            <a:extLst>
              <a:ext uri="{FF2B5EF4-FFF2-40B4-BE49-F238E27FC236}">
                <a16:creationId xmlns:a16="http://schemas.microsoft.com/office/drawing/2014/main" id="{F2A1D748-6D46-80FD-78C9-274757A3DF19}"/>
              </a:ext>
            </a:extLst>
          </p:cNvPr>
          <p:cNvSpPr txBox="1"/>
          <p:nvPr/>
        </p:nvSpPr>
        <p:spPr>
          <a:xfrm>
            <a:off x="566928" y="6437376"/>
            <a:ext cx="7315200" cy="274320"/>
          </a:xfrm>
          <a:prstGeom prst="rect">
            <a:avLst/>
          </a:prstGeom>
          <a:noFill/>
        </p:spPr>
        <p:txBody>
          <a:bodyPr wrap="square" lIns="0" tIns="0" rIns="0" bIns="0" anchor="t">
            <a:noAutofit/>
          </a:bodyPr>
          <a:lstStyle/>
          <a:p>
            <a:pPr algn="l">
              <a:lnSpc>
                <a:spcPct val="118000"/>
              </a:lnSpc>
              <a:spcBef>
                <a:spcPts val="0"/>
              </a:spcBef>
              <a:spcAft>
                <a:spcPts val="400"/>
              </a:spcAft>
            </a:pPr>
            <a:r>
              <a:rPr sz="850" b="0" i="0" spc="150" dirty="0">
                <a:solidFill>
                  <a:srgbClr val="96AAB4"/>
                </a:solidFill>
                <a:latin typeface="Consolas"/>
              </a:rPr>
              <a:t>3DCRT PLAN EVALUATION  /  </a:t>
            </a:r>
            <a:r>
              <a:rPr lang="en-US" sz="850" b="0" i="0" spc="150" dirty="0">
                <a:solidFill>
                  <a:srgbClr val="96AAB4"/>
                </a:solidFill>
                <a:latin typeface="Consolas"/>
              </a:rPr>
              <a:t>PRACTICAL</a:t>
            </a:r>
            <a:r>
              <a:rPr sz="850" b="0" i="0" spc="150" dirty="0">
                <a:solidFill>
                  <a:srgbClr val="96AAB4"/>
                </a:solidFill>
                <a:latin typeface="Consolas"/>
              </a:rPr>
              <a:t> MODULE</a:t>
            </a:r>
          </a:p>
        </p:txBody>
      </p:sp>
      <p:sp>
        <p:nvSpPr>
          <p:cNvPr id="23" name="TextBox 22">
            <a:extLst>
              <a:ext uri="{FF2B5EF4-FFF2-40B4-BE49-F238E27FC236}">
                <a16:creationId xmlns:a16="http://schemas.microsoft.com/office/drawing/2014/main" id="{C671DF65-7897-6505-D96E-937034499072}"/>
              </a:ext>
            </a:extLst>
          </p:cNvPr>
          <p:cNvSpPr txBox="1"/>
          <p:nvPr/>
        </p:nvSpPr>
        <p:spPr>
          <a:xfrm>
            <a:off x="9966960" y="6437376"/>
            <a:ext cx="1673352" cy="274320"/>
          </a:xfrm>
          <a:prstGeom prst="rect">
            <a:avLst/>
          </a:prstGeom>
          <a:noFill/>
        </p:spPr>
        <p:txBody>
          <a:bodyPr wrap="square" lIns="0" tIns="0" rIns="0" bIns="0" anchor="t">
            <a:noAutofit/>
          </a:bodyPr>
          <a:lstStyle/>
          <a:p>
            <a:pPr algn="r">
              <a:lnSpc>
                <a:spcPct val="118000"/>
              </a:lnSpc>
              <a:spcBef>
                <a:spcPts val="0"/>
              </a:spcBef>
              <a:spcAft>
                <a:spcPts val="400"/>
              </a:spcAft>
            </a:pPr>
            <a:r>
              <a:rPr sz="850" b="0" i="0" spc="150" dirty="0">
                <a:solidFill>
                  <a:srgbClr val="96AAB4"/>
                </a:solidFill>
                <a:latin typeface="Consolas"/>
              </a:rPr>
              <a:t>3</a:t>
            </a:r>
            <a:r>
              <a:rPr lang="en-US" sz="850" b="0" i="0" spc="150" dirty="0">
                <a:solidFill>
                  <a:srgbClr val="96AAB4"/>
                </a:solidFill>
                <a:latin typeface="Consolas"/>
              </a:rPr>
              <a:t>4</a:t>
            </a:r>
            <a:r>
              <a:rPr sz="850" b="0" i="0" spc="150" dirty="0">
                <a:solidFill>
                  <a:srgbClr val="96AAB4"/>
                </a:solidFill>
                <a:latin typeface="Consolas"/>
              </a:rPr>
              <a:t> / 34</a:t>
            </a:r>
          </a:p>
        </p:txBody>
      </p:sp>
      <p:sp>
        <p:nvSpPr>
          <p:cNvPr id="24" name="TextBox 23">
            <a:extLst>
              <a:ext uri="{FF2B5EF4-FFF2-40B4-BE49-F238E27FC236}">
                <a16:creationId xmlns:a16="http://schemas.microsoft.com/office/drawing/2014/main" id="{1BB85DA1-6B08-30E9-413A-9FC31F875E2F}"/>
              </a:ext>
            </a:extLst>
          </p:cNvPr>
          <p:cNvSpPr txBox="1"/>
          <p:nvPr/>
        </p:nvSpPr>
        <p:spPr>
          <a:xfrm>
            <a:off x="566928" y="420624"/>
            <a:ext cx="10515600" cy="310896"/>
          </a:xfrm>
          <a:prstGeom prst="rect">
            <a:avLst/>
          </a:prstGeom>
          <a:noFill/>
        </p:spPr>
        <p:txBody>
          <a:bodyPr wrap="square" lIns="0" tIns="0" rIns="0" bIns="0" anchor="t">
            <a:noAutofit/>
          </a:bodyPr>
          <a:lstStyle/>
          <a:p>
            <a:pPr algn="l">
              <a:lnSpc>
                <a:spcPct val="118000"/>
              </a:lnSpc>
              <a:spcBef>
                <a:spcPts val="0"/>
              </a:spcBef>
              <a:spcAft>
                <a:spcPts val="400"/>
              </a:spcAft>
            </a:pPr>
            <a:r>
              <a:rPr sz="1200" b="1" i="0" spc="220" dirty="0">
                <a:solidFill>
                  <a:srgbClr val="7030A0"/>
                </a:solidFill>
                <a:latin typeface="Consolas"/>
              </a:rPr>
              <a:t>BLOCK </a:t>
            </a:r>
            <a:r>
              <a:rPr lang="en-US" sz="1200" b="1" i="0" spc="220" dirty="0">
                <a:solidFill>
                  <a:srgbClr val="7030A0"/>
                </a:solidFill>
                <a:latin typeface="Consolas"/>
              </a:rPr>
              <a:t>4</a:t>
            </a:r>
            <a:r>
              <a:rPr sz="1200" b="1" i="0" spc="220" dirty="0">
                <a:solidFill>
                  <a:srgbClr val="7030A0"/>
                </a:solidFill>
                <a:latin typeface="Consolas"/>
              </a:rPr>
              <a:t> · </a:t>
            </a:r>
            <a:r>
              <a:rPr lang="en-US" sz="1200" b="1" spc="220" dirty="0">
                <a:solidFill>
                  <a:srgbClr val="7030A0"/>
                </a:solidFill>
                <a:latin typeface="Consolas"/>
              </a:rPr>
              <a:t>CASE REVIEWS</a:t>
            </a:r>
            <a:endParaRPr sz="1200" b="1" i="0" spc="220" dirty="0">
              <a:solidFill>
                <a:srgbClr val="7030A0"/>
              </a:solidFill>
              <a:latin typeface="Consolas"/>
            </a:endParaRPr>
          </a:p>
        </p:txBody>
      </p:sp>
      <p:sp>
        <p:nvSpPr>
          <p:cNvPr id="25" name="TextBox 24">
            <a:extLst>
              <a:ext uri="{FF2B5EF4-FFF2-40B4-BE49-F238E27FC236}">
                <a16:creationId xmlns:a16="http://schemas.microsoft.com/office/drawing/2014/main" id="{0FC98DDD-57EF-10BC-1421-EEC735EE4FD7}"/>
              </a:ext>
            </a:extLst>
          </p:cNvPr>
          <p:cNvSpPr txBox="1"/>
          <p:nvPr/>
        </p:nvSpPr>
        <p:spPr>
          <a:xfrm>
            <a:off x="566928" y="713232"/>
            <a:ext cx="11064240" cy="485294"/>
          </a:xfrm>
          <a:prstGeom prst="rect">
            <a:avLst/>
          </a:prstGeom>
          <a:noFill/>
        </p:spPr>
        <p:txBody>
          <a:bodyPr wrap="square" lIns="0" tIns="0" rIns="0" bIns="0" anchor="t">
            <a:noAutofit/>
          </a:bodyPr>
          <a:lstStyle/>
          <a:p>
            <a:pPr algn="l">
              <a:lnSpc>
                <a:spcPct val="106000"/>
              </a:lnSpc>
              <a:spcBef>
                <a:spcPts val="0"/>
              </a:spcBef>
              <a:spcAft>
                <a:spcPts val="400"/>
              </a:spcAft>
            </a:pPr>
            <a:r>
              <a:rPr lang="en-US" sz="2900" b="1" i="0" dirty="0">
                <a:solidFill>
                  <a:srgbClr val="00A9E0"/>
                </a:solidFill>
                <a:latin typeface="Georgia"/>
              </a:rPr>
              <a:t>Case 5: Head &amp; Neck</a:t>
            </a:r>
            <a:endParaRPr sz="2900" b="1" i="0" dirty="0">
              <a:solidFill>
                <a:srgbClr val="00A9E0"/>
              </a:solidFill>
              <a:latin typeface="Georgia"/>
            </a:endParaRPr>
          </a:p>
        </p:txBody>
      </p:sp>
      <p:sp>
        <p:nvSpPr>
          <p:cNvPr id="2" name="TextBox 1">
            <a:extLst>
              <a:ext uri="{FF2B5EF4-FFF2-40B4-BE49-F238E27FC236}">
                <a16:creationId xmlns:a16="http://schemas.microsoft.com/office/drawing/2014/main" id="{F70FABDC-0144-D549-4C44-254DD3D2C900}"/>
              </a:ext>
            </a:extLst>
          </p:cNvPr>
          <p:cNvSpPr txBox="1"/>
          <p:nvPr/>
        </p:nvSpPr>
        <p:spPr>
          <a:xfrm>
            <a:off x="6520413" y="4114603"/>
            <a:ext cx="5449101" cy="1962113"/>
          </a:xfrm>
          <a:prstGeom prst="rect">
            <a:avLst/>
          </a:prstGeom>
          <a:noFill/>
        </p:spPr>
        <p:txBody>
          <a:bodyPr wrap="square" lIns="0" tIns="0" rIns="0" bIns="0" anchor="t">
            <a:noAutofit/>
          </a:bodyPr>
          <a:lstStyle/>
          <a:p>
            <a:pPr marL="171450" indent="-171450">
              <a:lnSpc>
                <a:spcPct val="130000"/>
              </a:lnSpc>
              <a:spcAft>
                <a:spcPts val="400"/>
              </a:spcAft>
              <a:buFont typeface="Arial" panose="020B0604020202020204" pitchFamily="34" charset="0"/>
              <a:buChar char="•"/>
            </a:pPr>
            <a:r>
              <a:rPr lang="en-US" sz="1170" dirty="0">
                <a:solidFill>
                  <a:srgbClr val="5A7480"/>
                </a:solidFill>
              </a:rPr>
              <a:t>Target coverage (PTV High) mean ≈ 66.0 Gy → – maintained</a:t>
            </a:r>
          </a:p>
          <a:p>
            <a:pPr marL="171450" indent="-171450">
              <a:lnSpc>
                <a:spcPct val="130000"/>
              </a:lnSpc>
              <a:spcAft>
                <a:spcPts val="400"/>
              </a:spcAft>
              <a:buFont typeface="Arial" panose="020B0604020202020204" pitchFamily="34" charset="0"/>
              <a:buChar char="•"/>
            </a:pPr>
            <a:r>
              <a:rPr lang="en-US" sz="1170" dirty="0">
                <a:solidFill>
                  <a:srgbClr val="5A7480"/>
                </a:solidFill>
              </a:rPr>
              <a:t>Contralateral parotid (L) mean ≈ 1.14 Gy → ↓ improved sparing (~2.2 Gy reduction)</a:t>
            </a:r>
          </a:p>
          <a:p>
            <a:pPr marL="171450" indent="-171450">
              <a:lnSpc>
                <a:spcPct val="130000"/>
              </a:lnSpc>
              <a:spcAft>
                <a:spcPts val="400"/>
              </a:spcAft>
              <a:buFont typeface="Arial" panose="020B0604020202020204" pitchFamily="34" charset="0"/>
              <a:buChar char="•"/>
            </a:pPr>
            <a:r>
              <a:rPr lang="en-US" sz="1170" dirty="0">
                <a:solidFill>
                  <a:srgbClr val="5A7480"/>
                </a:solidFill>
              </a:rPr>
              <a:t>Spinal cord max ≈ 17.8 Gy → ↓ lower dose (~2 Gy reduction)</a:t>
            </a:r>
          </a:p>
          <a:p>
            <a:pPr marL="171450" indent="-171450">
              <a:lnSpc>
                <a:spcPct val="130000"/>
              </a:lnSpc>
              <a:spcAft>
                <a:spcPts val="400"/>
              </a:spcAft>
              <a:buFont typeface="Arial" panose="020B0604020202020204" pitchFamily="34" charset="0"/>
              <a:buChar char="•"/>
            </a:pPr>
            <a:r>
              <a:rPr lang="en-US" sz="1170" dirty="0">
                <a:solidFill>
                  <a:srgbClr val="5A7480"/>
                </a:solidFill>
              </a:rPr>
              <a:t>Brainstem max ≈ 16.1 Gy → ↓ lower dose (~2 Gy reduction)</a:t>
            </a:r>
          </a:p>
          <a:p>
            <a:pPr marL="171450" indent="-171450">
              <a:lnSpc>
                <a:spcPct val="130000"/>
              </a:lnSpc>
              <a:spcAft>
                <a:spcPts val="400"/>
              </a:spcAft>
              <a:buFont typeface="Arial" panose="020B0604020202020204" pitchFamily="34" charset="0"/>
              <a:buChar char="•"/>
            </a:pPr>
            <a:r>
              <a:rPr lang="en-US" sz="1170" dirty="0">
                <a:solidFill>
                  <a:srgbClr val="5A7480"/>
                </a:solidFill>
              </a:rPr>
              <a:t>Oral cavity mean ≈ 17.2 Gy → – similar</a:t>
            </a:r>
          </a:p>
          <a:p>
            <a:pPr marL="171450" indent="-171450">
              <a:lnSpc>
                <a:spcPct val="130000"/>
              </a:lnSpc>
              <a:spcAft>
                <a:spcPts val="400"/>
              </a:spcAft>
              <a:buFont typeface="Arial" panose="020B0604020202020204" pitchFamily="34" charset="0"/>
              <a:buChar char="•"/>
            </a:pPr>
            <a:r>
              <a:rPr lang="en-US" sz="1170" dirty="0">
                <a:solidFill>
                  <a:srgbClr val="5A7480"/>
                </a:solidFill>
              </a:rPr>
              <a:t>Submandibular gland (R) mean ≈ 40.0 Gy → ↓ slight improvement</a:t>
            </a:r>
          </a:p>
          <a:p>
            <a:pPr marL="171450" indent="-171450">
              <a:lnSpc>
                <a:spcPct val="130000"/>
              </a:lnSpc>
              <a:spcAft>
                <a:spcPts val="400"/>
              </a:spcAft>
              <a:buFont typeface="Arial" panose="020B0604020202020204" pitchFamily="34" charset="0"/>
              <a:buChar char="•"/>
            </a:pPr>
            <a:r>
              <a:rPr lang="en-US" sz="1170" dirty="0">
                <a:solidFill>
                  <a:srgbClr val="00B050"/>
                </a:solidFill>
              </a:rPr>
              <a:t>Plan reflects optimal use of geometry to manage anatomical limitation</a:t>
            </a:r>
          </a:p>
          <a:p>
            <a:pPr marL="171450" indent="-171450">
              <a:lnSpc>
                <a:spcPct val="130000"/>
              </a:lnSpc>
              <a:spcAft>
                <a:spcPts val="400"/>
              </a:spcAft>
              <a:buFont typeface="Arial" panose="020B0604020202020204" pitchFamily="34" charset="0"/>
              <a:buChar char="•"/>
            </a:pPr>
            <a:r>
              <a:rPr lang="en-US" sz="1170" dirty="0">
                <a:solidFill>
                  <a:srgbClr val="00B050"/>
                </a:solidFill>
              </a:rPr>
              <a:t>Improvements achieved without compromising other structures</a:t>
            </a:r>
          </a:p>
          <a:p>
            <a:pPr marL="171450" indent="-171450">
              <a:lnSpc>
                <a:spcPct val="130000"/>
              </a:lnSpc>
              <a:spcAft>
                <a:spcPts val="400"/>
              </a:spcAft>
              <a:buFont typeface="Arial" panose="020B0604020202020204" pitchFamily="34" charset="0"/>
              <a:buChar char="•"/>
            </a:pPr>
            <a:endParaRPr lang="en-US" sz="1170" dirty="0">
              <a:solidFill>
                <a:srgbClr val="5A7480"/>
              </a:solidFill>
            </a:endParaRPr>
          </a:p>
        </p:txBody>
      </p:sp>
      <p:pic>
        <p:nvPicPr>
          <p:cNvPr id="4" name="Picture 3">
            <a:extLst>
              <a:ext uri="{FF2B5EF4-FFF2-40B4-BE49-F238E27FC236}">
                <a16:creationId xmlns:a16="http://schemas.microsoft.com/office/drawing/2014/main" id="{25EE13B1-2287-A884-CB09-3D7317F3E194}"/>
              </a:ext>
            </a:extLst>
          </p:cNvPr>
          <p:cNvPicPr>
            <a:picLocks noChangeAspect="1"/>
          </p:cNvPicPr>
          <p:nvPr/>
        </p:nvPicPr>
        <p:blipFill>
          <a:blip r:embed="rId3"/>
          <a:stretch>
            <a:fillRect/>
          </a:stretch>
        </p:blipFill>
        <p:spPr>
          <a:xfrm>
            <a:off x="1110827" y="2072477"/>
            <a:ext cx="3997409" cy="1802659"/>
          </a:xfrm>
          <a:prstGeom prst="rect">
            <a:avLst/>
          </a:prstGeom>
        </p:spPr>
      </p:pic>
      <p:pic>
        <p:nvPicPr>
          <p:cNvPr id="6" name="Picture 5">
            <a:extLst>
              <a:ext uri="{FF2B5EF4-FFF2-40B4-BE49-F238E27FC236}">
                <a16:creationId xmlns:a16="http://schemas.microsoft.com/office/drawing/2014/main" id="{CA0B3E47-967D-8C4C-16C7-79C3FE267C62}"/>
              </a:ext>
            </a:extLst>
          </p:cNvPr>
          <p:cNvPicPr>
            <a:picLocks noChangeAspect="1"/>
          </p:cNvPicPr>
          <p:nvPr/>
        </p:nvPicPr>
        <p:blipFill>
          <a:blip r:embed="rId4"/>
          <a:stretch>
            <a:fillRect/>
          </a:stretch>
        </p:blipFill>
        <p:spPr>
          <a:xfrm>
            <a:off x="7068339" y="2041349"/>
            <a:ext cx="4012834" cy="1802659"/>
          </a:xfrm>
          <a:prstGeom prst="rect">
            <a:avLst/>
          </a:prstGeom>
        </p:spPr>
      </p:pic>
    </p:spTree>
    <p:extLst>
      <p:ext uri="{BB962C8B-B14F-4D97-AF65-F5344CB8AC3E}">
        <p14:creationId xmlns:p14="http://schemas.microsoft.com/office/powerpoint/2010/main" val="1740896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32B9FC1-53E1-0141-9549-49CCCF49B1AF}">
  <we:reference id="wa200010001" version="1.0.0.1" store="en-GB" storeType="OMEX"/>
  <we:alternateReferences>
    <we:reference id="WA200010001" version="1.0.0.1" store="WA200010001" storeType="OMEX"/>
  </we:alternateReferences>
  <we:properties>
    <we:property name="claude.fileId" value="&quot;d73aa094-9d48-4001-9195-b27c7f61165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2838</TotalTime>
  <Words>14288</Words>
  <Application>Microsoft Macintosh PowerPoint</Application>
  <PresentationFormat>Widescreen</PresentationFormat>
  <Paragraphs>863</Paragraphs>
  <Slides>35</Slides>
  <Notes>35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Arial Bold</vt:lpstr>
      <vt:lpstr>Calibri</vt:lpstr>
      <vt:lpstr>Consolas</vt:lpstr>
      <vt:lpstr>Georgia</vt:lpstr>
      <vt:lpstr>Raleway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Tammy Manasse</cp:lastModifiedBy>
  <cp:revision>21</cp:revision>
  <dcterms:created xsi:type="dcterms:W3CDTF">2013-01-27T09:14:16Z</dcterms:created>
  <dcterms:modified xsi:type="dcterms:W3CDTF">2026-06-01T09:07:50Z</dcterms:modified>
  <cp:category/>
</cp:coreProperties>
</file>