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53200" y="-1440000"/>
            <a:ext cx="6480000" cy="6480000"/>
          </a:xfrm>
          <a:prstGeom prst="rect">
            <a:avLst/>
          </a:prstGeom>
          <a:solidFill>
            <a:srgbClr val="122F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720000" y="4338000"/>
            <a:ext cx="2880000" cy="2880000"/>
          </a:xfrm>
          <a:prstGeom prst="rect">
            <a:avLst/>
          </a:prstGeom>
          <a:solidFill>
            <a:srgbClr val="0F2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1260000"/>
            <a:ext cx="109692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RADIATION ONCOLOGY  ·  UCT / GSH REGISTRAR TRAINING  · 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1728000"/>
            <a:ext cx="8640000" cy="23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0" b="1" i="0">
                <a:solidFill>
                  <a:srgbClr val="E8EDF2"/>
                </a:solidFill>
                <a:latin typeface="Calibri"/>
              </a:rPr>
              <a:t>What Makes
a Plan Good?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" y="4248000"/>
            <a:ext cx="86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0" i="0">
                <a:solidFill>
                  <a:srgbClr val="9AACBE"/>
                </a:solidFill>
                <a:latin typeface="Calibri"/>
              </a:rPr>
              <a:t>3DCRT Plan Evaluation Workshop — Theory &amp; Practical Module</a:t>
            </a:r>
          </a:p>
        </p:txBody>
      </p:sp>
      <p:sp>
        <p:nvSpPr>
          <p:cNvPr id="8" name="Rectangle 7"/>
          <p:cNvSpPr/>
          <p:nvPr/>
        </p:nvSpPr>
        <p:spPr>
          <a:xfrm>
            <a:off x="612000" y="4968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6000" y="5004000"/>
            <a:ext cx="72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8EDF2"/>
                </a:solidFill>
                <a:latin typeface="Calibri"/>
              </a:rPr>
              <a:t>Tamerone Manasse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6000" y="5400000"/>
            <a:ext cx="720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9AACBE"/>
                </a:solidFill>
                <a:latin typeface="Calibri"/>
              </a:rPr>
              <a:t>UCT / GSH Registrars  ·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HOW THIS SESSION RUNS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10969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2"/>
                </a:solidFill>
                <a:latin typeface="Calibri"/>
              </a:rPr>
              <a:t>2 Hours · 5 Cases · One framework.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" y="1728000"/>
            <a:ext cx="10969200" cy="48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000" y="1728000"/>
            <a:ext cx="64800" cy="486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782000"/>
            <a:ext cx="108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E97132"/>
                </a:solidFill>
                <a:latin typeface="Courier New"/>
              </a:rPr>
              <a:t>0:00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52000" y="1782000"/>
            <a:ext cx="79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Theory — framework, DVH, OARs, red flags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41200" y="1782000"/>
            <a:ext cx="136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9AACBE"/>
                </a:solidFill>
                <a:latin typeface="Courier New"/>
              </a:rPr>
              <a:t>18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2214000"/>
            <a:ext cx="10969200" cy="486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000" y="2214000"/>
            <a:ext cx="64800" cy="48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268000"/>
            <a:ext cx="108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0:18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52000" y="2268000"/>
            <a:ext cx="79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Case 1: Breast — full scorecard exercise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41200" y="2268000"/>
            <a:ext cx="136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9AACBE"/>
                </a:solidFill>
                <a:latin typeface="Courier New"/>
              </a:rPr>
              <a:t>22 min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000" y="2700000"/>
            <a:ext cx="10969200" cy="48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000" y="2700000"/>
            <a:ext cx="64800" cy="48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754000"/>
            <a:ext cx="108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0:40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2000" y="2754000"/>
            <a:ext cx="79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Case 2: Gynaecology — trade-off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41200" y="2754000"/>
            <a:ext cx="136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9AACBE"/>
                </a:solidFill>
                <a:latin typeface="Courier New"/>
              </a:rPr>
              <a:t>10 min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3186000"/>
            <a:ext cx="10969200" cy="486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000" y="3186000"/>
            <a:ext cx="64800" cy="48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3240000"/>
            <a:ext cx="108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0:50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052000" y="3240000"/>
            <a:ext cx="79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Case 3: Prostate — trade-off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41200" y="3240000"/>
            <a:ext cx="136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9AACBE"/>
                </a:solidFill>
                <a:latin typeface="Courier New"/>
              </a:rPr>
              <a:t>10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000" y="3672000"/>
            <a:ext cx="10969200" cy="48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000" y="3672000"/>
            <a:ext cx="64800" cy="48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000" y="3726000"/>
            <a:ext cx="108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1:00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052000" y="3726000"/>
            <a:ext cx="79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Case 4: Pituitary — coplanar vs non-coplanar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41200" y="3726000"/>
            <a:ext cx="136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9AACBE"/>
                </a:solidFill>
                <a:latin typeface="Courier New"/>
              </a:rPr>
              <a:t>10 min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" y="4158000"/>
            <a:ext cx="10969200" cy="486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000" y="4158000"/>
            <a:ext cx="64800" cy="48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2000" y="4212000"/>
            <a:ext cx="108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1:10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052000" y="4212000"/>
            <a:ext cx="79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Case 5: H&amp;N — 4-field vs 3-field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41200" y="4212000"/>
            <a:ext cx="136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9AACBE"/>
                </a:solidFill>
                <a:latin typeface="Courier New"/>
              </a:rPr>
              <a:t>10 min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000" y="4644000"/>
            <a:ext cx="10969200" cy="48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2000" y="4644000"/>
            <a:ext cx="64800" cy="486000"/>
          </a:xfrm>
          <a:prstGeom prst="rect">
            <a:avLst/>
          </a:prstGeom>
          <a:solidFill>
            <a:srgbClr val="9A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2000" y="4698000"/>
            <a:ext cx="108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AACBE"/>
                </a:solidFill>
                <a:latin typeface="Courier New"/>
              </a:rPr>
              <a:t>1:20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52000" y="4698000"/>
            <a:ext cx="79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Buffer / questions / overflow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41200" y="4698000"/>
            <a:ext cx="136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9AACBE"/>
                </a:solidFill>
                <a:latin typeface="Courier New"/>
              </a:rPr>
              <a:t>30 min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12000" y="5130000"/>
            <a:ext cx="10969200" cy="486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12000" y="5130000"/>
            <a:ext cx="64800" cy="486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92000" y="5184000"/>
            <a:ext cx="108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9A35B"/>
                </a:solidFill>
                <a:latin typeface="Courier New"/>
              </a:rPr>
              <a:t>1:50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052000" y="5184000"/>
            <a:ext cx="7920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Wrap-up + key takeaways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41200" y="5184000"/>
            <a:ext cx="1368000" cy="41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00" b="0" i="0">
                <a:solidFill>
                  <a:srgbClr val="9AACBE"/>
                </a:solidFill>
                <a:latin typeface="Courier New"/>
              </a:rPr>
              <a:t>10 min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000" y="5760000"/>
            <a:ext cx="10969200" cy="72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000" y="5760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0000" y="5832000"/>
            <a:ext cx="1069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By the end you can:  Apply FCB-CHOPS · Read a DVH · Explain CI &amp; HI · Apply OAR constraints · Triage a plan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8233200" y="-1080000"/>
            <a:ext cx="5040000" cy="5040000"/>
          </a:xfrm>
          <a:prstGeom prst="rect">
            <a:avLst/>
          </a:prstGeom>
          <a:solidFill>
            <a:srgbClr val="122E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540000" y="4698000"/>
            <a:ext cx="2520000" cy="2520000"/>
          </a:xfrm>
          <a:prstGeom prst="rect">
            <a:avLst/>
          </a:prstGeom>
          <a:solidFill>
            <a:srgbClr val="11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AACBE"/>
                </a:solidFill>
                <a:latin typeface="Courier New"/>
              </a:rPr>
              <a:t>THE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720000"/>
            <a:ext cx="864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600" b="1" i="0">
                <a:solidFill>
                  <a:srgbClr val="E8EDF2"/>
                </a:solidFill>
                <a:latin typeface="Calibri"/>
              </a:rPr>
              <a:t>A good plan answers four questions — in order.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1800000"/>
            <a:ext cx="5214600" cy="172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" y="1800000"/>
            <a:ext cx="5214600" cy="43200"/>
          </a:xfrm>
          <a:prstGeom prst="rect">
            <a:avLst/>
          </a:prstGeom>
          <a:solidFill>
            <a:srgbClr val="33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980000"/>
            <a:ext cx="792000" cy="792000"/>
          </a:xfrm>
          <a:prstGeom prst="rect">
            <a:avLst/>
          </a:prstGeom>
          <a:solidFill>
            <a:srgbClr val="0C1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6000" y="2016000"/>
            <a:ext cx="7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355CC"/>
                </a:solidFill>
                <a:latin typeface="Courier New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92000" y="2016000"/>
            <a:ext cx="402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8EDF2"/>
                </a:solidFill>
                <a:latin typeface="Calibri"/>
              </a:rPr>
              <a:t>Does it treat the target?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844000"/>
            <a:ext cx="49266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Adequate dose throughout the target — no geographic miss, no cold spot where tumour lives.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66600" y="1800000"/>
            <a:ext cx="5214600" cy="172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66600" y="1800000"/>
            <a:ext cx="5214600" cy="43200"/>
          </a:xfrm>
          <a:prstGeom prst="rect">
            <a:avLst/>
          </a:prstGeom>
          <a:solidFill>
            <a:srgbClr val="993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510600" y="1980000"/>
            <a:ext cx="792000" cy="792000"/>
          </a:xfrm>
          <a:prstGeom prst="rect">
            <a:avLst/>
          </a:prstGeom>
          <a:solidFill>
            <a:srgbClr val="260C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10600" y="2016000"/>
            <a:ext cx="7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933BB"/>
                </a:solidFill>
                <a:latin typeface="Courier New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46600" y="2016000"/>
            <a:ext cx="402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8EDF2"/>
                </a:solidFill>
                <a:latin typeface="Calibri"/>
              </a:rPr>
              <a:t>Does it spare normal tissue?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10600" y="2844000"/>
            <a:ext cx="49266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Every OAR within tolerance — judged against the right dose-volume metric for that organ's architecture.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" y="3672000"/>
            <a:ext cx="5214600" cy="172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000" y="3672000"/>
            <a:ext cx="5214600" cy="43200"/>
          </a:xfrm>
          <a:prstGeom prst="rect">
            <a:avLst/>
          </a:prstGeom>
          <a:solidFill>
            <a:srgbClr val="EE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56000" y="3852000"/>
            <a:ext cx="792000" cy="792000"/>
          </a:xfrm>
          <a:prstGeom prst="rect">
            <a:avLst/>
          </a:prstGeom>
          <a:solidFill>
            <a:srgbClr val="3B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" y="3888000"/>
            <a:ext cx="7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E3333"/>
                </a:solidFill>
                <a:latin typeface="Courier New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92000" y="3888000"/>
            <a:ext cx="402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8EDF2"/>
                </a:solidFill>
                <a:latin typeface="Calibri"/>
              </a:rPr>
              <a:t>Is it technically sound?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56000" y="4716000"/>
            <a:ext cx="49266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Sensible isocentre, beam geometry, weighting — the plan is intentionally built, not just generated.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366600" y="3672000"/>
            <a:ext cx="5214600" cy="172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366600" y="3672000"/>
            <a:ext cx="5214600" cy="43200"/>
          </a:xfrm>
          <a:prstGeom prst="rect">
            <a:avLst/>
          </a:prstGeom>
          <a:solidFill>
            <a:srgbClr val="4EA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510600" y="3852000"/>
            <a:ext cx="792000" cy="792000"/>
          </a:xfrm>
          <a:prstGeom prst="rect">
            <a:avLst/>
          </a:prstGeom>
          <a:solidFill>
            <a:srgbClr val="1329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10600" y="3888000"/>
            <a:ext cx="792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4EA72E"/>
                </a:solidFill>
                <a:latin typeface="Courier New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46600" y="3888000"/>
            <a:ext cx="402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8EDF2"/>
                </a:solidFill>
                <a:latin typeface="Calibri"/>
              </a:rPr>
              <a:t>Is it deliverable &amp; robust?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10600" y="4716000"/>
            <a:ext cx="49266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Achievable on the machine, stable to setup and anatomy variation.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2000" y="6210000"/>
            <a:ext cx="10969200" cy="503999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20000" y="6246000"/>
            <a:ext cx="10753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AACBE"/>
                </a:solidFill>
                <a:latin typeface="Calibri"/>
              </a:rPr>
              <a:t>"A plan is never perfect — it is the best defensible compromise."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THE REALITY OF PLAN EVALUATION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10969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2"/>
                </a:solidFill>
                <a:latin typeface="Calibri"/>
              </a:rPr>
              <a:t>Bad, acceptable, trade-off — or good?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" y="1764000"/>
            <a:ext cx="2607300" cy="270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000" y="1764000"/>
            <a:ext cx="2607300" cy="648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944000"/>
            <a:ext cx="2391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D44040"/>
                </a:solidFill>
                <a:latin typeface="Courier New"/>
              </a:rPr>
              <a:t>CLEARLY BAD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0000" y="2520000"/>
            <a:ext cx="2391300" cy="187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Unsafe or unacceptable. Easy to spot, easy to reject. Geographic miss, serial OAR breach, undeliverable MU.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99300" y="1764000"/>
            <a:ext cx="2607300" cy="270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399300" y="1764000"/>
            <a:ext cx="2607300" cy="64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507300" y="1944000"/>
            <a:ext cx="2391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E97132"/>
                </a:solidFill>
                <a:latin typeface="Courier New"/>
              </a:rPr>
              <a:t>ACCEPTABLE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07300" y="2520000"/>
            <a:ext cx="2391300" cy="187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Passes all constraints — but a better plan is clearly achievable with reasonable effort. Not wrong, but not optimal.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86600" y="1764000"/>
            <a:ext cx="2607300" cy="270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86600" y="1764000"/>
            <a:ext cx="26073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4600" y="1944000"/>
            <a:ext cx="2391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F9ED5"/>
                </a:solidFill>
                <a:latin typeface="Courier New"/>
              </a:rPr>
              <a:t>TRADE-OFF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94600" y="2520000"/>
            <a:ext cx="2391300" cy="187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Competing priorities pull against each other. Fixing one worsens another. Needs clinical judgement and documentation.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973900" y="1764000"/>
            <a:ext cx="2607300" cy="270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73900" y="1764000"/>
            <a:ext cx="2607300" cy="648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81900" y="1944000"/>
            <a:ext cx="23913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29A35B"/>
                </a:solidFill>
                <a:latin typeface="Courier New"/>
              </a:rPr>
              <a:t>GOOD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81900" y="2520000"/>
            <a:ext cx="2391300" cy="187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Balanced, robust, clinically appropriate. Target covered, OARs spared, technically sound, documented.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" y="4644000"/>
            <a:ext cx="10969200" cy="684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000" y="4644000"/>
            <a:ext cx="64800" cy="684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000" y="4716000"/>
            <a:ext cx="106992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9AACBE"/>
                </a:solidFill>
                <a:latin typeface="Calibri"/>
              </a:rPr>
              <a:t>THE GUT-CHECK: "Would I confidently treat my own family member with this plan?" — if no, name exactly what would have to change.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THE FRAMEWORK — ORIGINS AND EVOLUTION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034600" cy="538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000" y="1080000"/>
            <a:ext cx="467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9AACBE"/>
                </a:solidFill>
                <a:latin typeface="Courier New"/>
              </a:rPr>
              <a:t>2017 — ORIGINAL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000" y="1368000"/>
            <a:ext cx="467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EDF2"/>
                </a:solidFill>
                <a:latin typeface="Calibri"/>
              </a:rPr>
              <a:t>CB-CHOP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2000" y="1943999"/>
            <a:ext cx="467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1">
                <a:solidFill>
                  <a:srgbClr val="9AACBE"/>
                </a:solidFill>
                <a:latin typeface="Calibri"/>
              </a:rPr>
              <a:t>Jimenez et al. · Pract Radiat Oncol 2017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304000"/>
            <a:ext cx="648000" cy="648000"/>
          </a:xfrm>
          <a:prstGeom prst="rect">
            <a:avLst/>
          </a:prstGeom>
          <a:solidFill>
            <a:srgbClr val="140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2304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644BB"/>
                </a:solidFill>
                <a:latin typeface="Courier New"/>
              </a:rPr>
              <a:t>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84000" y="2429999"/>
            <a:ext cx="388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Contours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92000" y="3024000"/>
            <a:ext cx="648000" cy="648000"/>
          </a:xfrm>
          <a:prstGeom prst="rect">
            <a:avLst/>
          </a:prstGeom>
          <a:solidFill>
            <a:srgbClr val="1E0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3024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933BB"/>
                </a:solidFill>
                <a:latin typeface="Courier New"/>
              </a:rPr>
              <a:t>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84000" y="3149999"/>
            <a:ext cx="388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Beam Arrangement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92000" y="3744000"/>
            <a:ext cx="648000" cy="648000"/>
          </a:xfrm>
          <a:prstGeom prst="rect">
            <a:avLst/>
          </a:prstGeom>
          <a:solidFill>
            <a:srgbClr val="28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3744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3399"/>
                </a:solidFill>
                <a:latin typeface="Courier New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84000" y="3869999"/>
            <a:ext cx="388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Coverage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92000" y="4464000"/>
            <a:ext cx="648000" cy="648000"/>
          </a:xfrm>
          <a:prstGeom prst="rect">
            <a:avLst/>
          </a:prstGeom>
          <a:solidFill>
            <a:srgbClr val="2F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4464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E3333"/>
                </a:solidFill>
                <a:latin typeface="Courier New"/>
              </a:rPr>
              <a:t>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84000" y="4589999"/>
            <a:ext cx="388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Heterogeneity / Hotspots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92000" y="5184000"/>
            <a:ext cx="648000" cy="648000"/>
          </a:xfrm>
          <a:prstGeom prst="rect">
            <a:avLst/>
          </a:prstGeom>
          <a:solidFill>
            <a:srgbClr val="331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5184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8822"/>
                </a:solidFill>
                <a:latin typeface="Courier New"/>
              </a:rPr>
              <a:t>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84000" y="5309999"/>
            <a:ext cx="388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Organs at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92000" y="5904000"/>
            <a:ext cx="648000" cy="648000"/>
          </a:xfrm>
          <a:prstGeom prst="rect">
            <a:avLst/>
          </a:prstGeom>
          <a:solidFill>
            <a:srgbClr val="33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5904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D22"/>
                </a:solidFill>
                <a:latin typeface="Courier New"/>
              </a:rPr>
              <a:t>P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84000" y="6029999"/>
            <a:ext cx="388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Prescription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26600" y="3060000"/>
            <a:ext cx="54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F9ED5"/>
                </a:solidFill>
                <a:latin typeface="Calibri"/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754600" y="3780000"/>
            <a:ext cx="684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0F9ED5"/>
                </a:solidFill>
                <a:latin typeface="Courier New"/>
              </a:rPr>
              <a:t>+F  +S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546600" y="936000"/>
            <a:ext cx="5034600" cy="538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46600" y="936000"/>
            <a:ext cx="50346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26600" y="1080000"/>
            <a:ext cx="467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2024 — EVOLUTION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26600" y="1368000"/>
            <a:ext cx="467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E8EDF2"/>
                </a:solidFill>
                <a:latin typeface="Calibri"/>
              </a:rPr>
              <a:t>FCB-CHOPS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726600" y="1943999"/>
            <a:ext cx="467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9AACBE"/>
                </a:solidFill>
                <a:latin typeface="Calibri"/>
              </a:rPr>
              <a:t>Weisman et al. · Adv Radiat Oncol 2024  ·  PMID 40017913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726600" y="2304000"/>
            <a:ext cx="648000" cy="648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26600" y="2304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3355CC"/>
                </a:solidFill>
                <a:latin typeface="Courier New"/>
              </a:rPr>
              <a:t>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18600" y="2429999"/>
            <a:ext cx="30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Fusion / Imaging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0501200" y="2429999"/>
            <a:ext cx="900000" cy="360000"/>
          </a:xfrm>
          <a:prstGeom prst="rect">
            <a:avLst/>
          </a:prstGeom>
          <a:solidFill>
            <a:srgbClr val="0A11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0501200" y="2412000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355CC"/>
                </a:solidFill>
                <a:latin typeface="Courier New"/>
              </a:rPr>
              <a:t>NEW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726600" y="2988000"/>
            <a:ext cx="648000" cy="648000"/>
          </a:xfrm>
          <a:prstGeom prst="rect">
            <a:avLst/>
          </a:prstGeom>
          <a:solidFill>
            <a:srgbClr val="140D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26600" y="2988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6644BB"/>
                </a:solidFill>
                <a:latin typeface="Courier New"/>
              </a:rPr>
              <a:t>C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518600" y="3113999"/>
            <a:ext cx="30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Contours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726600" y="3672000"/>
            <a:ext cx="648000" cy="648000"/>
          </a:xfrm>
          <a:prstGeom prst="rect">
            <a:avLst/>
          </a:prstGeom>
          <a:solidFill>
            <a:srgbClr val="1E0A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26600" y="3672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9933BB"/>
                </a:solidFill>
                <a:latin typeface="Courier New"/>
              </a:rPr>
              <a:t>B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518600" y="3797999"/>
            <a:ext cx="30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Beam Arrangement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726600" y="4356000"/>
            <a:ext cx="648000" cy="648000"/>
          </a:xfrm>
          <a:prstGeom prst="rect">
            <a:avLst/>
          </a:prstGeom>
          <a:solidFill>
            <a:srgbClr val="280A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26600" y="4356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CC3399"/>
                </a:solidFill>
                <a:latin typeface="Courier New"/>
              </a:rPr>
              <a:t>C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518600" y="4481999"/>
            <a:ext cx="30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Coverage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726600" y="5040000"/>
            <a:ext cx="648000" cy="648000"/>
          </a:xfrm>
          <a:prstGeom prst="rect">
            <a:avLst/>
          </a:prstGeom>
          <a:solidFill>
            <a:srgbClr val="2F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726600" y="5040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EE3333"/>
                </a:solidFill>
                <a:latin typeface="Courier New"/>
              </a:rPr>
              <a:t>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18600" y="5165999"/>
            <a:ext cx="30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Heterogeneity / Hotspots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726600" y="5724000"/>
            <a:ext cx="648000" cy="648000"/>
          </a:xfrm>
          <a:prstGeom prst="rect">
            <a:avLst/>
          </a:prstGeom>
          <a:solidFill>
            <a:srgbClr val="331B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726600" y="5724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8822"/>
                </a:solidFill>
                <a:latin typeface="Courier New"/>
              </a:rPr>
              <a:t>O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518600" y="5849999"/>
            <a:ext cx="30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Organs at Risk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726600" y="6408000"/>
            <a:ext cx="648000" cy="648000"/>
          </a:xfrm>
          <a:prstGeom prst="rect">
            <a:avLst/>
          </a:prstGeom>
          <a:solidFill>
            <a:srgbClr val="332C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726600" y="6408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DD22"/>
                </a:solidFill>
                <a:latin typeface="Courier New"/>
              </a:rPr>
              <a:t>P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518600" y="6533999"/>
            <a:ext cx="30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Prescription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726600" y="7092000"/>
            <a:ext cx="648000" cy="648000"/>
          </a:xfrm>
          <a:prstGeom prst="rect">
            <a:avLst/>
          </a:prstGeom>
          <a:solidFill>
            <a:srgbClr val="17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6726600" y="7092000"/>
            <a:ext cx="648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77CC33"/>
                </a:solidFill>
                <a:latin typeface="Courier New"/>
              </a:rPr>
              <a:t>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518600" y="7217999"/>
            <a:ext cx="30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BBBBBB"/>
                </a:solidFill>
                <a:latin typeface="Calibri"/>
              </a:rPr>
              <a:t>Summation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0501200" y="7217999"/>
            <a:ext cx="900000" cy="360000"/>
          </a:xfrm>
          <a:prstGeom prst="rect">
            <a:avLst/>
          </a:prstGeom>
          <a:solidFill>
            <a:srgbClr val="172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10501200" y="7200000"/>
            <a:ext cx="9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77CC33"/>
                </a:solidFill>
                <a:latin typeface="Courier New"/>
              </a:rPr>
              <a:t>NEW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A SYSTEMATIC FRAMEWORK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109692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2"/>
                </a:solidFill>
                <a:latin typeface="Calibri"/>
              </a:rPr>
              <a:t>FCB-CHOPS — eight checkpoints, every plan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" y="1620000"/>
            <a:ext cx="2607300" cy="115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000" y="1620000"/>
            <a:ext cx="2607300" cy="43200"/>
          </a:xfrm>
          <a:prstGeom prst="rect">
            <a:avLst/>
          </a:prstGeom>
          <a:solidFill>
            <a:srgbClr val="3355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1728000"/>
            <a:ext cx="2319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3355CC"/>
                </a:solidFill>
                <a:latin typeface="Courier New"/>
              </a:rPr>
              <a:t>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2123999"/>
            <a:ext cx="23193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EDF2"/>
                </a:solidFill>
                <a:latin typeface="Calibri"/>
              </a:rPr>
              <a:t>Fusion / Imaging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412000"/>
            <a:ext cx="2319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CBE"/>
                </a:solidFill>
                <a:latin typeface="Calibri"/>
              </a:rPr>
              <a:t>Verify image fusion accuracy — correct target &amp; OAR anatomy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99300" y="1620000"/>
            <a:ext cx="2607300" cy="115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99300" y="1620000"/>
            <a:ext cx="2607300" cy="43200"/>
          </a:xfrm>
          <a:prstGeom prst="rect">
            <a:avLst/>
          </a:prstGeom>
          <a:solidFill>
            <a:srgbClr val="6644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43300" y="1728000"/>
            <a:ext cx="2319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6644BB"/>
                </a:solidFill>
                <a:latin typeface="Courier New"/>
              </a:rP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43300" y="2123999"/>
            <a:ext cx="23193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EDF2"/>
                </a:solidFill>
                <a:latin typeface="Calibri"/>
              </a:rPr>
              <a:t>Contours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3300" y="2412000"/>
            <a:ext cx="2319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CBE"/>
                </a:solidFill>
                <a:latin typeface="Calibri"/>
              </a:rPr>
              <a:t>All target &amp; OAR contours complete and anatomically correct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86600" y="1620000"/>
            <a:ext cx="2607300" cy="115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86600" y="1620000"/>
            <a:ext cx="2607300" cy="43200"/>
          </a:xfrm>
          <a:prstGeom prst="rect">
            <a:avLst/>
          </a:prstGeom>
          <a:solidFill>
            <a:srgbClr val="9933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30600" y="1728000"/>
            <a:ext cx="2319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9933BB"/>
                </a:solidFill>
                <a:latin typeface="Courier New"/>
              </a:rP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30600" y="2123999"/>
            <a:ext cx="23193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EDF2"/>
                </a:solidFill>
                <a:latin typeface="Calibri"/>
              </a:rPr>
              <a:t>Beam Arrangement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30600" y="2412000"/>
            <a:ext cx="2319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CBE"/>
                </a:solidFill>
                <a:latin typeface="Calibri"/>
              </a:rPr>
              <a:t>Beam geometry and entry points appropriate for the target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73900" y="1620000"/>
            <a:ext cx="2607300" cy="115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73900" y="1620000"/>
            <a:ext cx="2607300" cy="43200"/>
          </a:xfrm>
          <a:prstGeom prst="rect">
            <a:avLst/>
          </a:prstGeom>
          <a:solidFill>
            <a:srgbClr val="CC3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17900" y="1728000"/>
            <a:ext cx="2319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CC3399"/>
                </a:solidFill>
                <a:latin typeface="Courier New"/>
              </a:rPr>
              <a:t>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17900" y="2123999"/>
            <a:ext cx="23193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EDF2"/>
                </a:solidFill>
                <a:latin typeface="Calibri"/>
              </a:rPr>
              <a:t>Coverage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17900" y="2412000"/>
            <a:ext cx="2319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CBE"/>
                </a:solidFill>
                <a:latin typeface="Calibri"/>
              </a:rPr>
              <a:t>Prescribed dose adequately covers the target volume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000" y="2880000"/>
            <a:ext cx="2607300" cy="115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000" y="2880000"/>
            <a:ext cx="2607300" cy="43200"/>
          </a:xfrm>
          <a:prstGeom prst="rect">
            <a:avLst/>
          </a:prstGeom>
          <a:solidFill>
            <a:srgbClr val="EE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000" y="2988000"/>
            <a:ext cx="2319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EE3333"/>
                </a:solidFill>
                <a:latin typeface="Courier New"/>
              </a:rPr>
              <a:t>H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56000" y="3383999"/>
            <a:ext cx="23193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EDF2"/>
                </a:solidFill>
                <a:latin typeface="Calibri"/>
              </a:rPr>
              <a:t>Heterogeneity/Hotspots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56000" y="3672000"/>
            <a:ext cx="2319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CBE"/>
                </a:solidFill>
                <a:latin typeface="Calibri"/>
              </a:rPr>
              <a:t>Internal dose variation — acceptable high and low dose regions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399300" y="2880000"/>
            <a:ext cx="2607300" cy="115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399300" y="2880000"/>
            <a:ext cx="2607300" cy="43200"/>
          </a:xfrm>
          <a:prstGeom prst="rect">
            <a:avLst/>
          </a:prstGeom>
          <a:solidFill>
            <a:srgbClr val="FF88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43300" y="2988000"/>
            <a:ext cx="2319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8822"/>
                </a:solidFill>
                <a:latin typeface="Courier New"/>
              </a:rPr>
              <a:t>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43300" y="3383999"/>
            <a:ext cx="23193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EDF2"/>
                </a:solidFill>
                <a:latin typeface="Calibri"/>
              </a:rPr>
              <a:t>Organs at Risk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543300" y="3672000"/>
            <a:ext cx="2319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CBE"/>
                </a:solidFill>
                <a:latin typeface="Calibri"/>
              </a:rPr>
              <a:t>OAR doses respect clinical constraints for each organ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86600" y="2880000"/>
            <a:ext cx="2607300" cy="115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186600" y="2880000"/>
            <a:ext cx="2607300" cy="43200"/>
          </a:xfrm>
          <a:prstGeom prst="rect">
            <a:avLst/>
          </a:prstGeom>
          <a:solidFill>
            <a:srgbClr val="FFDD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30600" y="2988000"/>
            <a:ext cx="2319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DD22"/>
                </a:solidFill>
                <a:latin typeface="Courier New"/>
              </a:rPr>
              <a:t>P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330600" y="3383999"/>
            <a:ext cx="23193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EDF2"/>
                </a:solidFill>
                <a:latin typeface="Calibri"/>
              </a:rPr>
              <a:t>Prescription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30600" y="3672000"/>
            <a:ext cx="2319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CBE"/>
                </a:solidFill>
                <a:latin typeface="Calibri"/>
              </a:rPr>
              <a:t>Correct dose, fractionation, normalisation, laterality documented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973900" y="2880000"/>
            <a:ext cx="2607300" cy="115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973900" y="2880000"/>
            <a:ext cx="2607300" cy="43200"/>
          </a:xfrm>
          <a:prstGeom prst="rect">
            <a:avLst/>
          </a:prstGeom>
          <a:solidFill>
            <a:srgbClr val="77CC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9117900" y="2988000"/>
            <a:ext cx="23193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77CC33"/>
                </a:solidFill>
                <a:latin typeface="Courier New"/>
              </a:rPr>
              <a:t>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17900" y="3383999"/>
            <a:ext cx="23193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E8EDF2"/>
                </a:solidFill>
                <a:latin typeface="Calibri"/>
              </a:rPr>
              <a:t>Summation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17900" y="3672000"/>
            <a:ext cx="23193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9AACBE"/>
                </a:solidFill>
                <a:latin typeface="Calibri"/>
              </a:rPr>
              <a:t>Cumulative dose from all courses — or explicitly acknowledge none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2000" y="4248000"/>
            <a:ext cx="5340600" cy="576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2000" y="4248000"/>
            <a:ext cx="64800" cy="57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10000" y="4320000"/>
            <a:ext cx="5070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Start with Prescription. It defines treatment intent — confirm it before anything else.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240600" y="4248000"/>
            <a:ext cx="5340600" cy="576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240600" y="4248000"/>
            <a:ext cx="64800" cy="576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438600" y="4320000"/>
            <a:ext cx="5070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The letters are a safety net, not a script. Work in whatever order the plan demands.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9933B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078000"/>
            <a:ext cx="72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7A2896"/>
                </a:solidFill>
                <a:latin typeface="Courier New"/>
              </a:rPr>
              <a:t>01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21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CCAADD"/>
                </a:solidFill>
                <a:latin typeface="Courier New"/>
              </a:rPr>
              <a:t>BLOCK 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34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0" b="1" i="0">
                <a:solidFill>
                  <a:srgbClr val="E8EDF2"/>
                </a:solidFill>
                <a:latin typeface="Courier New"/>
              </a:rPr>
              <a:t>B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1999" y="648000"/>
            <a:ext cx="25200" cy="54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0" y="900000"/>
            <a:ext cx="75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8EDF2"/>
                </a:solidFill>
                <a:latin typeface="Calibri"/>
              </a:rPr>
              <a:t>Beams &amp;
Technical Quality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2592000"/>
            <a:ext cx="3420000" cy="468000"/>
          </a:xfrm>
          <a:prstGeom prst="rect">
            <a:avLst/>
          </a:prstGeom>
          <a:solidFill>
            <a:srgbClr val="7A2895"/>
          </a:solidFill>
          <a:ln w="12700"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2000" y="2628000"/>
            <a:ext cx="331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ourier New"/>
              </a:rPr>
              <a:t>⏱ 12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0" y="3311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Isocentre placement — position and tissue type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779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Beam geometry, entry angles and arrangement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4247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MLC shaping, collimation and flash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4715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Wedges, field-in-field and dose shaping tools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20000" y="5183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MU sanity check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73200" y="6498000"/>
            <a:ext cx="73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Courier New"/>
              </a:rPr>
              <a:t>3DCRT Plan Evaluation · Theory Module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BLOCK B · BEAM ARRANGEMENT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000" y="720000"/>
            <a:ext cx="10969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2"/>
                </a:solidFill>
                <a:latin typeface="Calibri"/>
              </a:rPr>
              <a:t>Every beam should reach the target by the most direct, safest route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000" y="1584000"/>
            <a:ext cx="3536400" cy="4266001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1584000"/>
            <a:ext cx="3536400" cy="64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20000" y="1728000"/>
            <a:ext cx="1620000" cy="360000"/>
          </a:xfrm>
          <a:prstGeom prst="rect">
            <a:avLst/>
          </a:prstGeom>
          <a:solidFill>
            <a:srgbClr val="2E1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20000" y="172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E97132"/>
                </a:solidFill>
                <a:latin typeface="Courier New"/>
              </a:rPr>
              <a:t>UNAVOIDABLE</a:t>
            </a:r>
          </a:p>
        </p:txBody>
      </p:sp>
      <p:sp>
        <p:nvSpPr>
          <p:cNvPr id="9" name="Rectangle 8"/>
          <p:cNvSpPr/>
          <p:nvPr/>
        </p:nvSpPr>
        <p:spPr>
          <a:xfrm>
            <a:off x="2412000" y="1728000"/>
            <a:ext cx="1620000" cy="360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12000" y="172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ACBE"/>
                </a:solidFill>
                <a:latin typeface="Courier New"/>
              </a:rPr>
              <a:t>ACCEPTABLE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20000" y="2196000"/>
            <a:ext cx="332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E97132"/>
                </a:solidFill>
                <a:latin typeface="Calibri"/>
              </a:rPr>
              <a:t>4-field box — beams transit OARs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2700000"/>
            <a:ext cx="3320400" cy="304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Whole pelvis, bilateral treatment — OAR transit is geometry-driven. Document field weighting; manage with DVH.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400" y="1584000"/>
            <a:ext cx="3536400" cy="4266001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8400" y="1584000"/>
            <a:ext cx="3536400" cy="648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436400" y="1728000"/>
            <a:ext cx="1620000" cy="360000"/>
          </a:xfrm>
          <a:prstGeom prst="rect">
            <a:avLst/>
          </a:prstGeom>
          <a:solidFill>
            <a:srgbClr val="2A0C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6400" y="172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D44040"/>
                </a:solidFill>
                <a:latin typeface="Courier New"/>
              </a:rPr>
              <a:t>AVOIDABLE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8400" y="1728000"/>
            <a:ext cx="1620000" cy="360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8400" y="172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ACBE"/>
                </a:solidFill>
                <a:latin typeface="Courier New"/>
              </a:rPr>
              <a:t>RE-ANGLE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36400" y="2196000"/>
            <a:ext cx="332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F06A6A"/>
                </a:solidFill>
                <a:latin typeface="Calibri"/>
              </a:rPr>
              <a:t>Beam transits OAR before reaching PTV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36400" y="2700000"/>
            <a:ext cx="3320400" cy="304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Left lateral must pass through OAR en route to PTV. This is avoidable — enter from the contralateral side.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044800" y="1584000"/>
            <a:ext cx="3536400" cy="4266001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044800" y="1584000"/>
            <a:ext cx="3536400" cy="648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52800" y="1728000"/>
            <a:ext cx="1620000" cy="360000"/>
          </a:xfrm>
          <a:prstGeom prst="rect">
            <a:avLst/>
          </a:prstGeom>
          <a:solidFill>
            <a:srgbClr val="08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52800" y="172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9A35B"/>
                </a:solidFill>
                <a:latin typeface="Courier New"/>
              </a:rPr>
              <a:t>SOLUTION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844800" y="1728000"/>
            <a:ext cx="1620000" cy="360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844800" y="1728000"/>
            <a:ext cx="1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9AACBE"/>
                </a:solidFill>
                <a:latin typeface="Courier New"/>
              </a:rPr>
              <a:t>IPSILATERAL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52800" y="2196000"/>
            <a:ext cx="3320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 i="0">
                <a:solidFill>
                  <a:srgbClr val="29A35B"/>
                </a:solidFill>
                <a:latin typeface="Calibri"/>
              </a:rPr>
              <a:t>Enter from the OAR-free side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52800" y="2700000"/>
            <a:ext cx="3320400" cy="304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AP + ipsilateral lateral — OAR on the contralateral side receives no direct beam dose.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12000" y="6066000"/>
            <a:ext cx="10969200" cy="576000"/>
          </a:xfrm>
          <a:prstGeom prst="rect">
            <a:avLst/>
          </a:prstGeom>
          <a:solidFill>
            <a:srgbClr val="1A2E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56000" y="6102000"/>
            <a:ext cx="106812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FFDD44"/>
                </a:solidFill>
                <a:latin typeface="Calibri"/>
              </a:rPr>
              <a:t>Before accepting any OAR transit — ask: is there a beam arrangement that avoids it? If yes, use it. If no, document why.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BLOCK B · TECHNICAL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51246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D44040"/>
                </a:solidFill>
                <a:latin typeface="Calibri"/>
              </a:rPr>
              <a:t>Technical red flags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6600" y="936000"/>
            <a:ext cx="51246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29A35B"/>
                </a:solidFill>
                <a:latin typeface="Calibri"/>
              </a:rPr>
              <a:t>Technical quality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1512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" y="1512000"/>
            <a:ext cx="64800" cy="612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620000"/>
            <a:ext cx="1260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620000"/>
            <a:ext cx="122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4040"/>
                </a:solidFill>
                <a:latin typeface="Courier New"/>
              </a:rPr>
              <a:t>RISK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0" y="1620000"/>
            <a:ext cx="3468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Isocentre in lung, air, or density interface — dose calculations unreliable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" y="2178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" y="2178000"/>
            <a:ext cx="64800" cy="612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6000" y="2286000"/>
            <a:ext cx="1260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2286000"/>
            <a:ext cx="122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4040"/>
                </a:solidFill>
                <a:latin typeface="Courier New"/>
              </a:rPr>
              <a:t>RISK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60000" y="2286000"/>
            <a:ext cx="3468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Beam transiting directly through a critical serial OAR — re-angle if any workable alternative exists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" y="2844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000" y="2844000"/>
            <a:ext cx="64800" cy="612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6000" y="2952000"/>
            <a:ext cx="1260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2952000"/>
            <a:ext cx="122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D44040"/>
                </a:solidFill>
                <a:latin typeface="Courier New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60000" y="2952000"/>
            <a:ext cx="3468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Hot spot outside the PTV — in skin, bowel, or OAR it is unacceptable regardless of magnitude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" y="3510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000" y="3510000"/>
            <a:ext cx="64800" cy="612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6000" y="3618000"/>
            <a:ext cx="1260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3618000"/>
            <a:ext cx="122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7132"/>
                </a:solidFill>
                <a:latin typeface="Courier New"/>
              </a:rPr>
              <a:t>MAJOR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160000" y="3618000"/>
            <a:ext cx="3468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MLC clipped tight to PTV edge — no penumbra margin means a cold rim on every beam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00" y="4176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000" y="4176000"/>
            <a:ext cx="64800" cy="612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6000" y="4284000"/>
            <a:ext cx="1260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000" y="4284000"/>
            <a:ext cx="122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E97132"/>
                </a:solidFill>
                <a:latin typeface="Courier New"/>
              </a:rPr>
              <a:t>MAJOR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60000" y="4284000"/>
            <a:ext cx="34686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8EDF2"/>
                </a:solidFill>
                <a:latin typeface="Calibri"/>
              </a:rPr>
              <a:t>Normalisation point in unstable tissue — lung, air, interface — every DVH number unreliable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56600" y="1512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56600" y="1512000"/>
            <a:ext cx="64800" cy="612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6600" y="1637999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✓  Isocentre — centred in PTV; not in lung or density interface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6600" y="2178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6600" y="2178000"/>
            <a:ext cx="64800" cy="612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6600" y="2303999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✓  Beam weighting — re-weight to pull hot spot into target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6600" y="2844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56600" y="2844000"/>
            <a:ext cx="64800" cy="612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36600" y="2969999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✓  Wedges — tilt isodoses to compensate for sloping surface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456600" y="3510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456600" y="3510000"/>
            <a:ext cx="64800" cy="612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36600" y="3635999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✓  Field-in-field (FiF) — sub-segments block emerging hot spots; routine in breast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56600" y="4176000"/>
            <a:ext cx="5124600" cy="61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56600" y="4176000"/>
            <a:ext cx="64800" cy="612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36600" y="4301999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✓  Monitor units — sanity check; excess MU adds scatter to whole patient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BLOCK B · TECHNICAL QUALITY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10969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E8EDF2"/>
                </a:solidFill>
                <a:latin typeface="Calibri"/>
              </a:rPr>
              <a:t>Hot spots, dose gradient &amp; integral dose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1764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97132"/>
                </a:solidFill>
                <a:latin typeface="Calibri"/>
              </a:rPr>
              <a:t>▶  Hot spot — location, not just size.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12000" y="2088000"/>
            <a:ext cx="512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A 107% inside the PTV is fine; the same 107% in skin or an OAR is not. Location governs acceptability.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000" y="2628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97132"/>
                </a:solidFill>
                <a:latin typeface="Calibri"/>
              </a:rPr>
              <a:t>▶  Dose gradient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000" y="2952000"/>
            <a:ext cx="512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Dose should fall steeply between the PTV edge and any adjacent OAR. Check isodose slices for every beam entry.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" y="3492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E97132"/>
                </a:solidFill>
                <a:latin typeface="Calibri"/>
              </a:rPr>
              <a:t>▶  Integral dose / MU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000" y="3816000"/>
            <a:ext cx="512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Sanity-check the monitor units. Excess MU adds scatter and integral dose to the whole patient.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56600" y="1764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9AACBE"/>
                </a:solidFill>
                <a:latin typeface="Calibri"/>
              </a:rPr>
              <a:t>Don't just ask HOW BIG — ask WHERE it sits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56600" y="2160000"/>
            <a:ext cx="5124600" cy="1845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56600" y="2160000"/>
            <a:ext cx="5124600" cy="648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00600" y="2304000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29A35B"/>
                </a:solidFill>
                <a:latin typeface="Calibri"/>
              </a:rPr>
              <a:t>Hot spot INSIDE the PTV — acceptable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600" y="2736000"/>
            <a:ext cx="4836600" cy="11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107% inside the target is expected in 3DCRT. The prescription point is normalised to ~100%; a modest hotspot in the tumour itself is clinically acceptable.
Monitor: ensure D2% &lt; 107%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6600" y="4113000"/>
            <a:ext cx="5124600" cy="1845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6600" y="4113000"/>
            <a:ext cx="5124600" cy="648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00600" y="4257000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F06A6A"/>
                </a:solidFill>
                <a:latin typeface="Calibri"/>
              </a:rPr>
              <a:t>Hot spot OUTSIDE the PTV — concern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00600" y="4689000"/>
            <a:ext cx="4836600" cy="1125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In OAR or skin = PROBLEM regardless of magnitude.
Causes: deep isocentre, unweighted beams, density heterogeneity.
Action: move iso, adjust weighting, check BEV.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6138000"/>
            <a:ext cx="10969200" cy="503999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" y="6174000"/>
            <a:ext cx="106812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E97132"/>
                </a:solidFill>
                <a:latin typeface="Calibri"/>
              </a:rPr>
              <a:t>"The same hot spot is acceptable inside the PTV and a problem outside it"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C339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078000"/>
            <a:ext cx="72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A3287A"/>
                </a:solidFill>
                <a:latin typeface="Courier New"/>
              </a:rPr>
              <a:t>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21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DAACC"/>
                </a:solidFill>
                <a:latin typeface="Courier New"/>
              </a:rPr>
              <a:t>BLOCK TWO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34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0" b="1" i="0">
                <a:solidFill>
                  <a:srgbClr val="E8EDF2"/>
                </a:solidFill>
                <a:latin typeface="Courier New"/>
              </a:rPr>
              <a:t>C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1999" y="648000"/>
            <a:ext cx="25200" cy="54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0" y="900000"/>
            <a:ext cx="75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8EDF2"/>
                </a:solidFill>
                <a:latin typeface="Calibri"/>
              </a:rPr>
              <a:t>Coverage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2592000"/>
            <a:ext cx="3420000" cy="468000"/>
          </a:xfrm>
          <a:prstGeom prst="rect">
            <a:avLst/>
          </a:prstGeom>
          <a:solidFill>
            <a:srgbClr val="A3287A"/>
          </a:solidFill>
          <a:ln w="12700"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2000" y="2628000"/>
            <a:ext cx="331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ourier New"/>
              </a:rPr>
              <a:t>⏱ 10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0" y="3311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Volume hierarchy: GTV → CTV → ITV → PTV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779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Reading the DVH — V-metrics and D-metrics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4247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D95, D2, homogeneity index (HI), conformity index (CI)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4715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Where cold spots live and when they matter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3200" y="6498000"/>
            <a:ext cx="73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Courier New"/>
              </a:rPr>
              <a:t>3DCRT Plan Evaluation · Theory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BLOCK C · TARGET COVERAGE — DVH &amp; VOLUMES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First: name your volumes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66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The DVH — your primary instrument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1548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" y="1548000"/>
            <a:ext cx="64800" cy="648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1638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D44040"/>
                </a:solidFill>
                <a:latin typeface="Courier New"/>
              </a:rPr>
              <a:t>GTV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64000" y="1656000"/>
            <a:ext cx="386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Gross Tumour Volume — what you can see, palpate or image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2250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000" y="2250000"/>
            <a:ext cx="64800" cy="648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340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E97132"/>
                </a:solidFill>
                <a:latin typeface="Courier New"/>
              </a:rPr>
              <a:t>CTV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000" y="2358000"/>
            <a:ext cx="386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GTV + suspected microscopic spread — the true clinical target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2952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" y="2952000"/>
            <a:ext cx="64800" cy="648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042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0F9ED5"/>
                </a:solidFill>
                <a:latin typeface="Courier New"/>
              </a:rPr>
              <a:t>ITV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64000" y="3060000"/>
            <a:ext cx="386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CTV + internal motion margin (ICRU 62)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" y="3654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000" y="3654000"/>
            <a:ext cx="64800" cy="648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2000" y="3744000"/>
            <a:ext cx="9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29A35B"/>
                </a:solidFill>
                <a:latin typeface="Courier New"/>
              </a:rPr>
              <a:t>PTV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64000" y="3762000"/>
            <a:ext cx="3864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ITV/CTV + set-up uncertainty — the geometric safety margin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2000" y="4428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12000" y="4428000"/>
            <a:ext cx="64800" cy="648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0000" y="4500000"/>
            <a:ext cx="48546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We prescribe to and evaluate the PTV — but the clinical aim is to cover the CTV.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56600" y="1548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56600" y="1548000"/>
            <a:ext cx="64800" cy="648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6600" y="1656000"/>
            <a:ext cx="483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Collapses 3-D distribution into one readable curve — every point: what volume gets ≥ this dose?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6600" y="2250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56600" y="2250000"/>
            <a:ext cx="64800" cy="648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6600" y="2358000"/>
            <a:ext cx="483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Read UP from a dose → V-metric (V95, V20 …)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56600" y="2952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56600" y="2952000"/>
            <a:ext cx="64800" cy="648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6600" y="3060000"/>
            <a:ext cx="483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Read ACROSS from a volume → D-metric (D95, D2 … ICRU 83 preferred)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6600" y="3654000"/>
            <a:ext cx="51246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6600" y="3654000"/>
            <a:ext cx="64800" cy="648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6600" y="3762000"/>
            <a:ext cx="48366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F06A6A"/>
                </a:solidFill>
                <a:latin typeface="Calibri"/>
              </a:rPr>
              <a:t>No spatial information — never tells you WHERE the cold or hot spot sits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456600" y="4392000"/>
            <a:ext cx="5124600" cy="648000"/>
          </a:xfrm>
          <a:prstGeom prst="rect">
            <a:avLst/>
          </a:prstGeom>
          <a:solidFill>
            <a:srgbClr val="28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456600" y="4392000"/>
            <a:ext cx="64800" cy="648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54600" y="4464000"/>
            <a:ext cx="48546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The DVH screens; the isodose slices diagnose. Always scroll every plane before you trust the DVH.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BLOCK C · COVERAGE METRICS &amp; HOMOGENEITY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The numbers that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" y="1548000"/>
            <a:ext cx="51246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000" y="1548000"/>
            <a:ext cx="51246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1692000"/>
            <a:ext cx="1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F9ED5"/>
                </a:solidFill>
                <a:latin typeface="Courier New"/>
              </a:rPr>
              <a:t>D95%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2268000"/>
            <a:ext cx="4836600" cy="43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Volume of PTV receiving ≥95% of prescription.
Standard aim: D95 ≥ 95%.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6600" y="1548000"/>
            <a:ext cx="51246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56600" y="1548000"/>
            <a:ext cx="5124600" cy="64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00600" y="1692000"/>
            <a:ext cx="1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E97132"/>
                </a:solidFill>
                <a:latin typeface="Courier New"/>
              </a:rPr>
              <a:t>D2%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00600" y="2268000"/>
            <a:ext cx="4836600" cy="43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Near-maximum — hotspot criterion.
ICRU 83: D2% &lt; 107%. Hotspot should sit inside the target.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2000" y="2916000"/>
            <a:ext cx="51246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2000" y="2916000"/>
            <a:ext cx="5124600" cy="648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6000" y="3060000"/>
            <a:ext cx="1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29A35B"/>
                </a:solidFill>
                <a:latin typeface="Courier New"/>
              </a:rPr>
              <a:t>HI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6000" y="3636000"/>
            <a:ext cx="4836600" cy="43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(D2−D98) ÷ D50. Lower = flatter.
&lt; 0.1 good  ·  &lt; 0.15 acceptable.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6600" y="2916000"/>
            <a:ext cx="51246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6600" y="2916000"/>
            <a:ext cx="5124600" cy="64800"/>
          </a:xfrm>
          <a:prstGeom prst="rect">
            <a:avLst/>
          </a:prstGeom>
          <a:solidFill>
            <a:srgbClr val="9A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00600" y="3060000"/>
            <a:ext cx="14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9AACBE"/>
                </a:solidFill>
                <a:latin typeface="Courier New"/>
              </a:rPr>
              <a:t>CI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00600" y="3636000"/>
            <a:ext cx="4836600" cy="4320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PIV ÷ TV. Ideal 1.0–1.2.
Higher values expected and acceptable in 3DCRT.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" y="4392000"/>
            <a:ext cx="5340600" cy="864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000" y="4392000"/>
            <a:ext cx="64800" cy="864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10000" y="4464000"/>
            <a:ext cx="50706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Why D98/D2 not Dmin/Dmax? Dmin and Dmax are single-voxel point doses — statistically noisy, shifting with grid size. ICRU 83 replaced them with D98% and D2%: clinically equivalent but stable plan-to-plan.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240600" y="4392000"/>
            <a:ext cx="5340600" cy="864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40600" y="4392000"/>
            <a:ext cx="64800" cy="864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38600" y="4464000"/>
            <a:ext cx="50706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Coverage is negotiable where PTV abuts a serial OAR — accept a small underdose at the overlap. Safety wins. Know where the cold sits.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882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078000"/>
            <a:ext cx="72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CC6A18"/>
                </a:solidFill>
                <a:latin typeface="Courier New"/>
              </a:rPr>
              <a:t>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21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CC99"/>
                </a:solidFill>
                <a:latin typeface="Courier New"/>
              </a:rPr>
              <a:t>BLOCK THREE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34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0" b="1" i="0">
                <a:solidFill>
                  <a:srgbClr val="E8EDF2"/>
                </a:solidFill>
                <a:latin typeface="Courier New"/>
              </a:rPr>
              <a:t>O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1999" y="648000"/>
            <a:ext cx="25200" cy="54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0" y="900000"/>
            <a:ext cx="75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8EDF2"/>
                </a:solidFill>
                <a:latin typeface="Calibri"/>
              </a:rPr>
              <a:t>Organs at Risk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2592000"/>
            <a:ext cx="3420000" cy="468000"/>
          </a:xfrm>
          <a:prstGeom prst="rect">
            <a:avLst/>
          </a:prstGeom>
          <a:solidFill>
            <a:srgbClr val="CC6C1B"/>
          </a:solidFill>
          <a:ln w="12700"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2000" y="2628000"/>
            <a:ext cx="331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ourier New"/>
              </a:rPr>
              <a:t>⏱ 10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0" y="3311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Serial vs parallel organ architecture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779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Matching the right metric: Dmax vs mean vs Vx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4247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QUANTEC constraints — the working reference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4715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PRV margins and tolerance negotiation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3200" y="6498000"/>
            <a:ext cx="73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Courier New"/>
              </a:rPr>
              <a:t>3DCRT Plan Evaluation · Theory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BLOCK O · OAR CONSTRAINTS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10969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2"/>
                </a:solidFill>
                <a:latin typeface="Calibri"/>
              </a:rPr>
              <a:t>Architecture decides the metric — getting this wrong is a class of error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" y="1800000"/>
            <a:ext cx="5124600" cy="3906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000" y="1800000"/>
            <a:ext cx="5124600" cy="64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980000"/>
            <a:ext cx="47646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E97132"/>
                </a:solidFill>
                <a:latin typeface="Calibri"/>
              </a:rPr>
              <a:t>Serial organs</a:t>
            </a:r>
          </a:p>
        </p:txBody>
      </p:sp>
      <p:sp>
        <p:nvSpPr>
          <p:cNvPr id="9" name="Rectangle 8"/>
          <p:cNvSpPr/>
          <p:nvPr/>
        </p:nvSpPr>
        <p:spPr>
          <a:xfrm>
            <a:off x="792000" y="2520000"/>
            <a:ext cx="4764600" cy="360000"/>
          </a:xfrm>
          <a:prstGeom prst="rect">
            <a:avLst/>
          </a:prstGeom>
          <a:solidFill>
            <a:srgbClr val="3A1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8000" y="2537999"/>
            <a:ext cx="4692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7132"/>
                </a:solidFill>
                <a:latin typeface="Courier New"/>
              </a:rPr>
              <a:t>Metric: Dmax or D1cc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2988000"/>
            <a:ext cx="476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One failed sub-unit = organ failure. Even a small dose spike above tolerance causes irreversible damage.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2000" y="3600000"/>
            <a:ext cx="476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Spinal cord  ·  Brainstem  ·  Optic chiasm  ·  Optic nerves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2000" y="3960000"/>
            <a:ext cx="4764600" cy="46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2000" y="3960000"/>
            <a:ext cx="64800" cy="468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0000" y="4032000"/>
            <a:ext cx="449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Apply a PRV margin. Evaluate dose to the PRV, not the bare organ contour.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92000" y="4536000"/>
            <a:ext cx="476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ourier New"/>
              </a:rPr>
              <a:t>Cord ≤45 Gy  ·  Brainstem ≤54 Gy  ·  Chiasm ≤54 Gy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56600" y="1800000"/>
            <a:ext cx="5124600" cy="3906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456600" y="1800000"/>
            <a:ext cx="51246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36600" y="1980000"/>
            <a:ext cx="47646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F9ED5"/>
                </a:solidFill>
                <a:latin typeface="Calibri"/>
              </a:rPr>
              <a:t>Parallel organs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36600" y="2520000"/>
            <a:ext cx="4764600" cy="360000"/>
          </a:xfrm>
          <a:prstGeom prst="rect">
            <a:avLst/>
          </a:prstGeom>
          <a:solidFill>
            <a:srgbClr val="0E2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2600" y="2537999"/>
            <a:ext cx="4692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9ED5"/>
                </a:solidFill>
                <a:latin typeface="Courier New"/>
              </a:rPr>
              <a:t>Metric: Mean dose or Vx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36600" y="2988000"/>
            <a:ext cx="476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Redundant sub-units — organ tolerates partial irradiation. Widespread low dose depletes functional reserve.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36600" y="3600000"/>
            <a:ext cx="476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Lung  ·  Liver  ·  Kidney  ·  Parotid gland  ·  Bowel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636600" y="3960000"/>
            <a:ext cx="4764600" cy="46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636600" y="3960000"/>
            <a:ext cx="64800" cy="468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34600" y="4032000"/>
            <a:ext cx="449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Mean dose predicts function loss; Vx sets the toxicity threshold. Both matter.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36600" y="4536000"/>
            <a:ext cx="476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ourier New"/>
              </a:rPr>
              <a:t>Lung V20 &lt;30%  ·  Parotid mean &lt;26 Gy  ·  Rectum V70 &lt;20%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000" y="5922000"/>
            <a:ext cx="10969200" cy="64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12000" y="5922000"/>
            <a:ext cx="64800" cy="648000"/>
          </a:xfrm>
          <a:prstGeom prst="rect">
            <a:avLst/>
          </a:prstGeom>
          <a:solidFill>
            <a:srgbClr val="9A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0000" y="5994000"/>
            <a:ext cx="106992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Constraints are not absolutes. Re-irradiation, concurrent chemotherapy, comorbidities, and treatment intent all move the line.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7CC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0000" y="3078000"/>
            <a:ext cx="7200000" cy="39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0" b="1" i="0">
                <a:solidFill>
                  <a:srgbClr val="5EA328"/>
                </a:solidFill>
                <a:latin typeface="Courier New"/>
              </a:rPr>
              <a:t>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0000" y="6210000"/>
            <a:ext cx="540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BBEE88"/>
                </a:solidFill>
                <a:latin typeface="Courier New"/>
              </a:rPr>
              <a:t>BLOCK FOUR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20000"/>
            <a:ext cx="342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0" b="1" i="0">
                <a:solidFill>
                  <a:srgbClr val="E8EDF2"/>
                </a:solidFill>
                <a:latin typeface="Courier New"/>
              </a:rPr>
              <a:t>P·S</a:t>
            </a:r>
          </a:p>
        </p:txBody>
      </p:sp>
      <p:sp>
        <p:nvSpPr>
          <p:cNvPr id="5" name="Rectangle 4"/>
          <p:cNvSpPr/>
          <p:nvPr/>
        </p:nvSpPr>
        <p:spPr>
          <a:xfrm>
            <a:off x="4031999" y="648000"/>
            <a:ext cx="25200" cy="5490000"/>
          </a:xfrm>
          <a:prstGeom prst="rect">
            <a:avLst/>
          </a:prstGeom>
          <a:solidFill>
            <a:srgbClr val="CCCC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320000" y="900000"/>
            <a:ext cx="7560000" cy="16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E8EDF2"/>
                </a:solidFill>
                <a:latin typeface="Calibri"/>
              </a:rPr>
              <a:t>Prescription &amp;
Summation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4320000" y="2592000"/>
            <a:ext cx="3420000" cy="468000"/>
          </a:xfrm>
          <a:prstGeom prst="rect">
            <a:avLst/>
          </a:prstGeom>
          <a:solidFill>
            <a:srgbClr val="5FA328"/>
          </a:solidFill>
          <a:ln w="12700">
            <a:solidFill>
              <a:srgbClr val="E8ED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92000" y="2628000"/>
            <a:ext cx="3311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ourier New"/>
              </a:rPr>
              <a:t>⏱ 8 MINUTES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20000" y="3311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Verifying dose, fractionation and normalisation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20000" y="3779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Laterality, intent and plan documentation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20000" y="4247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Cumulative dose — or acknowledging none to sum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20000" y="4715999"/>
            <a:ext cx="756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0" i="0">
                <a:solidFill>
                  <a:srgbClr val="EEEEEE"/>
                </a:solidFill>
                <a:latin typeface="Calibri"/>
              </a:rPr>
              <a:t>●  Triage: critical, major, minor — and the gut-check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73200" y="6498000"/>
            <a:ext cx="73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0" i="0">
                <a:solidFill>
                  <a:srgbClr val="999999"/>
                </a:solidFill>
                <a:latin typeface="Courier New"/>
              </a:rPr>
              <a:t>3DCRT Plan Evaluation · Theory Module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P · S — BRINGING IT TOGETHER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Sort every finding into a tier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66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Your task — the evaluation routine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1548000"/>
            <a:ext cx="5124600" cy="720000"/>
          </a:xfrm>
          <a:prstGeom prst="rect">
            <a:avLst/>
          </a:prstGeom>
          <a:solidFill>
            <a:srgbClr val="28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56000" y="1692000"/>
            <a:ext cx="1980000" cy="396000"/>
          </a:xfrm>
          <a:prstGeom prst="rect">
            <a:avLst/>
          </a:prstGeom>
          <a:solidFill>
            <a:srgbClr val="6A2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2000" y="1692000"/>
            <a:ext cx="19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D44040"/>
                </a:solidFill>
                <a:latin typeface="Courier New"/>
              </a:rPr>
              <a:t>CRITICAL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80000" y="1728000"/>
            <a:ext cx="271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Re-plan required — geographic miss · serial OAR above hard limit · hot spot in critical organ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2358000"/>
            <a:ext cx="5124600" cy="720000"/>
          </a:xfrm>
          <a:prstGeom prst="rect">
            <a:avLst/>
          </a:prstGeom>
          <a:solidFill>
            <a:srgbClr val="2818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000" y="2502000"/>
            <a:ext cx="1980000" cy="396000"/>
          </a:xfrm>
          <a:prstGeom prst="rect">
            <a:avLst/>
          </a:prstGeom>
          <a:solidFill>
            <a:srgbClr val="74381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502000"/>
            <a:ext cx="19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E97132"/>
                </a:solidFill>
                <a:latin typeface="Courier New"/>
              </a:rPr>
              <a:t>MAJOR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2538000"/>
            <a:ext cx="271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Correct or justify — parallel OAR over constraint · V95 90–95% · avoidable beam through OAR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3168000"/>
            <a:ext cx="5124600" cy="720000"/>
          </a:xfrm>
          <a:prstGeom prst="rect">
            <a:avLst/>
          </a:prstGeom>
          <a:solidFill>
            <a:srgbClr val="0A1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756000" y="3312000"/>
            <a:ext cx="1980000" cy="396000"/>
          </a:xfrm>
          <a:prstGeom prst="rect">
            <a:avLst/>
          </a:prstGeom>
          <a:solidFill>
            <a:srgbClr val="074F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2000" y="3312000"/>
            <a:ext cx="1944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F9ED5"/>
                </a:solidFill>
                <a:latin typeface="Courier New"/>
              </a:rPr>
              <a:t>MINOR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3348000"/>
            <a:ext cx="2712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Comment only — slightly high MU · non-ideal isocentre · minor inhomogeneity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" y="4014000"/>
            <a:ext cx="5124600" cy="90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000" y="4014000"/>
            <a:ext cx="5124600" cy="648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6000" y="4158000"/>
            <a:ext cx="4836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06A6A"/>
                </a:solidFill>
                <a:latin typeface="Calibri"/>
              </a:rPr>
              <a:t>Reject on sight if…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56000" y="4481999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1. Cold dose reaching into the CTV  ·  2. Serial OAR exceeds hard tolerance  ·  3. Plan is unsafe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56600" y="1548000"/>
            <a:ext cx="5124600" cy="72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56600" y="1548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36600" y="1656000"/>
            <a:ext cx="4836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Prescription → Contours → Beams → Isodose visual → Coverage → Hotspots → DVH → OARs → Decision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56600" y="2322000"/>
            <a:ext cx="5124600" cy="72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456600" y="2322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6600" y="2430000"/>
            <a:ext cx="4836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Visual review BEFORE the DVH — scroll every plane first; the DVH cannot tell you WHERE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56600" y="3096000"/>
            <a:ext cx="5124600" cy="72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56600" y="3096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36600" y="3204000"/>
            <a:ext cx="4836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Name your top 3 concerns before the ideal answer is shown — this separates critical from minor thinking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456600" y="3870000"/>
            <a:ext cx="5124600" cy="72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456600" y="3870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36600" y="3978000"/>
            <a:ext cx="4836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Fix problems in the right order: contours → geometry → normalisation → optimisation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6600" y="4644000"/>
            <a:ext cx="5124600" cy="54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6600" y="4644000"/>
            <a:ext cx="64800" cy="54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4600" y="4716000"/>
            <a:ext cx="485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"Would I confidently treat my own family member with this plan?"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73200" y="-900000"/>
            <a:ext cx="4680000" cy="4680000"/>
          </a:xfrm>
          <a:prstGeom prst="rect">
            <a:avLst/>
          </a:prstGeom>
          <a:solidFill>
            <a:srgbClr val="10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540000" y="4698000"/>
            <a:ext cx="2520000" cy="252000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53200" y="2538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0" b="1" i="0">
                <a:solidFill>
                  <a:srgbClr val="0C5070"/>
                </a:solidFill>
                <a:latin typeface="Courier New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1  ·  FULL SCORECARD EXERCISE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936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EDF2"/>
                </a:solidFill>
                <a:latin typeface="Calibri"/>
              </a:rPr>
              <a:t>Whole-Breast Tangents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0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PRESCRIPTION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alibri"/>
              </a:rPr>
              <a:t>2.67 Gy × 15 = 40.05 Gy  ·  Whole breast, right side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4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84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24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4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3DCRT tangential fields  ·  MLC shaped  ·  possible FiF or wedges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48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48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88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KEY OARS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8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Heart  ·  Ipsilateral lung  ·  Contralateral breast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3636000"/>
            <a:ext cx="5760000" cy="503999"/>
          </a:xfrm>
          <a:prstGeom prst="rect">
            <a:avLst/>
          </a:prstGeom>
          <a:solidFill>
            <a:srgbClr val="1A3A18"/>
          </a:solidFill>
          <a:ln w="12700">
            <a:solidFill>
              <a:srgbClr val="29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" y="3708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A35B"/>
                </a:solidFill>
                <a:latin typeface="Courier New"/>
              </a:rPr>
              <a:t>5 minutes — score Plan A in the workshop tool. Mark every FCB-CHOPS row before we discuss.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1 · BREAST · PLAN A  ·  WHAT DO YOU SEE?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 w="12700">
            <a:solidFill>
              <a:srgbClr val="1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3087000"/>
            <a:ext cx="4764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6080"/>
                </a:solidFill>
                <a:latin typeface="Courier New"/>
              </a:rPr>
              <a:t>[ DVH  +  Isodose images go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66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What do you see?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6600" y="1512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AACBE"/>
                </a:solidFill>
                <a:latin typeface="Calibri"/>
              </a:rPr>
              <a:t>Score every FCB-CHOPS row before we discuss.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6600" y="1908000"/>
            <a:ext cx="51246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6600" y="2052000"/>
            <a:ext cx="512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9ED5"/>
                </a:solidFill>
                <a:latin typeface="Courier New"/>
              </a:rPr>
              <a:t>Guide your eye to…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6600" y="241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6600" y="241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6600" y="248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Isocentre position — depth, tissue type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6600" y="2970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6600" y="2970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6600" y="3042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Tangent field borders — crossing midline?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6600" y="3528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6600" y="3528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6600" y="3600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Flash beyond breast tissue (≥2 cm?)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6600" y="4086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6600" y="4086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6600" y="4158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Normalisation point location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6600" y="4644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56600" y="4644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600" y="4716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Hotspot magnitude and location (&lt;115%?)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6600" y="520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6600" y="520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600" y="527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Heart + lung on DVH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1 · BREAST · PLAN A —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06A6A"/>
                </a:solidFill>
                <a:latin typeface="Calibri"/>
              </a:rPr>
              <a:t>Plan A is the bad plan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566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What would have to change?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1548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12000" y="1548000"/>
            <a:ext cx="64800" cy="630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56000" y="1656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656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040"/>
                </a:solidFill>
                <a:latin typeface="Courier New"/>
              </a:rPr>
              <a:t>CRITICAL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44000" y="1673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Normalisation point in lung — every DVH number is unreliable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" y="2221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" y="2221200"/>
            <a:ext cx="64800" cy="630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6000" y="2329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2329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040"/>
                </a:solidFill>
                <a:latin typeface="Courier New"/>
              </a:rPr>
              <a:t>CRITICAL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4000" y="2347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Hotspot &gt;115% — unacceptable magnitude; likely outside PTV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" y="2894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000" y="2894400"/>
            <a:ext cx="64800" cy="630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6000" y="3002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3002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040"/>
                </a:solidFill>
                <a:latin typeface="Courier New"/>
              </a:rPr>
              <a:t>CRITICAL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4000" y="3020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Heart exceeding tolerance — cardiac dose above constraint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" y="35676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000" y="3567600"/>
            <a:ext cx="64800" cy="63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6000" y="36756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36756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Courier New"/>
              </a:rPr>
              <a:t>MAJOR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4000" y="36935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Isocentre too deep — in lung and heart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12000" y="42408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12000" y="4240800"/>
            <a:ext cx="64800" cy="63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56000" y="43488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2000" y="43488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Courier New"/>
              </a:rPr>
              <a:t>MAJOR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844000" y="43667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Fields crossing midline — unnecessary contralateral dose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000" y="4914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12000" y="4914000"/>
            <a:ext cx="64800" cy="63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56000" y="5022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2000" y="5022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Courier New"/>
              </a:rPr>
              <a:t>MAJOR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844000" y="5039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No flash applied — superficial breast under-coverage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12000" y="5587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12000" y="5587200"/>
            <a:ext cx="64800" cy="630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756000" y="5695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92000" y="5695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ourier New"/>
              </a:rPr>
              <a:t>MINOR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844000" y="5713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No wedges, no dose shaping — but secondary to the above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56600" y="1548000"/>
            <a:ext cx="5124600" cy="55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6600" y="1548000"/>
            <a:ext cx="64800" cy="558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36600" y="1638000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→  Move isocentre to breast tissue, shallower depth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56600" y="2160000"/>
            <a:ext cx="5124600" cy="55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456600" y="2160000"/>
            <a:ext cx="64800" cy="558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36600" y="2250000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→  Normalisation point into stable breast tissue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56600" y="2772000"/>
            <a:ext cx="5124600" cy="55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456600" y="2772000"/>
            <a:ext cx="64800" cy="558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36600" y="2862000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→  Tangent borders must not cross midline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456600" y="3384000"/>
            <a:ext cx="5124600" cy="55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456600" y="3384000"/>
            <a:ext cx="64800" cy="558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636600" y="3474000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→  Add ≥2 cm flash beyond breast tissue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456600" y="3996000"/>
            <a:ext cx="5124600" cy="55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6456600" y="3996000"/>
            <a:ext cx="64800" cy="558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636600" y="4086000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→  Add wedges or FiF to reduce hotspot &lt;115%</a:t>
            </a:r>
          </a:p>
        </p:txBody>
      </p:sp>
      <p:sp>
        <p:nvSpPr>
          <p:cNvPr id="57" name="Rectangle 56"/>
          <p:cNvSpPr/>
          <p:nvPr/>
        </p:nvSpPr>
        <p:spPr>
          <a:xfrm>
            <a:off x="6456600" y="4608000"/>
            <a:ext cx="5124600" cy="558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6456600" y="4608000"/>
            <a:ext cx="64800" cy="558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6636600" y="4698000"/>
            <a:ext cx="4836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alibri"/>
              </a:rPr>
              <a:t>→  Re-check heart and lung on DVH after re-plan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56600" y="5220000"/>
            <a:ext cx="5124600" cy="648000"/>
          </a:xfrm>
          <a:prstGeom prst="rect">
            <a:avLst/>
          </a:prstGeom>
          <a:solidFill>
            <a:srgbClr val="280E0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6456600" y="5220000"/>
            <a:ext cx="64800" cy="648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6654600" y="5292000"/>
            <a:ext cx="48546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This plan cannot be treated as drawn. The normalisation point failure alone makes every DVH number untrustworthy.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1 · BREAST · PLANS B &amp; C — ACCEPTABLE → GOOD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5124600" cy="64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296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7132"/>
                </a:solidFill>
                <a:latin typeface="Calibri"/>
              </a:rPr>
              <a:t>Plan B — Acceptable</a:t>
            </a:r>
          </a:p>
        </p:txBody>
      </p:sp>
      <p:sp>
        <p:nvSpPr>
          <p:cNvPr id="8" name="Rectangle 7"/>
          <p:cNvSpPr/>
          <p:nvPr/>
        </p:nvSpPr>
        <p:spPr>
          <a:xfrm>
            <a:off x="3756600" y="1080000"/>
            <a:ext cx="1800000" cy="396000"/>
          </a:xfrm>
          <a:prstGeom prst="rect">
            <a:avLst/>
          </a:prstGeom>
          <a:solidFill>
            <a:srgbClr val="2E16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6600" y="1080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97132"/>
                </a:solidFill>
                <a:latin typeface="Courier New"/>
              </a:rPr>
              <a:t>Wedges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6000" y="1584000"/>
            <a:ext cx="4836600" cy="1620000"/>
          </a:xfrm>
          <a:prstGeom prst="rect">
            <a:avLst/>
          </a:prstGeom>
          <a:solidFill>
            <a:srgbClr val="0C2035"/>
          </a:solidFill>
          <a:ln w="12700">
            <a:solidFill>
              <a:srgbClr val="1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124000"/>
            <a:ext cx="4836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6080"/>
                </a:solidFill>
                <a:latin typeface="Courier New"/>
              </a:rPr>
              <a:t>[ Plan B screenshot ]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000" y="3384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12000" y="3384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56000" y="3492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2000" y="3492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44000" y="3509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Good isocentre · norm point in breast · ≥2 cm flash · stays in midline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" y="4057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000" y="40572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56000" y="4165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2000" y="4165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44000" y="4183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Hotspot &lt;115% · heart &amp; lung within tolerance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000" y="4730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12000" y="4730400"/>
            <a:ext cx="64800" cy="630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56000" y="4838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92000" y="4838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ourier New"/>
              </a:rPr>
              <a:t>~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44000" y="4856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HI &lt; 0.15 with wedges — better than Plan A; FiF would improve further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6600" y="936000"/>
            <a:ext cx="5124600" cy="538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6600" y="936000"/>
            <a:ext cx="5124600" cy="648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0600" y="1080000"/>
            <a:ext cx="296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9A35B"/>
                </a:solidFill>
                <a:latin typeface="Calibri"/>
              </a:rPr>
              <a:t>Plan C — Good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601200" y="1080000"/>
            <a:ext cx="1800000" cy="396000"/>
          </a:xfrm>
          <a:prstGeom prst="rect">
            <a:avLst/>
          </a:prstGeom>
          <a:solidFill>
            <a:srgbClr val="0820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1080000"/>
            <a:ext cx="1800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Field-in-Field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00600" y="1584000"/>
            <a:ext cx="4836600" cy="1620000"/>
          </a:xfrm>
          <a:prstGeom prst="rect">
            <a:avLst/>
          </a:prstGeom>
          <a:solidFill>
            <a:srgbClr val="0C2035"/>
          </a:solidFill>
          <a:ln w="12700">
            <a:solidFill>
              <a:srgbClr val="1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00600" y="2124000"/>
            <a:ext cx="4836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1A6080"/>
                </a:solidFill>
                <a:latin typeface="Courier New"/>
              </a:rPr>
              <a:t>[ Plan C screenshot ]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456600" y="3384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456600" y="3384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600600" y="3492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36600" y="3492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8600" y="3509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Same coverage and OAR sparing as Plan B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56600" y="4057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6456600" y="40572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600600" y="4165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36600" y="4165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688600" y="4183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Hotspot &lt;110% · HI &lt;0.10 — homogeneous distribution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456600" y="4730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456600" y="47304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600600" y="4838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6636600" y="4838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8600" y="4856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FiF sub-segments selectively block emerging hot spots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2A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29A35B"/>
                </a:solidFill>
                <a:latin typeface="Courier New"/>
              </a:rPr>
              <a:t>TEACHING MOMENT  ·  CASE 1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12000" y="936000"/>
            <a:ext cx="10969200" cy="93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8EDF2"/>
                </a:solidFill>
                <a:latin typeface="Calibri"/>
              </a:rPr>
              <a:t>Homogeneity — why it matters and how to achieve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612000" y="1764000"/>
            <a:ext cx="3536400" cy="4194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000" y="1764000"/>
            <a:ext cx="3536400" cy="648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1908000"/>
            <a:ext cx="3248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D44040"/>
                </a:solidFill>
                <a:latin typeface="Courier New"/>
              </a:rPr>
              <a:t>BAD — No shaping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2267999"/>
            <a:ext cx="32484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D44040"/>
                </a:solidFill>
                <a:latin typeface="Courier New"/>
              </a:rPr>
              <a:t>HI &gt; 0.2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880000"/>
            <a:ext cx="3248400" cy="2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No wedges — dose piles up at beam entry. Hotspot is large and often exits the PTV. Normalisation in lung makes all numbers unreliable.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28400" y="1764000"/>
            <a:ext cx="3536400" cy="4194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28400" y="1764000"/>
            <a:ext cx="3536400" cy="64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72400" y="1908000"/>
            <a:ext cx="3248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97132"/>
                </a:solidFill>
                <a:latin typeface="Courier New"/>
              </a:rPr>
              <a:t>ACCEPTABLE — Wedges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72400" y="2267999"/>
            <a:ext cx="32484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E97132"/>
                </a:solidFill>
                <a:latin typeface="Courier New"/>
              </a:rPr>
              <a:t>HI &lt; 0.15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72400" y="2880000"/>
            <a:ext cx="3248400" cy="2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Wedge tilts the isodoses to compensate for the sloping breast surface. Hotspot &lt;115%. Clinically deliverable and safe.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4800" y="1764000"/>
            <a:ext cx="3536400" cy="4194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4800" y="1764000"/>
            <a:ext cx="3536400" cy="648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8800" y="1908000"/>
            <a:ext cx="3248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A35B"/>
                </a:solidFill>
                <a:latin typeface="Courier New"/>
              </a:rPr>
              <a:t>GOOD — Field-in-Field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8800" y="2267999"/>
            <a:ext cx="32484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29A35B"/>
                </a:solidFill>
                <a:latin typeface="Courier New"/>
              </a:rPr>
              <a:t>HI &lt; 0.10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800" y="2880000"/>
            <a:ext cx="3248400" cy="29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FiF sub-segments are forward-planned to block the peak of each hotspot. Same coverage, same OAR sparing — just flatter dose distribution.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73200" y="-900000"/>
            <a:ext cx="4680000" cy="4680000"/>
          </a:xfrm>
          <a:prstGeom prst="rect">
            <a:avLst/>
          </a:prstGeom>
          <a:solidFill>
            <a:srgbClr val="10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540000" y="4698000"/>
            <a:ext cx="2520000" cy="252000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53200" y="2538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0" b="1" i="0">
                <a:solidFill>
                  <a:srgbClr val="0C5070"/>
                </a:solidFill>
                <a:latin typeface="Courier New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2  ·  GYNAECOLOGY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936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EDF2"/>
                </a:solidFill>
                <a:latin typeface="Calibri"/>
              </a:rPr>
              <a:t>Whole-Pelvis Irradiation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0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PRESCRIPTION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alibri"/>
              </a:rPr>
              <a:t>1.8 Gy × 25 = 45 Gy  ·  Whole pelvis · cervix + parametria + regional nodes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4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84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24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4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3DCRT · 4-field box · AP/PA + 2 laterals · FiF applied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48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48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88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KEY OARS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8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Rectum  ·  Small bowel  ·  Bladder  ·  Femoral heads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3636000"/>
            <a:ext cx="5760000" cy="503999"/>
          </a:xfrm>
          <a:prstGeom prst="rect">
            <a:avLst/>
          </a:prstGeom>
          <a:solidFill>
            <a:srgbClr val="1A3A18"/>
          </a:solidFill>
          <a:ln w="12700">
            <a:solidFill>
              <a:srgbClr val="29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" y="3708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A35B"/>
                </a:solidFill>
                <a:latin typeface="Courier New"/>
              </a:rPr>
              <a:t>Score the plan in the workshop tool. What are your top three concerns?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2 · GYNAE  ·  WHAT DO YOU SEE?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 w="12700">
            <a:solidFill>
              <a:srgbClr val="1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3087000"/>
            <a:ext cx="4764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6080"/>
                </a:solidFill>
                <a:latin typeface="Courier New"/>
              </a:rPr>
              <a:t>[ DVH  +  Isodose images go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66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What do you see?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6600" y="1512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AACBE"/>
                </a:solidFill>
                <a:latin typeface="Calibri"/>
              </a:rPr>
              <a:t>Score every FCB-CHOPS row before we discuss.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6600" y="1908000"/>
            <a:ext cx="51246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6600" y="2052000"/>
            <a:ext cx="512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9ED5"/>
                </a:solidFill>
                <a:latin typeface="Courier New"/>
              </a:rPr>
              <a:t>Guide your eye to…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6600" y="241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6600" y="241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6600" y="248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Does the PTV receive adequate coverage?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6600" y="2970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6600" y="2970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6600" y="3042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Which OARs appear on the DVH — are any lines elevated?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6600" y="3528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6600" y="3528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6600" y="3600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Isodose lines — which normal structures are included?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6600" y="4086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6600" y="4086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6600" y="4158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Rectum: where does the high-dose isodose sit?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6600" y="4644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56600" y="4644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600" y="4716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Small bowel: any loops visible in the high-dose region?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6600" y="520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6600" y="520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600" y="527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Bladder + femoral heads within tolerance?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2 · GYNAE  · 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6000" y="1044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044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4000" y="1061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PTV well covered — target dose maintained throughout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" y="1609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" y="1609200"/>
            <a:ext cx="64800" cy="630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000" y="1717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1717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040"/>
                </a:solidFill>
                <a:latin typeface="Courier New"/>
              </a:rPr>
              <a:t>↑ Rectum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1735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V45/V30 elevated — high-dose isodose wraps anterior rectal wall; above QUANTEC tolerance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2282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" y="2282400"/>
            <a:ext cx="64800" cy="63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000" y="2390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390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Courier New"/>
              </a:rPr>
              <a:t>~ Small bowel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4000" y="2408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AP/PA component brings anterior bowel into moderate-dose region. V45 elevated.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" y="29556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000" y="29556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6000" y="30636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30636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Bladder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4000" y="30815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Within acceptable limits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6600" y="936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66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00600" y="1044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6600" y="1044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Fem heads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8600" y="1061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Within tolerance bilaterally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6600" y="1609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56600" y="1609200"/>
            <a:ext cx="64800" cy="63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00600" y="1717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6600" y="1717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9ED5"/>
                </a:solidFill>
                <a:latin typeface="Courier New"/>
              </a:rPr>
              <a:t>NOTE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8600" y="1735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Brachytherapy boost to follow — cumulative rectal &amp; bladder dose must be tracked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6600" y="2282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6600" y="2282400"/>
            <a:ext cx="64800" cy="630000"/>
          </a:xfrm>
          <a:prstGeom prst="rect">
            <a:avLst/>
          </a:prstGeom>
          <a:solidFill>
            <a:srgbClr val="9A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00600" y="2390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6600" y="2390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ACBE"/>
                </a:solidFill>
                <a:latin typeface="Courier New"/>
              </a:rPr>
              <a:t>QUANTEC ref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8600" y="2408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Rectum: V70 &lt;20%, V50 &lt;50%  ·  45 Gy whole pelvis: lower-dose constraints apply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2 · GYNAE  · 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6000" y="1044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1044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2000" y="1061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Adjust AP/PA vs lateral field weighting to reduce posterior dose to the rectum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" y="1620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" y="1620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000" y="1728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1728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000" y="1745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Patient positioning &amp; preparation — full bladder, belly board, small bowel displacement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2304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" y="2304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000" y="2412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000" y="2412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000" y="2429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Reduce posterior PTV margin at the cervix-rectum interface where clearly documented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" y="2988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000" y="2988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6000" y="3096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000" y="3096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2000" y="3113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Adjust prescription if clinically appropriate — requires senior discussion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" y="3672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000" y="3672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6000" y="3780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000" y="3780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2000" y="3797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Accept with documentation — geometric constraint, not a planning error; record the trade-off explicitly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" y="4428000"/>
            <a:ext cx="10969200" cy="648000"/>
          </a:xfrm>
          <a:prstGeom prst="rect">
            <a:avLst/>
          </a:prstGeom>
          <a:solidFill>
            <a:srgbClr val="20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000" y="4428000"/>
            <a:ext cx="64800" cy="648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000" y="4500000"/>
            <a:ext cx="106992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"EBRT is phase 1. Brachytherapy adds significant rectal and bladder dose. Track cumulative dose from the start."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73200" y="-900000"/>
            <a:ext cx="4680000" cy="4680000"/>
          </a:xfrm>
          <a:prstGeom prst="rect">
            <a:avLst/>
          </a:prstGeom>
          <a:solidFill>
            <a:srgbClr val="10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540000" y="4698000"/>
            <a:ext cx="2520000" cy="252000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53200" y="2538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0" b="1" i="0">
                <a:solidFill>
                  <a:srgbClr val="0C5070"/>
                </a:solidFill>
                <a:latin typeface="Courier New"/>
              </a:rPr>
              <a:t>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3  ·  PROSTATE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936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EDF2"/>
                </a:solidFill>
                <a:latin typeface="Calibri"/>
              </a:rPr>
              <a:t>Prostate — 3-Field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0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PRESCRIPTION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alibri"/>
              </a:rPr>
              <a:t>2.5 Gy × 27 = 67.5 Gy  ·  Prostate + proximal SVs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4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84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24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4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AP + 2 posterior obliques  ·  full bladder  ·  empty rectum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48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48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88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KEY OARS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8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Rectum  ·  Penile bulb  ·  Bladder  ·  Femoral heads  ·  Small bowel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3636000"/>
            <a:ext cx="5760000" cy="503999"/>
          </a:xfrm>
          <a:prstGeom prst="rect">
            <a:avLst/>
          </a:prstGeom>
          <a:solidFill>
            <a:srgbClr val="1A3A18"/>
          </a:solidFill>
          <a:ln w="12700">
            <a:solidFill>
              <a:srgbClr val="29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" y="3708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A35B"/>
                </a:solidFill>
                <a:latin typeface="Courier New"/>
              </a:rPr>
              <a:t>Score the plan in the workshop tool. Which OARs concern you most?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3 · PROSTATE  ·  WHAT DO YOU SEE?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 w="12700">
            <a:solidFill>
              <a:srgbClr val="1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3087000"/>
            <a:ext cx="4764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6080"/>
                </a:solidFill>
                <a:latin typeface="Courier New"/>
              </a:rPr>
              <a:t>[ DVH  +  Isodose images go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66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What do you see?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6600" y="1512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AACBE"/>
                </a:solidFill>
                <a:latin typeface="Calibri"/>
              </a:rPr>
              <a:t>Score every FCB-CHOPS row before we discuss.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6600" y="1908000"/>
            <a:ext cx="51246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6600" y="2052000"/>
            <a:ext cx="512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9ED5"/>
                </a:solidFill>
                <a:latin typeface="Courier New"/>
              </a:rPr>
              <a:t>Guide your eye to…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6600" y="241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6600" y="241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6600" y="248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PTV coverage — D95 and D98 on the DVH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6600" y="2970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6600" y="2970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6600" y="3042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Rectum — where does the curve sit vs tolerance lines?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6600" y="3528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6600" y="3528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6600" y="3600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Penile bulb — is it contoured? What is the mean dose?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6600" y="4086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6600" y="4086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6600" y="4158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Bladder and femoral heads — within tolerance?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6600" y="4644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56600" y="4644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600" y="4716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Isodose: where does the posterior margin sit relative to the rectum?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6600" y="520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6600" y="520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600" y="527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Is the isocentre in a stable tissue position?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3 · PROSTATE  · 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6000" y="1044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044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4000" y="1061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CTV D98 ≈ 99.2%  ·  PTV D98 ≈ 96.6%  ·  Coverage good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" y="1609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" y="1609200"/>
            <a:ext cx="64800" cy="630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000" y="1717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1717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040"/>
                </a:solidFill>
                <a:latin typeface="Courier New"/>
              </a:rPr>
              <a:t>↑ Rectum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1735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V55 ≈ 37.9%  ·  V59 ≈ 32.9% — over QUANTEC tolerance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2282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" y="2282400"/>
            <a:ext cx="64800" cy="630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000" y="2390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390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040"/>
                </a:solidFill>
                <a:latin typeface="Courier New"/>
              </a:rPr>
              <a:t>↑ Penile bulb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4000" y="2408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Mean ≈ 62.8 Gy — above QUANTEC limit of 52 Gy (D90 &lt;50 Gy)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" y="29556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000" y="2955600"/>
            <a:ext cx="64800" cy="630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6000" y="30636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30636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ourier New"/>
              </a:rPr>
              <a:t>~ Small bowel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4000" y="30815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Minor focal involvement — within tolerance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6600" y="936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66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00600" y="1044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6600" y="1044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Bladder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8600" y="1061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Within tolerance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6600" y="1609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56600" y="16092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00600" y="1717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6600" y="1717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Fem heads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8600" y="1735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Within tolerance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6600" y="2282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6600" y="2282400"/>
            <a:ext cx="64800" cy="630000"/>
          </a:xfrm>
          <a:prstGeom prst="rect">
            <a:avLst/>
          </a:prstGeom>
          <a:solidFill>
            <a:srgbClr val="9A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00600" y="2390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6600" y="2390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ACBE"/>
                </a:solidFill>
                <a:latin typeface="Courier New"/>
              </a:rPr>
              <a:t>QUANTEC ref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8600" y="2408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Rectum: V70 &lt;20%  V50 &lt;50%  ·  Penile bulb: Dmean &lt;52 Gy  D90 &lt;50 Gy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3 · PROSTATE  ·  SOLUTIONS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6000" y="1044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6000" y="1044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32000" y="1061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Reduce inferior field margin — decrease penile bulb dose directly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" y="1620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" y="1620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000" y="1728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6000" y="1728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2000" y="1745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Reduce posterior PTV margin at the prostate–rectum interface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2304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" y="2304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000" y="2412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6000" y="2412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32000" y="2429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Adjust posterior oblique field weighting to shift dose anteriorly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" y="2988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000" y="2988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6000" y="3096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56000" y="3096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32000" y="3113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Adjust prescription if clinically appropriate — senior discussion required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2000" y="3672000"/>
            <a:ext cx="109692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12000" y="3672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756000" y="3780000"/>
            <a:ext cx="396000" cy="396000"/>
          </a:xfrm>
          <a:prstGeom prst="rect">
            <a:avLst/>
          </a:prstGeom>
          <a:solidFill>
            <a:srgbClr val="143E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56000" y="3780000"/>
            <a:ext cx="3960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29A35B"/>
                </a:solidFill>
                <a:latin typeface="Courier New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32000" y="3797999"/>
            <a:ext cx="10141201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Accept with documentation — geometric proximity, not a planning error; name it, don't ignore it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000" y="4428000"/>
            <a:ext cx="10969200" cy="648000"/>
          </a:xfrm>
          <a:prstGeom prst="rect">
            <a:avLst/>
          </a:prstGeom>
          <a:solidFill>
            <a:srgbClr val="20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2000" y="4428000"/>
            <a:ext cx="64800" cy="648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10000" y="4500000"/>
            <a:ext cx="10699200" cy="50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"Coverage was good — the problem was the OARs. Name it, don't ignore it."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73200" y="-900000"/>
            <a:ext cx="4680000" cy="4680000"/>
          </a:xfrm>
          <a:prstGeom prst="rect">
            <a:avLst/>
          </a:prstGeom>
          <a:solidFill>
            <a:srgbClr val="10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540000" y="4698000"/>
            <a:ext cx="2520000" cy="252000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53200" y="2538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0" b="1" i="0">
                <a:solidFill>
                  <a:srgbClr val="0C5070"/>
                </a:solidFill>
                <a:latin typeface="Courier New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4  ·  PITUITARY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936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EDF2"/>
                </a:solidFill>
                <a:latin typeface="Calibri"/>
              </a:rPr>
              <a:t>Pituitary Adenoma — Coplanar 3-Field Plan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0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PRESCRIPTION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alibri"/>
              </a:rPr>
              <a:t>1.8 Gy × 30 = 54 Gy  ·  Pituitary fossa + margin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4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84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24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4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3-field coplanar  ·  MLC shaped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48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48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88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KEY OARS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8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Optic chiasm  ·  Optic nerves (bilateral)  ·  Brainstem  ·  Brain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3636000"/>
            <a:ext cx="5760000" cy="503999"/>
          </a:xfrm>
          <a:prstGeom prst="rect">
            <a:avLst/>
          </a:prstGeom>
          <a:solidFill>
            <a:srgbClr val="1A3A18"/>
          </a:solidFill>
          <a:ln w="12700">
            <a:solidFill>
              <a:srgbClr val="29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" y="3708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A35B"/>
                </a:solidFill>
                <a:latin typeface="Courier New"/>
              </a:rPr>
              <a:t>Pay very close attention to the optic chiasm dose.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4 · PITUITARY  ·  WHAT DO YOU SEE?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 w="12700">
            <a:solidFill>
              <a:srgbClr val="1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3087000"/>
            <a:ext cx="4764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6080"/>
                </a:solidFill>
                <a:latin typeface="Courier New"/>
              </a:rPr>
              <a:t>[ DVH  +  Isodose images go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66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What do you see?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6600" y="1512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AACBE"/>
                </a:solidFill>
                <a:latin typeface="Calibri"/>
              </a:rPr>
              <a:t>Score every FCB-CHOPS row before we discuss.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6600" y="1908000"/>
            <a:ext cx="51246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6600" y="2052000"/>
            <a:ext cx="512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9ED5"/>
                </a:solidFill>
                <a:latin typeface="Courier New"/>
              </a:rPr>
              <a:t>Guide your eye to…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6600" y="241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6600" y="241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6600" y="248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D95/D98/Dmin — is the PTV fully covered?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6600" y="2970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6600" y="2970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6600" y="3042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Optic chiasm Dmax — QUANTEC hard limit is 54 Gy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6600" y="3528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6600" y="3528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6600" y="3600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Optic nerves — bilateral Dmax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6600" y="4086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6600" y="4086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6600" y="4158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Brainstem — Dmax and mean dose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6600" y="4644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56600" y="4644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600" y="4716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Inferior undercoverage — sphenoid sinus physics effect?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6600" y="520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6600" y="520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600" y="527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Non-coplanar option — does it improve coverage or OAR sparing?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4 · PITUITARY  · 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6000" y="1044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044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4000" y="1061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PTV D95 adequate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" y="1609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" y="1609200"/>
            <a:ext cx="64800" cy="630000"/>
          </a:xfrm>
          <a:prstGeom prst="rect">
            <a:avLst/>
          </a:prstGeom>
          <a:solidFill>
            <a:srgbClr val="D4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000" y="1717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1717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44040"/>
                </a:solidFill>
                <a:latin typeface="Courier New"/>
              </a:rPr>
              <a:t>↑ CHIASM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1735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Dmax 54.9 Gy — ABOVE 54 Gy QUANTEC hard limit — mandatory senior sign-off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2282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" y="2282400"/>
            <a:ext cx="64800" cy="630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000" y="2390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390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ourier New"/>
              </a:rPr>
              <a:t>~ Inferior PTV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4000" y="2408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PTV min 41.75 Gy — reduced inferior coverage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456600" y="936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566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600600" y="1044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6600" y="1044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Brainstem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8600" y="1061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Dmax 52.5 Gy  ·  Mean ~11 Gy  ·  Within tolerance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6600" y="1609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6600" y="1609200"/>
            <a:ext cx="64800" cy="630000"/>
          </a:xfrm>
          <a:prstGeom prst="rect">
            <a:avLst/>
          </a:prstGeom>
          <a:solidFill>
            <a:srgbClr val="9A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00600" y="1717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6600" y="1717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ACBE"/>
                </a:solidFill>
                <a:latin typeface="Courier New"/>
              </a:rPr>
              <a:t>NOTE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8600" y="1735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Sphenoid air sinus undercoverage 88.7% — physics-driven, expected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6600" y="2282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56600" y="2282400"/>
            <a:ext cx="64800" cy="63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00600" y="2390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6600" y="2390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Courier New"/>
              </a:rPr>
              <a:t>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8600" y="2408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Chiasm is serial: Dmax governs — even small breach = tolerance violation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4 · PITUITARY — SOLUTIONS: COPLANAR VS NON-COPLANAR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466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5124600" cy="64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83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7132"/>
                </a:solidFill>
                <a:latin typeface="Calibri"/>
              </a:rPr>
              <a:t>Plan A — Coplanar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58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Chiasm Dmax:      54.9 Gy  ↑  (above tolerance)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4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PTV min:           41.75 Gy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30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Brainstem mean:    ~11.0 Gy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56600" y="936000"/>
            <a:ext cx="5124600" cy="466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56600" y="936000"/>
            <a:ext cx="5124600" cy="648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00600" y="1080000"/>
            <a:ext cx="483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9A35B"/>
                </a:solidFill>
                <a:latin typeface="Calibri"/>
              </a:rPr>
              <a:t>Plan B — Non-Coplanar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00600" y="158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Chiasm Dmax:      ~54.9 Gy  (SAME — cannot move chiasm)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600" y="194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PTV min:           43.9 Gy  (+2.1 Gy improved)  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600" y="230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Brainstem mean:    9.7 Gy  (↓ 1.6 Gy improved)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000" y="5742000"/>
            <a:ext cx="10969200" cy="720000"/>
          </a:xfrm>
          <a:prstGeom prst="rect">
            <a:avLst/>
          </a:prstGeom>
          <a:solidFill>
            <a:srgbClr val="20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12000" y="5742000"/>
            <a:ext cx="648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0000" y="5814000"/>
            <a:ext cx="1069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"Non-coplanar fields spread entrance angles — but cannot move the chiasm. Documentation required in both plans."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873200" y="-900000"/>
            <a:ext cx="4680000" cy="4680000"/>
          </a:xfrm>
          <a:prstGeom prst="rect">
            <a:avLst/>
          </a:prstGeom>
          <a:solidFill>
            <a:srgbClr val="10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-540000" y="4698000"/>
            <a:ext cx="2520000" cy="2520000"/>
          </a:xfrm>
          <a:prstGeom prst="rect">
            <a:avLst/>
          </a:prstGeom>
          <a:solidFill>
            <a:srgbClr val="0E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53200" y="2538000"/>
            <a:ext cx="5040000" cy="4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6500" b="1" i="0">
                <a:solidFill>
                  <a:srgbClr val="0C5070"/>
                </a:solidFill>
                <a:latin typeface="Courier New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5  ·  HEAD &amp; NECK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2000" y="936000"/>
            <a:ext cx="9360000" cy="10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200" b="1" i="0">
                <a:solidFill>
                  <a:srgbClr val="E8EDF2"/>
                </a:solidFill>
                <a:latin typeface="Calibri"/>
              </a:rPr>
              <a:t>Head &amp; Neck — Parotid Tumour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0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0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60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PRESCRIPTION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60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E8EDF2"/>
                </a:solidFill>
                <a:latin typeface="Calibri"/>
              </a:rPr>
              <a:t>2 Gy × 33 = 66 Gy  ·  Parotid tumour + regional nodes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3284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284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724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TECHNIQUE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724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4-field 3DCRT  ·  photon + possible electron match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4800" y="2124000"/>
            <a:ext cx="3536400" cy="126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4800" y="2124000"/>
            <a:ext cx="35364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88800" y="2249999"/>
            <a:ext cx="32484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KEY OARS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8800" y="2520000"/>
            <a:ext cx="3248400" cy="79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Contralateral parotid  ·  Spinal cord  ·  Brainstem  ·  Oral cavity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3636000"/>
            <a:ext cx="5760000" cy="503999"/>
          </a:xfrm>
          <a:prstGeom prst="rect">
            <a:avLst/>
          </a:prstGeom>
          <a:solidFill>
            <a:srgbClr val="1A3A18"/>
          </a:solidFill>
          <a:ln w="12700">
            <a:solidFill>
              <a:srgbClr val="29A35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56000" y="3708000"/>
            <a:ext cx="558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29A35B"/>
                </a:solidFill>
                <a:latin typeface="Courier New"/>
              </a:rPr>
              <a:t>Focus especially on the contralateral parotid dose.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5 · H&amp;N  ·  WHAT DO YOU SEE?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5124600" cy="5382000"/>
          </a:xfrm>
          <a:prstGeom prst="rect">
            <a:avLst/>
          </a:prstGeom>
          <a:solidFill>
            <a:srgbClr val="0C2035"/>
          </a:solidFill>
          <a:ln w="12700">
            <a:solidFill>
              <a:srgbClr val="1A507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2000" y="3087000"/>
            <a:ext cx="4764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6080"/>
                </a:solidFill>
                <a:latin typeface="Courier New"/>
              </a:rPr>
              <a:t>[ DVH  +  Isodose images go here 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56600" y="936000"/>
            <a:ext cx="51246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E8EDF2"/>
                </a:solidFill>
                <a:latin typeface="Calibri"/>
              </a:rPr>
              <a:t>What do you see?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56600" y="1512000"/>
            <a:ext cx="51246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1">
                <a:solidFill>
                  <a:srgbClr val="9AACBE"/>
                </a:solidFill>
                <a:latin typeface="Calibri"/>
              </a:rPr>
              <a:t>Score every FCB-CHOPS row before we discuss.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56600" y="1908000"/>
            <a:ext cx="5124600" cy="648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56600" y="2052000"/>
            <a:ext cx="51246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F9ED5"/>
                </a:solidFill>
                <a:latin typeface="Courier New"/>
              </a:rPr>
              <a:t>Guide your eye to…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6600" y="241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6600" y="241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36600" y="248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PTV coverage — D95, D98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56600" y="2970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56600" y="2970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36600" y="3042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Cord Dmax — hard limit 45 Gy PRV / 50 Gy cord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456600" y="3528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456600" y="3528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36600" y="3600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Brainstem Dmax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456600" y="4086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456600" y="4086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36600" y="4158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Contralateral parotid mean — QUANTEC &lt;26 Gy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456600" y="4644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56600" y="4644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636600" y="4716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Ipsilateral parotid — likely sacrifice; document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456600" y="5202000"/>
            <a:ext cx="5124600" cy="503999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456600" y="5202000"/>
            <a:ext cx="64800" cy="503999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36600" y="5274000"/>
            <a:ext cx="4872601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Beam entry/exit — does right lateral exit through contralateral parotid?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5 · H&amp;N  ·  FINDINGS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56000" y="1044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1044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Coverage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4000" y="1061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PTV mean ≈ 66.0 Gy — well covered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2000" y="1609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2000" y="1609200"/>
            <a:ext cx="64800" cy="63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56000" y="1717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1717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E97132"/>
                </a:solidFill>
                <a:latin typeface="Courier New"/>
              </a:rPr>
              <a:t>↑ Contra parotid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44000" y="1735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Mean ≈ 3.30 Gy — higher than necessary (Plan A, 4-field)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2000" y="2282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2000" y="22824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56000" y="2390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390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Cord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44000" y="2408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Dmax 19.9 Gy  ·  Within tolerance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000" y="29556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2000" y="2955600"/>
            <a:ext cx="64800" cy="6300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56000" y="30636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30636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29A35B"/>
                </a:solidFill>
                <a:latin typeface="Courier New"/>
              </a:rPr>
              <a:t>✓ Brainstem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844000" y="30815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Dmax 18.2 Gy  ·  Within tolerance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456600" y="9360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56600" y="936000"/>
            <a:ext cx="64800" cy="630000"/>
          </a:xfrm>
          <a:prstGeom prst="rect">
            <a:avLst/>
          </a:prstGeom>
          <a:solidFill>
            <a:srgbClr val="F5C5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00600" y="10440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636600" y="10440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C518"/>
                </a:solidFill>
                <a:latin typeface="Courier New"/>
              </a:rPr>
              <a:t>~ Submandibular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8600" y="10619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R mean ≈ 40.4 Gy — elevated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56600" y="16092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56600" y="1609200"/>
            <a:ext cx="64800" cy="63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600600" y="17172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36600" y="17172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0F9ED5"/>
                </a:solidFill>
                <a:latin typeface="Courier New"/>
              </a:rPr>
              <a:t>NOTE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688600" y="17351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Electron/photon match junction — dose at junction must be summed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56600" y="22824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456600" y="2282400"/>
            <a:ext cx="64800" cy="630000"/>
          </a:xfrm>
          <a:prstGeom prst="rect">
            <a:avLst/>
          </a:prstGeom>
          <a:solidFill>
            <a:srgbClr val="9A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600600" y="23904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636600" y="23904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ACBE"/>
                </a:solidFill>
                <a:latin typeface="Courier New"/>
              </a:rPr>
              <a:t>Cause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8600" y="24083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Right lateral field exits through contralateral parotid — geometry problem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456600" y="2955600"/>
            <a:ext cx="5124600" cy="630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56600" y="2955600"/>
            <a:ext cx="64800" cy="630000"/>
          </a:xfrm>
          <a:prstGeom prst="rect">
            <a:avLst/>
          </a:prstGeom>
          <a:solidFill>
            <a:srgbClr val="9AAC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600600" y="3063600"/>
            <a:ext cx="1872000" cy="396000"/>
          </a:xfrm>
          <a:prstGeom prst="rect">
            <a:avLst/>
          </a:prstGeom>
          <a:solidFill>
            <a:srgbClr val="0A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36600" y="3063600"/>
            <a:ext cx="1835999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9AACBE"/>
                </a:solidFill>
                <a:latin typeface="Courier New"/>
              </a:rPr>
              <a:t>Late effect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688600" y="3081599"/>
            <a:ext cx="2784600" cy="39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E8EDF2"/>
                </a:solidFill>
                <a:latin typeface="Calibri"/>
              </a:rPr>
              <a:t>Xerostomia: most common serious late effect of H&amp;N RT — always prioritise sparing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28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12000" y="396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CASE 5 · H&amp;N — SOLUTIONS: 4-FIELD VS 3-FIELD</a:t>
            </a:r>
          </a:p>
        </p:txBody>
      </p:sp>
      <p:sp>
        <p:nvSpPr>
          <p:cNvPr id="4" name="Rectangle 3"/>
          <p:cNvSpPr/>
          <p:nvPr/>
        </p:nvSpPr>
        <p:spPr>
          <a:xfrm>
            <a:off x="612000" y="720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12000" y="936000"/>
            <a:ext cx="5124600" cy="466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36000"/>
            <a:ext cx="5124600" cy="648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6000" y="1080000"/>
            <a:ext cx="483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E97132"/>
                </a:solidFill>
                <a:latin typeface="Calibri"/>
              </a:rPr>
              <a:t>Plan A — 4-Field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6000" y="158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PTV mean:           ≈ 66.0 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56000" y="194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Contra parotid:     3.30 Gy  ↑  (above optimal)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6000" y="230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Cord Dmax:          19.9 Gy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56000" y="266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Brainstem Dmax:     18.2 Gy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56600" y="936000"/>
            <a:ext cx="5124600" cy="4662000"/>
          </a:xfrm>
          <a:prstGeom prst="rect">
            <a:avLst/>
          </a:prstGeom>
          <a:solidFill>
            <a:srgbClr val="1635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56600" y="936000"/>
            <a:ext cx="5124600" cy="64800"/>
          </a:xfrm>
          <a:prstGeom prst="rect">
            <a:avLst/>
          </a:prstGeom>
          <a:solidFill>
            <a:srgbClr val="29A35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00600" y="1080000"/>
            <a:ext cx="48366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29A35B"/>
                </a:solidFill>
                <a:latin typeface="Calibri"/>
              </a:rPr>
              <a:t>Plan B — 3-Field
(right lateral removed)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00600" y="158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PTV mean:           ≈ 66.0 Gy  (maintained)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00600" y="194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Contra parotid:     1.14 Gy  ↓  (↓ 2.2 Gy improvement)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00600" y="230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Cord Dmax:          17.8 Gy  (↓ 2.1 Gy)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00600" y="2664000"/>
            <a:ext cx="48366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E8EDF2"/>
                </a:solidFill>
                <a:latin typeface="Courier New"/>
              </a:rPr>
              <a:t>Brainstem Dmax:     16.1 Gy  (↓ 2.1 Gy)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000" y="5742000"/>
            <a:ext cx="10969200" cy="720000"/>
          </a:xfrm>
          <a:prstGeom prst="rect">
            <a:avLst/>
          </a:prstGeom>
          <a:solidFill>
            <a:srgbClr val="20180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000" y="5742000"/>
            <a:ext cx="64800" cy="720000"/>
          </a:xfrm>
          <a:prstGeom prst="rect">
            <a:avLst/>
          </a:prstGeom>
          <a:solidFill>
            <a:srgbClr val="E971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0000" y="5814000"/>
            <a:ext cx="106992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9AACBE"/>
                </a:solidFill>
                <a:latin typeface="Calibri"/>
              </a:rPr>
              <a:t>"Fewer fields ≠ worse plan. Remove the beam that exits through the contralateral parotid."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F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814800"/>
            <a:ext cx="12193200" cy="432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4000" cy="6858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000" y="360000"/>
            <a:ext cx="10969200" cy="30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F9ED5"/>
                </a:solidFill>
                <a:latin typeface="Courier New"/>
              </a:rPr>
              <a:t>FIVE KEY TAKEAWAYS</a:t>
            </a:r>
          </a:p>
        </p:txBody>
      </p:sp>
      <p:sp>
        <p:nvSpPr>
          <p:cNvPr id="5" name="Rectangle 4"/>
          <p:cNvSpPr/>
          <p:nvPr/>
        </p:nvSpPr>
        <p:spPr>
          <a:xfrm>
            <a:off x="612000" y="684000"/>
            <a:ext cx="540000" cy="36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12000" y="900000"/>
            <a:ext cx="10969200" cy="72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12000" y="900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2000" y="972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9ED5"/>
                </a:solidFill>
                <a:latin typeface="Courier New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39999" y="972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DF2"/>
                </a:solidFill>
                <a:latin typeface="Calibri"/>
              </a:rPr>
              <a:t>FCB-CHOPS every time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39999" y="1296000"/>
            <a:ext cx="100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Use the framework as a safety net — don't skip letters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000" y="1674000"/>
            <a:ext cx="10969200" cy="72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12000" y="1674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1746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9ED5"/>
                </a:solidFill>
                <a:latin typeface="Courier New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39999" y="1746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DF2"/>
                </a:solidFill>
                <a:latin typeface="Calibri"/>
              </a:rPr>
              <a:t>DVH screens; slices diagnose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39999" y="2070000"/>
            <a:ext cx="100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Use both — DVH flags the problem, isodose slices locate it exactly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000" y="2448000"/>
            <a:ext cx="10969200" cy="72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000" y="2448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2000" y="2520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9ED5"/>
                </a:solidFill>
                <a:latin typeface="Courier New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39999" y="2520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DF2"/>
                </a:solidFill>
                <a:latin typeface="Calibri"/>
              </a:rPr>
              <a:t>Match metric to organ architecture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39999" y="2844000"/>
            <a:ext cx="100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Serial → Dmax / D1cc   ·   Parallel → mean / Vx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000" y="3222000"/>
            <a:ext cx="10969200" cy="72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2000" y="3222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2000" y="3294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9ED5"/>
                </a:solidFill>
                <a:latin typeface="Courier New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39999" y="3294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DF2"/>
                </a:solidFill>
                <a:latin typeface="Calibri"/>
              </a:rPr>
              <a:t>Normalisation point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39999" y="3618000"/>
            <a:ext cx="100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In lung or air = unreliable; must be in stable representative tissue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000" y="3996000"/>
            <a:ext cx="10969200" cy="720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2000" y="3996000"/>
            <a:ext cx="64800" cy="720000"/>
          </a:xfrm>
          <a:prstGeom prst="rect">
            <a:avLst/>
          </a:prstGeom>
          <a:solidFill>
            <a:srgbClr val="0F9E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2000" y="4068000"/>
            <a:ext cx="540000" cy="57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F9ED5"/>
                </a:solidFill>
                <a:latin typeface="Courier New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39999" y="4068000"/>
            <a:ext cx="6480000" cy="32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E8EDF2"/>
                </a:solidFill>
                <a:latin typeface="Calibri"/>
              </a:rPr>
              <a:t>Document every trade-off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39999" y="4392000"/>
            <a:ext cx="100332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 i="0">
                <a:solidFill>
                  <a:srgbClr val="9AACBE"/>
                </a:solidFill>
                <a:latin typeface="Calibri"/>
              </a:rPr>
              <a:t>If you accept a compromise, write it down — name it, don't ignore it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000" y="6066000"/>
            <a:ext cx="109692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9AACBE"/>
                </a:solidFill>
                <a:latin typeface="Calibri"/>
              </a:rPr>
              <a:t>References: FCB-CHOPS Weisman 2024 (PMID 40017913)  ·  ICRU 50/62/83  ·  QUANTEC 2010  ·  Emami 1991  ·  Khan textbook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000" y="6318000"/>
            <a:ext cx="10969200" cy="396000"/>
          </a:xfrm>
          <a:prstGeom prst="rect">
            <a:avLst/>
          </a:prstGeom>
          <a:solidFill>
            <a:srgbClr val="0E28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20000" y="6336000"/>
            <a:ext cx="107532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1">
                <a:solidFill>
                  <a:srgbClr val="E97132"/>
                </a:solidFill>
                <a:latin typeface="Calibri"/>
              </a:rPr>
              <a:t>"A good plan is a documented compromise"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113200" y="6516000"/>
            <a:ext cx="9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9AACBE"/>
                </a:solidFill>
                <a:latin typeface="Courier New"/>
              </a:rPr>
              <a:t>39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