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6000" cy="6858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1620000"/>
            <a:ext cx="1008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E8EDF2"/>
                </a:solidFill>
                <a:latin typeface="Calibri"/>
              </a:rPr>
              <a:t>What Makes a Plan Good?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3311999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F9ED5"/>
                </a:solidFill>
                <a:latin typeface="Calibri"/>
              </a:rPr>
              <a:t>3DCRT Plan Evaluation Workshop — Theory &amp; Practical Module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4140000"/>
            <a:ext cx="4320000" cy="36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4320000"/>
            <a:ext cx="100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AACBE"/>
                </a:solidFill>
                <a:latin typeface="Calibri"/>
              </a:rPr>
              <a:t>Tamerone Manasse  ·  UCT/GSH Registrars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3200" y="6498000"/>
            <a:ext cx="9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CBE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16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F9ED5"/>
                </a:solidFill>
                <a:latin typeface="Calibri"/>
              </a:rPr>
              <a:t>Session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720000"/>
            <a:ext cx="108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8EDF2"/>
                </a:solidFill>
                <a:latin typeface="Calibri"/>
              </a:rPr>
              <a:t>2 Hours · 5 Cases · One framework.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1152000"/>
            <a:ext cx="10080000" cy="503999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000" y="1206000"/>
            <a:ext cx="1080000" cy="39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97132"/>
                </a:solidFill>
                <a:latin typeface="Courier New"/>
              </a:rPr>
              <a:t>0:00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80000" y="1206000"/>
            <a:ext cx="6840000" cy="39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alibri"/>
              </a:rPr>
              <a:t>Theory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0" y="1206000"/>
            <a:ext cx="1440000" cy="39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9AACBE"/>
                </a:solidFill>
                <a:latin typeface="Calibri"/>
              </a:rPr>
              <a:t>18 min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0000" y="1655999"/>
            <a:ext cx="10080000" cy="503999"/>
          </a:xfrm>
          <a:prstGeom prst="rect">
            <a:avLst/>
          </a:prstGeom>
          <a:solidFill>
            <a:srgbClr val="0C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000" y="1709999"/>
            <a:ext cx="1080000" cy="39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9ED5"/>
                </a:solidFill>
                <a:latin typeface="Courier New"/>
              </a:rPr>
              <a:t>0:18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80000" y="1709999"/>
            <a:ext cx="6840000" cy="39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alibri"/>
              </a:rPr>
              <a:t>Case 1: Breast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0" y="1709999"/>
            <a:ext cx="1440000" cy="39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9AACBE"/>
                </a:solidFill>
                <a:latin typeface="Calibri"/>
              </a:rPr>
              <a:t>22 min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0000" y="2159998"/>
            <a:ext cx="10080000" cy="503999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000" y="2213998"/>
            <a:ext cx="1080000" cy="39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9ED5"/>
                </a:solidFill>
                <a:latin typeface="Courier New"/>
              </a:rPr>
              <a:t>0:40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80000" y="2213998"/>
            <a:ext cx="6840000" cy="39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alibri"/>
              </a:rPr>
              <a:t>Case 2: Gynaecology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0000" y="2213998"/>
            <a:ext cx="1440000" cy="39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9AACBE"/>
                </a:solidFill>
                <a:latin typeface="Calibri"/>
              </a:rPr>
              <a:t>10 min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0000" y="2663997"/>
            <a:ext cx="10080000" cy="503999"/>
          </a:xfrm>
          <a:prstGeom prst="rect">
            <a:avLst/>
          </a:prstGeom>
          <a:solidFill>
            <a:srgbClr val="0C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000" y="2717997"/>
            <a:ext cx="1080000" cy="39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9ED5"/>
                </a:solidFill>
                <a:latin typeface="Courier New"/>
              </a:rPr>
              <a:t>0:50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80000" y="2717997"/>
            <a:ext cx="6840000" cy="39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alibri"/>
              </a:rPr>
              <a:t>Case 3: Prostate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0000" y="2717997"/>
            <a:ext cx="1440000" cy="39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9AACBE"/>
                </a:solidFill>
                <a:latin typeface="Calibri"/>
              </a:rPr>
              <a:t>10 min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0000" y="3167996"/>
            <a:ext cx="10080000" cy="503999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000" y="3221996"/>
            <a:ext cx="1080000" cy="39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9ED5"/>
                </a:solidFill>
                <a:latin typeface="Courier New"/>
              </a:rPr>
              <a:t>1:00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80000" y="3221996"/>
            <a:ext cx="6840000" cy="39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alibri"/>
              </a:rPr>
              <a:t>Case 4: Pituitary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0000" y="3221996"/>
            <a:ext cx="1440000" cy="39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9AACBE"/>
                </a:solidFill>
                <a:latin typeface="Calibri"/>
              </a:rPr>
              <a:t>10 min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0000" y="3671995"/>
            <a:ext cx="10080000" cy="503999"/>
          </a:xfrm>
          <a:prstGeom prst="rect">
            <a:avLst/>
          </a:prstGeom>
          <a:solidFill>
            <a:srgbClr val="0C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2000" y="3725995"/>
            <a:ext cx="1080000" cy="39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9ED5"/>
                </a:solidFill>
                <a:latin typeface="Courier New"/>
              </a:rPr>
              <a:t>1:10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80000" y="3725995"/>
            <a:ext cx="6840000" cy="39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alibri"/>
              </a:rPr>
              <a:t>Case 5: H&amp;N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0000" y="3725995"/>
            <a:ext cx="1440000" cy="39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9AACBE"/>
                </a:solidFill>
                <a:latin typeface="Calibri"/>
              </a:rPr>
              <a:t>10 min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0000" y="4175994"/>
            <a:ext cx="10080000" cy="503999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2000" y="4229994"/>
            <a:ext cx="1080000" cy="39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AACBE"/>
                </a:solidFill>
                <a:latin typeface="Courier New"/>
              </a:rPr>
              <a:t>1:20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80000" y="4229994"/>
            <a:ext cx="6840000" cy="39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alibri"/>
              </a:rPr>
              <a:t>Buffer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0000" y="4229994"/>
            <a:ext cx="1440000" cy="39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9AACBE"/>
                </a:solidFill>
                <a:latin typeface="Calibri"/>
              </a:rPr>
              <a:t>30 min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0000" y="4679993"/>
            <a:ext cx="10080000" cy="503999"/>
          </a:xfrm>
          <a:prstGeom prst="rect">
            <a:avLst/>
          </a:prstGeom>
          <a:solidFill>
            <a:srgbClr val="0C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000" y="4733993"/>
            <a:ext cx="1080000" cy="39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9A35B"/>
                </a:solidFill>
                <a:latin typeface="Courier New"/>
              </a:rPr>
              <a:t>1:50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80000" y="4733993"/>
            <a:ext cx="6840000" cy="39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alibri"/>
              </a:rPr>
              <a:t>Wrap-up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00000" y="4733993"/>
            <a:ext cx="1440000" cy="39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9AACBE"/>
                </a:solidFill>
                <a:latin typeface="Calibri"/>
              </a:rPr>
              <a:t>10 min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0000" y="5291992"/>
            <a:ext cx="1008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AACBE"/>
                </a:solidFill>
                <a:latin typeface="Calibri"/>
              </a:rPr>
              <a:t>By the end you can:  Apply FCB-CHOPS · Read a DVH · Explain CI &amp; HI · Apply OAR constraints · Triage a plan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13200" y="6498000"/>
            <a:ext cx="9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CBE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16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F9ED5"/>
                </a:solidFill>
                <a:latin typeface="Calibri"/>
              </a:rPr>
              <a:t>The Four Central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720000"/>
            <a:ext cx="108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8EDF2"/>
                </a:solidFill>
                <a:latin typeface="Calibri"/>
              </a:rPr>
              <a:t>A good plan answers four questions — in order.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1188000"/>
            <a:ext cx="10080000" cy="79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0000" y="1188000"/>
            <a:ext cx="180000" cy="792000"/>
          </a:xfrm>
          <a:prstGeom prst="rect">
            <a:avLst/>
          </a:prstGeom>
          <a:solidFill>
            <a:srgbClr val="29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000" y="1224000"/>
            <a:ext cx="18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29A35B"/>
                </a:solidFill>
                <a:latin typeface="Calibri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0000" y="1296000"/>
            <a:ext cx="828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8EDF2"/>
                </a:solidFill>
                <a:latin typeface="Calibri"/>
              </a:rPr>
              <a:t>Does it treat the target?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0000" y="2088000"/>
            <a:ext cx="10080000" cy="79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0000" y="2088000"/>
            <a:ext cx="180000" cy="792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000" y="2124000"/>
            <a:ext cx="18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F9ED5"/>
                </a:solidFill>
                <a:latin typeface="Calibri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80000" y="2196000"/>
            <a:ext cx="828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8EDF2"/>
                </a:solidFill>
                <a:latin typeface="Calibri"/>
              </a:rPr>
              <a:t>Does it spare normal tissue?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0000" y="2988000"/>
            <a:ext cx="10080000" cy="79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0000" y="2988000"/>
            <a:ext cx="180000" cy="79200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000" y="3024000"/>
            <a:ext cx="18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97132"/>
                </a:solidFill>
                <a:latin typeface="Calibri"/>
              </a:rPr>
              <a:t>Q3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80000" y="3096000"/>
            <a:ext cx="828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8EDF2"/>
                </a:solidFill>
                <a:latin typeface="Calibri"/>
              </a:rPr>
              <a:t>Is it technically sound?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0000" y="3888000"/>
            <a:ext cx="10080000" cy="79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0000" y="3888000"/>
            <a:ext cx="180000" cy="792000"/>
          </a:xfrm>
          <a:prstGeom prst="rect">
            <a:avLst/>
          </a:prstGeom>
          <a:solidFill>
            <a:srgbClr val="9AAC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4000" y="3924000"/>
            <a:ext cx="18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9AACBE"/>
                </a:solidFill>
                <a:latin typeface="Calibri"/>
              </a:rPr>
              <a:t>Q4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80000" y="3996000"/>
            <a:ext cx="828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8EDF2"/>
                </a:solidFill>
                <a:latin typeface="Calibri"/>
              </a:rPr>
              <a:t>Is it deliverable &amp; robust?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0000" y="6138000"/>
            <a:ext cx="108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9AACBE"/>
                </a:solidFill>
                <a:latin typeface="Calibri"/>
              </a:rPr>
              <a:t>"A plan is never perfect — it is the best defensible compromise."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13200" y="6498000"/>
            <a:ext cx="9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CBE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16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F9ED5"/>
                </a:solidFill>
                <a:latin typeface="Calibri"/>
              </a:rPr>
              <a:t>Plan Quality Spectrum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720000"/>
            <a:ext cx="108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8EDF2"/>
                </a:solidFill>
                <a:latin typeface="Calibri"/>
              </a:rPr>
              <a:t>Bad, acceptable, trade-off — or good?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1152000"/>
            <a:ext cx="2340000" cy="270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0000" y="1152000"/>
            <a:ext cx="2340000" cy="180000"/>
          </a:xfrm>
          <a:prstGeom prst="rect">
            <a:avLst/>
          </a:prstGeom>
          <a:solidFill>
            <a:srgbClr val="D4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000" y="1403999"/>
            <a:ext cx="219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44040"/>
                </a:solidFill>
                <a:latin typeface="Calibri"/>
              </a:rPr>
              <a:t>CLEARLY BAD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000" y="2088000"/>
            <a:ext cx="2196000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8EDF2"/>
                </a:solidFill>
                <a:latin typeface="Calibri"/>
              </a:rPr>
              <a:t>Unsafe / unacceptable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3060000" y="1152000"/>
            <a:ext cx="2340000" cy="270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60000" y="1152000"/>
            <a:ext cx="2340000" cy="1800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32000" y="1403999"/>
            <a:ext cx="219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C518"/>
                </a:solidFill>
                <a:latin typeface="Calibri"/>
              </a:rPr>
              <a:t>ACCEPTABLE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2000" y="2088000"/>
            <a:ext cx="2196000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8EDF2"/>
                </a:solidFill>
                <a:latin typeface="Calibri"/>
              </a:rPr>
              <a:t>Passes constraints but better achievable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0000" y="1152000"/>
            <a:ext cx="2340000" cy="270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0000" y="1152000"/>
            <a:ext cx="2340000" cy="18000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12000" y="1403999"/>
            <a:ext cx="219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97132"/>
                </a:solidFill>
                <a:latin typeface="Calibri"/>
              </a:rPr>
              <a:t>TRADE-OFF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12000" y="2088000"/>
            <a:ext cx="2196000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8EDF2"/>
                </a:solidFill>
                <a:latin typeface="Calibri"/>
              </a:rPr>
              <a:t>Competing priorities — documented clinical decision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20000" y="1152000"/>
            <a:ext cx="2340000" cy="270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820000" y="1152000"/>
            <a:ext cx="2340000" cy="180000"/>
          </a:xfrm>
          <a:prstGeom prst="rect">
            <a:avLst/>
          </a:prstGeom>
          <a:solidFill>
            <a:srgbClr val="29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92000" y="1403999"/>
            <a:ext cx="219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9A35B"/>
                </a:solidFill>
                <a:latin typeface="Calibri"/>
              </a:rPr>
              <a:t>GOOD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92000" y="2088000"/>
            <a:ext cx="2196000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8EDF2"/>
                </a:solidFill>
                <a:latin typeface="Calibri"/>
              </a:rPr>
              <a:t>Balanced, robust, documented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0000" y="4140000"/>
            <a:ext cx="10800000" cy="648000"/>
          </a:xfrm>
          <a:prstGeom prst="rect">
            <a:avLst/>
          </a:prstGeom>
          <a:solidFill>
            <a:srgbClr val="1232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000" y="4176000"/>
            <a:ext cx="10656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E97132"/>
                </a:solidFill>
                <a:latin typeface="Calibri"/>
              </a:rPr>
              <a:t>GUT-CHECK: "Would I confidently treat my own family member with this plan?"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13200" y="6498000"/>
            <a:ext cx="9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CBE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16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F9ED5"/>
                </a:solidFill>
                <a:latin typeface="Calibri"/>
              </a:rPr>
              <a:t>FCB-CHOPS Evolution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900000"/>
            <a:ext cx="4860000" cy="234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2000" y="972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9AACBE"/>
                </a:solidFill>
                <a:latin typeface="Calibri"/>
              </a:rPr>
              <a:t>CB-CHOP (2017)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000" y="1368000"/>
            <a:ext cx="4680000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EDF2"/>
                </a:solidFill>
                <a:latin typeface="Calibri"/>
              </a:rPr>
              <a:t>Jimenez et al.
Original six-checkpoint framework
for 3DCRT plan evaluation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0000" y="900000"/>
            <a:ext cx="5400000" cy="234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0000" y="900000"/>
            <a:ext cx="5400000" cy="144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2000" y="1080000"/>
            <a:ext cx="52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F9ED5"/>
                </a:solidFill>
                <a:latin typeface="Calibri"/>
              </a:rPr>
              <a:t>FCB-CHOPS (2024)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2000" y="1475999"/>
            <a:ext cx="5220000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EDF2"/>
                </a:solidFill>
                <a:latin typeface="Calibri"/>
              </a:rPr>
              <a:t>Weisman et al.  ·  PMID 40017913
Added:  F (Fusion/Imaging)
          S (Summation)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20000" y="1728000"/>
            <a:ext cx="9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0F9ED5"/>
                </a:solidFill>
                <a:latin typeface="Calibri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0000" y="3600000"/>
            <a:ext cx="1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E97132"/>
                </a:solidFill>
                <a:latin typeface="Calibri"/>
              </a:rPr>
              <a:t>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32000" y="3600000"/>
            <a:ext cx="1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E8EDF2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4000" y="3600000"/>
            <a:ext cx="1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E8EDF2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6000" y="3600000"/>
            <a:ext cx="1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9AACBE"/>
                </a:solidFill>
                <a:latin typeface="Calibri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88000" y="3600000"/>
            <a:ext cx="1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E8EDF2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40000" y="3600000"/>
            <a:ext cx="1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E8EDF2"/>
                </a:solidFill>
                <a:latin typeface="Calibri"/>
              </a:rPr>
              <a:t>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0" y="3600000"/>
            <a:ext cx="1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E8EDF2"/>
                </a:solidFill>
                <a:latin typeface="Calibri"/>
              </a:rPr>
              <a:t>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3600000"/>
            <a:ext cx="1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E8EDF2"/>
                </a:solidFill>
                <a:latin typeface="Calibri"/>
              </a:rPr>
              <a:t>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96000" y="3600000"/>
            <a:ext cx="1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E97132"/>
                </a:solidFill>
                <a:latin typeface="Calibri"/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0000" y="4500000"/>
            <a:ext cx="36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97132"/>
                </a:solidFill>
                <a:latin typeface="Calibri"/>
              </a:rPr>
              <a:t>F · S = NEW additions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13200" y="6498000"/>
            <a:ext cx="9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CBE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16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F9ED5"/>
                </a:solidFill>
                <a:latin typeface="Calibri"/>
              </a:rPr>
              <a:t>FCB-CHOPS Framework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792000"/>
            <a:ext cx="10800000" cy="61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2000" y="828000"/>
            <a:ext cx="432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F9ED5"/>
                </a:solidFill>
                <a:latin typeface="Calibri"/>
              </a:rPr>
              <a:t>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000" y="828000"/>
            <a:ext cx="28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8EDF2"/>
                </a:solidFill>
                <a:latin typeface="Calibri"/>
              </a:rPr>
              <a:t>Fusion / Imaging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40000" y="828000"/>
            <a:ext cx="70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CBE"/>
                </a:solidFill>
                <a:latin typeface="Calibri"/>
              </a:rPr>
              <a:t>Correct image registration, tumour delineation from best imaging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40000" y="1422000"/>
            <a:ext cx="10800000" cy="612000"/>
          </a:xfrm>
          <a:prstGeom prst="rect">
            <a:avLst/>
          </a:prstGeom>
          <a:solidFill>
            <a:srgbClr val="0C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000" y="1458000"/>
            <a:ext cx="432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F9ED5"/>
                </a:solidFill>
                <a:latin typeface="Calibri"/>
              </a:rPr>
              <a:t>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000" y="1458000"/>
            <a:ext cx="28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8EDF2"/>
                </a:solidFill>
                <a:latin typeface="Calibri"/>
              </a:rPr>
              <a:t>Contours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40000" y="1458000"/>
            <a:ext cx="70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CBE"/>
                </a:solidFill>
                <a:latin typeface="Calibri"/>
              </a:rPr>
              <a:t>Target volumes and OAR delineation accurate, margins appropriate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0000" y="2052000"/>
            <a:ext cx="10800000" cy="61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000" y="2088000"/>
            <a:ext cx="432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F9ED5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2000" y="2088000"/>
            <a:ext cx="28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8EDF2"/>
                </a:solidFill>
                <a:latin typeface="Calibri"/>
              </a:rPr>
              <a:t>Beam Arrangement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40000" y="2088000"/>
            <a:ext cx="70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CBE"/>
                </a:solidFill>
                <a:latin typeface="Calibri"/>
              </a:rPr>
              <a:t>Isocentre, geometry, MLC shaping, technical quality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0000" y="2682000"/>
            <a:ext cx="10800000" cy="612000"/>
          </a:xfrm>
          <a:prstGeom prst="rect">
            <a:avLst/>
          </a:prstGeom>
          <a:solidFill>
            <a:srgbClr val="0C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000" y="2718000"/>
            <a:ext cx="432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F9ED5"/>
                </a:solidFill>
                <a:latin typeface="Calibri"/>
              </a:rPr>
              <a:t>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000" y="2718000"/>
            <a:ext cx="28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8EDF2"/>
                </a:solidFill>
                <a:latin typeface="Calibri"/>
              </a:rPr>
              <a:t>Coverage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40000" y="2718000"/>
            <a:ext cx="70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CBE"/>
                </a:solidFill>
                <a:latin typeface="Calibri"/>
              </a:rPr>
              <a:t>Target coverage metrics: D95, D2, HI, CI, cold spots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0000" y="3312000"/>
            <a:ext cx="10800000" cy="61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000" y="3348000"/>
            <a:ext cx="432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F9ED5"/>
                </a:solidFill>
                <a:latin typeface="Calibri"/>
              </a:rPr>
              <a:t>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2000" y="3348000"/>
            <a:ext cx="28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8EDF2"/>
                </a:solidFill>
                <a:latin typeface="Calibri"/>
              </a:rPr>
              <a:t>Heterogeneity/Hotspots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40000" y="3348000"/>
            <a:ext cx="70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CBE"/>
                </a:solidFill>
                <a:latin typeface="Calibri"/>
              </a:rPr>
              <a:t>Hotspot location — inside PTV? D2% &lt;107%?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0000" y="3942000"/>
            <a:ext cx="10800000" cy="612000"/>
          </a:xfrm>
          <a:prstGeom prst="rect">
            <a:avLst/>
          </a:prstGeom>
          <a:solidFill>
            <a:srgbClr val="0C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000" y="3978000"/>
            <a:ext cx="432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F9ED5"/>
                </a:solidFill>
                <a:latin typeface="Calibri"/>
              </a:rPr>
              <a:t>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2000" y="3978000"/>
            <a:ext cx="28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8EDF2"/>
                </a:solidFill>
                <a:latin typeface="Calibri"/>
              </a:rPr>
              <a:t>Organs at 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40000" y="3978000"/>
            <a:ext cx="70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CBE"/>
                </a:solidFill>
                <a:latin typeface="Calibri"/>
              </a:rPr>
              <a:t>Serial vs parallel; QUANTEC limits; PRV applied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0000" y="4572000"/>
            <a:ext cx="10800000" cy="61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000" y="4608000"/>
            <a:ext cx="432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F9ED5"/>
                </a:solidFill>
                <a:latin typeface="Calibri"/>
              </a:rPr>
              <a:t>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2000" y="4608000"/>
            <a:ext cx="28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8EDF2"/>
                </a:solidFill>
                <a:latin typeface="Calibri"/>
              </a:rPr>
              <a:t>Prescription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40000" y="4608000"/>
            <a:ext cx="70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CBE"/>
                </a:solidFill>
                <a:latin typeface="Calibri"/>
              </a:rPr>
              <a:t>Dose/fractionation correct; normalisation point valid; laterality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0000" y="5202000"/>
            <a:ext cx="10800000" cy="612000"/>
          </a:xfrm>
          <a:prstGeom prst="rect">
            <a:avLst/>
          </a:prstGeom>
          <a:solidFill>
            <a:srgbClr val="0C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2000" y="5238000"/>
            <a:ext cx="432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F9ED5"/>
                </a:solidFill>
                <a:latin typeface="Calibri"/>
              </a:rPr>
              <a:t>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52000" y="5238000"/>
            <a:ext cx="28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8EDF2"/>
                </a:solidFill>
                <a:latin typeface="Calibri"/>
              </a:rPr>
              <a:t>Summation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40000" y="5238000"/>
            <a:ext cx="70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CBE"/>
                </a:solidFill>
                <a:latin typeface="Calibri"/>
              </a:rPr>
              <a:t>Prior RT, cumulative dose, brachytherapy phases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0000" y="6066000"/>
            <a:ext cx="64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97132"/>
                </a:solidFill>
                <a:latin typeface="Calibri"/>
              </a:rPr>
              <a:t>"Start with Prescription."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00000" y="6066000"/>
            <a:ext cx="61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AACBE"/>
                </a:solidFill>
                <a:latin typeface="Calibri"/>
              </a:rPr>
              <a:t>"Letters are a safety net, not a script."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13200" y="6498000"/>
            <a:ext cx="9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CBE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0000" y="180000"/>
            <a:ext cx="2160000" cy="54000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12000" y="198000"/>
            <a:ext cx="19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8EDF2"/>
                </a:solidFill>
                <a:latin typeface="Calibri"/>
              </a:rPr>
              <a:t>Block B: Beams &amp; Technical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0000" y="288000"/>
            <a:ext cx="36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97132"/>
                </a:solidFill>
                <a:latin typeface="Calibri"/>
              </a:rPr>
              <a:t>⏱ 12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000" y="900000"/>
            <a:ext cx="10800000" cy="864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000" y="936000"/>
            <a:ext cx="39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97132"/>
                </a:solidFill>
                <a:latin typeface="Calibri"/>
              </a:rPr>
              <a:t>Isocentre placement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000" y="1296000"/>
            <a:ext cx="1008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alibri"/>
              </a:rPr>
              <a:t>Central within PTV; not in lung, air, or density interface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0000" y="1836000"/>
            <a:ext cx="10800000" cy="864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000" y="1872000"/>
            <a:ext cx="39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97132"/>
                </a:solidFill>
                <a:latin typeface="Calibri"/>
              </a:rPr>
              <a:t>Beam geometry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000" y="2232000"/>
            <a:ext cx="1008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alibri"/>
              </a:rPr>
              <a:t>Gantry/collimator angles; coplanar vs non-coplanar; BEV check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0000" y="2772000"/>
            <a:ext cx="10800000" cy="864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000" y="2808000"/>
            <a:ext cx="39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97132"/>
                </a:solidFill>
                <a:latin typeface="Calibri"/>
              </a:rPr>
              <a:t>MLC shaping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000" y="3168000"/>
            <a:ext cx="1008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alibri"/>
              </a:rPr>
              <a:t>Adequate margin around PTV; no tight clipping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0000" y="3708000"/>
            <a:ext cx="10800000" cy="864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000" y="3744000"/>
            <a:ext cx="39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97132"/>
                </a:solidFill>
                <a:latin typeface="Calibri"/>
              </a:rPr>
              <a:t>Wedges / FiF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000" y="4104000"/>
            <a:ext cx="1008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alibri"/>
              </a:rPr>
              <a:t>Compensate sloping surfaces; field-in-field sub-segments for hotspots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0" y="4644000"/>
            <a:ext cx="10800000" cy="864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000" y="4680000"/>
            <a:ext cx="39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97132"/>
                </a:solidFill>
                <a:latin typeface="Calibri"/>
              </a:rPr>
              <a:t>Monitor unit 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000" y="5040000"/>
            <a:ext cx="1008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alibri"/>
              </a:rPr>
              <a:t>MU values plausible; no anomalous field weights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13200" y="6498000"/>
            <a:ext cx="9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CBE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80000"/>
            <a:ext cx="1080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F9ED5"/>
                </a:solidFill>
                <a:latin typeface="Calibri"/>
              </a:rPr>
              <a:t>Field Arrangement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684000"/>
            <a:ext cx="108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E8EDF2"/>
                </a:solidFill>
                <a:latin typeface="Calibri"/>
              </a:rPr>
              <a:t>Every beam should reach the target by the most direct, safest route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1152000"/>
            <a:ext cx="3420000" cy="342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0000" y="1152000"/>
            <a:ext cx="3420000" cy="1800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000" y="1404000"/>
            <a:ext cx="327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C518"/>
                </a:solidFill>
                <a:latin typeface="Calibri"/>
              </a:rPr>
              <a:t>UNAVOIDABLE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000" y="1835999"/>
            <a:ext cx="3276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8EDF2"/>
                </a:solidFill>
                <a:latin typeface="Calibri"/>
              </a:rPr>
              <a:t>4-field box — OARs in beam path
Document and manage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000" y="2700000"/>
            <a:ext cx="3276000" cy="172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AACBE"/>
                </a:solidFill>
                <a:latin typeface="Calibri"/>
              </a:rPr>
              <a:t>AP + PA + 2 laterals. Rectum and bladder in beam path for pelvis.
Document DVH values; optimize weighting to minimize dose.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20000" y="1152000"/>
            <a:ext cx="3420000" cy="342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20000" y="1152000"/>
            <a:ext cx="3420000" cy="180000"/>
          </a:xfrm>
          <a:prstGeom prst="rect">
            <a:avLst/>
          </a:prstGeom>
          <a:solidFill>
            <a:srgbClr val="D4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2000" y="1404000"/>
            <a:ext cx="327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44040"/>
                </a:solidFill>
                <a:latin typeface="Calibri"/>
              </a:rPr>
              <a:t>AVOIDABLE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2000" y="1835999"/>
            <a:ext cx="3276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8EDF2"/>
                </a:solidFill>
                <a:latin typeface="Calibri"/>
              </a:rPr>
              <a:t>Beam transits OAR before PTV
Re-angle the field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92000" y="2700000"/>
            <a:ext cx="3276000" cy="172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AACBE"/>
                </a:solidFill>
                <a:latin typeface="Calibri"/>
              </a:rPr>
              <a:t>Beam enters through critical OAR on its way to target.
Re-angle gantry to use OAR-free entry path.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0000" y="1152000"/>
            <a:ext cx="3420000" cy="342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00000" y="1152000"/>
            <a:ext cx="3420000" cy="180000"/>
          </a:xfrm>
          <a:prstGeom prst="rect">
            <a:avLst/>
          </a:prstGeom>
          <a:solidFill>
            <a:srgbClr val="29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72000" y="1404000"/>
            <a:ext cx="327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9A35B"/>
                </a:solidFill>
                <a:latin typeface="Calibri"/>
              </a:rPr>
              <a:t>SOLUTION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72000" y="1835999"/>
            <a:ext cx="3276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8EDF2"/>
                </a:solidFill>
                <a:latin typeface="Calibri"/>
              </a:rPr>
              <a:t>Ipsilateral entry — OAR-free side
Beam avoids contralateral OAR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2000" y="2700000"/>
            <a:ext cx="3276000" cy="172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AACBE"/>
                </a:solidFill>
                <a:latin typeface="Calibri"/>
              </a:rPr>
              <a:t>Choose entry angle from the ipsilateral side.
Avoids transit through uninvolved structures.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0000" y="6138000"/>
            <a:ext cx="108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E97132"/>
                </a:solidFill>
                <a:latin typeface="Calibri"/>
              </a:rPr>
              <a:t>"Before accepting any OAR transit — ask: is there an arrangement that avoids it?"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13200" y="6498000"/>
            <a:ext cx="9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CBE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16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F9ED5"/>
                </a:solidFill>
                <a:latin typeface="Calibri"/>
              </a:rPr>
              <a:t>Technical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792000"/>
            <a:ext cx="50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44040"/>
                </a:solidFill>
                <a:latin typeface="Calibri"/>
              </a:rPr>
              <a:t>Technical Red Flags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1188000"/>
            <a:ext cx="5040000" cy="54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0000" y="1188000"/>
            <a:ext cx="144000" cy="540000"/>
          </a:xfrm>
          <a:prstGeom prst="rect">
            <a:avLst/>
          </a:prstGeom>
          <a:solidFill>
            <a:srgbClr val="D4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6000" y="1224000"/>
            <a:ext cx="108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4040"/>
                </a:solidFill>
                <a:latin typeface="Calibri"/>
              </a:rPr>
              <a:t>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2000" y="1224000"/>
            <a:ext cx="360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Isocentre in lung / air / density interface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0000" y="1800000"/>
            <a:ext cx="5040000" cy="54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0000" y="1800000"/>
            <a:ext cx="144000" cy="540000"/>
          </a:xfrm>
          <a:prstGeom prst="rect">
            <a:avLst/>
          </a:prstGeom>
          <a:solidFill>
            <a:srgbClr val="D4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6000" y="1836000"/>
            <a:ext cx="108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4040"/>
                </a:solidFill>
                <a:latin typeface="Calibri"/>
              </a:rPr>
              <a:t>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2000" y="1836000"/>
            <a:ext cx="360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Beam transiting critical OAR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0000" y="2412000"/>
            <a:ext cx="5040000" cy="54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0000" y="2412000"/>
            <a:ext cx="144000" cy="540000"/>
          </a:xfrm>
          <a:prstGeom prst="rect">
            <a:avLst/>
          </a:prstGeom>
          <a:solidFill>
            <a:srgbClr val="D4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6000" y="2448000"/>
            <a:ext cx="108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4040"/>
                </a:solidFill>
                <a:latin typeface="Calibri"/>
              </a:rPr>
              <a:t>RISK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2000" y="2448000"/>
            <a:ext cx="360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Hotspot outside PTV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0000" y="3024000"/>
            <a:ext cx="5040000" cy="54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0000" y="3024000"/>
            <a:ext cx="144000" cy="54000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6000" y="3060000"/>
            <a:ext cx="108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97132"/>
                </a:solidFill>
                <a:latin typeface="Calibri"/>
              </a:rPr>
              <a:t>MAJOR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2000" y="3060000"/>
            <a:ext cx="360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MLC clipped tight to PTV edge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0000" y="3636000"/>
            <a:ext cx="5040000" cy="54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0000" y="3636000"/>
            <a:ext cx="144000" cy="54000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6000" y="3672000"/>
            <a:ext cx="108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97132"/>
                </a:solidFill>
                <a:latin typeface="Calibri"/>
              </a:rPr>
              <a:t>MAJOR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2000" y="3672000"/>
            <a:ext cx="360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Normalisation point in unstable tissue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0000" y="792000"/>
            <a:ext cx="54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9A35B"/>
                </a:solidFill>
                <a:latin typeface="Calibri"/>
              </a:rPr>
              <a:t>Technical Checks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0000" y="1188000"/>
            <a:ext cx="5400000" cy="54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28000" y="1242000"/>
            <a:ext cx="51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✓  Isocentre — central in PTV, not in air/lung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0000" y="1800000"/>
            <a:ext cx="5400000" cy="54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28000" y="1854000"/>
            <a:ext cx="51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✓  Beam weighting — balanced; hotspot central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0000" y="2412000"/>
            <a:ext cx="5400000" cy="54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28000" y="2466000"/>
            <a:ext cx="51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✓  Wedges — appropriate heel/toe; check direction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20000" y="3024000"/>
            <a:ext cx="5400000" cy="54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28000" y="3078000"/>
            <a:ext cx="51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✓  Field-in-field — sub-segments block peak hotspots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20000" y="3636000"/>
            <a:ext cx="5400000" cy="54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28000" y="3690000"/>
            <a:ext cx="51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✓  Monitor units — plausible; no anomalous values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13200" y="6498000"/>
            <a:ext cx="9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CBE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80000"/>
            <a:ext cx="1080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F9ED5"/>
                </a:solidFill>
                <a:latin typeface="Calibri"/>
              </a:rPr>
              <a:t>Hot Spots — Location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684000"/>
            <a:ext cx="108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EDF2"/>
                </a:solidFill>
                <a:latin typeface="Calibri"/>
              </a:rPr>
              <a:t>Hot spots, dose gradient &amp; integral dose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1152000"/>
            <a:ext cx="5040000" cy="324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0000" y="1152000"/>
            <a:ext cx="5040000" cy="180000"/>
          </a:xfrm>
          <a:prstGeom prst="rect">
            <a:avLst/>
          </a:prstGeom>
          <a:solidFill>
            <a:srgbClr val="29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000" y="1404000"/>
            <a:ext cx="486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9A35B"/>
                </a:solidFill>
                <a:latin typeface="Calibri"/>
              </a:rPr>
              <a:t>Hotspot INSIDE PTV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000" y="1908000"/>
            <a:ext cx="4860000" cy="2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alibri"/>
              </a:rPr>
              <a:t>= ACCEPTABLE
107% inside the target is expected in 3DCRT.
The prescription point is normalised to ~100%.
A modest hotspot in the tumour itself is clinically acceptable.
Monitor: ensure D2% &lt; 107%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0000" y="1152000"/>
            <a:ext cx="5040000" cy="324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0000" y="1152000"/>
            <a:ext cx="5040000" cy="180000"/>
          </a:xfrm>
          <a:prstGeom prst="rect">
            <a:avLst/>
          </a:prstGeom>
          <a:solidFill>
            <a:srgbClr val="D4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92000" y="1404000"/>
            <a:ext cx="486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44040"/>
                </a:solidFill>
                <a:latin typeface="Calibri"/>
              </a:rPr>
              <a:t>Hotspot OUTSIDE PTV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2000" y="1908000"/>
            <a:ext cx="4860000" cy="2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alibri"/>
              </a:rPr>
              <a:t>= CONCERN
In OAR or skin = PROBLEM.
Causes: deep isocentre, unweighted beams, density heterogeneity.
Action: move iso, adjust weighting, check BEV.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0000" y="6138000"/>
            <a:ext cx="108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E97132"/>
                </a:solidFill>
                <a:latin typeface="Calibri"/>
              </a:rPr>
              <a:t>"The same hot spot is acceptable inside the PTV and a problem outside it"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13200" y="6498000"/>
            <a:ext cx="9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CBE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0000" y="180000"/>
            <a:ext cx="2160000" cy="540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12000" y="198000"/>
            <a:ext cx="2015999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A1F33"/>
                </a:solidFill>
                <a:latin typeface="Calibri"/>
              </a:rPr>
              <a:t>Block C: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0000" y="288000"/>
            <a:ext cx="36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F9ED5"/>
                </a:solidFill>
                <a:latin typeface="Calibri"/>
              </a:rPr>
              <a:t>⏱ 10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000" y="827999"/>
            <a:ext cx="10800000" cy="79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000" y="863999"/>
            <a:ext cx="28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9ED5"/>
                </a:solidFill>
                <a:latin typeface="Calibri"/>
              </a:rPr>
              <a:t>Volume Hierarchy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80000" y="917999"/>
            <a:ext cx="738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GTV → CTV → ITV → PTV</a:t>
            </a:r>
          </a:p>
        </p:txBody>
      </p:sp>
      <p:sp>
        <p:nvSpPr>
          <p:cNvPr id="9" name="Rectangle 8"/>
          <p:cNvSpPr/>
          <p:nvPr/>
        </p:nvSpPr>
        <p:spPr>
          <a:xfrm>
            <a:off x="540000" y="1673999"/>
            <a:ext cx="10800000" cy="79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000" y="1709999"/>
            <a:ext cx="28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EDF2"/>
                </a:solidFill>
                <a:latin typeface="Calibri"/>
              </a:rPr>
              <a:t>DVH Reading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0000" y="1763999"/>
            <a:ext cx="738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CBE"/>
                </a:solidFill>
                <a:latin typeface="Calibri"/>
              </a:rPr>
              <a:t>D-metrics and V-metrics; DVH screens, isodose slices diagnose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0000" y="2519999"/>
            <a:ext cx="10800000" cy="79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000" y="2555999"/>
            <a:ext cx="28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EDF2"/>
                </a:solidFill>
                <a:latin typeface="Calibri"/>
              </a:rPr>
              <a:t>D95 / D2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80000" y="2609999"/>
            <a:ext cx="738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CBE"/>
                </a:solidFill>
                <a:latin typeface="Calibri"/>
              </a:rPr>
              <a:t>D95 ≥ 95%  ·  D2% &lt; 107% (ICRU 83 near-maximum)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0000" y="3365999"/>
            <a:ext cx="10800000" cy="79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000" y="3401999"/>
            <a:ext cx="28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EDF2"/>
                </a:solidFill>
                <a:latin typeface="Calibri"/>
              </a:rPr>
              <a:t>HI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80000" y="3455999"/>
            <a:ext cx="738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CBE"/>
                </a:solidFill>
                <a:latin typeface="Calibri"/>
              </a:rPr>
              <a:t>Homogeneity Index = (D2−D98)/D50  ·  &lt;0.1 good  &lt;0.15 acceptable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0" y="4211999"/>
            <a:ext cx="10800000" cy="79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000" y="4247999"/>
            <a:ext cx="28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EDF2"/>
                </a:solidFill>
                <a:latin typeface="Calibri"/>
              </a:rPr>
              <a:t>CI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80000" y="4301999"/>
            <a:ext cx="738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CBE"/>
                </a:solidFill>
                <a:latin typeface="Calibri"/>
              </a:rPr>
              <a:t>Conformity Index = PIV/TV  ·  Ideal 1.0–1.2  ·  Higher expected in 3DCRT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0000" y="5057999"/>
            <a:ext cx="10800000" cy="79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000" y="5093999"/>
            <a:ext cx="28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44040"/>
                </a:solidFill>
                <a:latin typeface="Calibri"/>
              </a:rPr>
              <a:t>Cold Spots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80000" y="5147999"/>
            <a:ext cx="738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Under-dosed CTV region — most important failure to detect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13200" y="6498000"/>
            <a:ext cx="9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CBE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16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F9ED5"/>
                </a:solidFill>
                <a:latin typeface="Calibri"/>
              </a:rPr>
              <a:t>DVH + Volume Hierarchy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827999"/>
            <a:ext cx="10800000" cy="79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0000" y="827999"/>
            <a:ext cx="180000" cy="792000"/>
          </a:xfrm>
          <a:prstGeom prst="rect">
            <a:avLst/>
          </a:prstGeom>
          <a:solidFill>
            <a:srgbClr val="D4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863999"/>
            <a:ext cx="10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D44040"/>
                </a:solidFill>
                <a:latin typeface="Calibri"/>
              </a:rPr>
              <a:t>GTV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80000" y="863999"/>
            <a:ext cx="32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8EDF2"/>
                </a:solidFill>
                <a:latin typeface="Calibri"/>
              </a:rPr>
              <a:t>Gross Tumour Volume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0" y="917999"/>
            <a:ext cx="5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CBE"/>
                </a:solidFill>
                <a:latin typeface="Calibri"/>
              </a:rPr>
              <a:t>Visible/palpable tumour on imaging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540000" y="1691999"/>
            <a:ext cx="10800000" cy="79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0000" y="1691999"/>
            <a:ext cx="180000" cy="79200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1727999"/>
            <a:ext cx="10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97132"/>
                </a:solidFill>
                <a:latin typeface="Calibri"/>
              </a:rPr>
              <a:t>CTV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80000" y="1727999"/>
            <a:ext cx="32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8EDF2"/>
                </a:solidFill>
                <a:latin typeface="Calibri"/>
              </a:rPr>
              <a:t>Clinical Target Volume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00000" y="1781999"/>
            <a:ext cx="5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CBE"/>
                </a:solidFill>
                <a:latin typeface="Calibri"/>
              </a:rPr>
              <a:t>GTV + microscopic spread (clinical target)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0000" y="2555999"/>
            <a:ext cx="10800000" cy="79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0000" y="2555999"/>
            <a:ext cx="180000" cy="7920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2000" y="2591999"/>
            <a:ext cx="10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C518"/>
                </a:solidFill>
                <a:latin typeface="Calibri"/>
              </a:rPr>
              <a:t>ITV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80000" y="2591999"/>
            <a:ext cx="32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8EDF2"/>
                </a:solidFill>
                <a:latin typeface="Calibri"/>
              </a:rPr>
              <a:t>Internal Target Volume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00000" y="2645999"/>
            <a:ext cx="5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CBE"/>
                </a:solidFill>
                <a:latin typeface="Calibri"/>
              </a:rPr>
              <a:t>CTV + internal motion margin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0000" y="3419999"/>
            <a:ext cx="10800000" cy="79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0000" y="3419999"/>
            <a:ext cx="180000" cy="792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3455999"/>
            <a:ext cx="10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F9ED5"/>
                </a:solidFill>
                <a:latin typeface="Calibri"/>
              </a:rPr>
              <a:t>PTV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80000" y="3455999"/>
            <a:ext cx="32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8EDF2"/>
                </a:solidFill>
                <a:latin typeface="Calibri"/>
              </a:rPr>
              <a:t>Planning Target Volume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00000" y="3509999"/>
            <a:ext cx="5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CBE"/>
                </a:solidFill>
                <a:latin typeface="Calibri"/>
              </a:rPr>
              <a:t>ITV/CTV + set-up uncertainty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000" y="450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1">
                <a:solidFill>
                  <a:srgbClr val="E97132"/>
                </a:solidFill>
                <a:latin typeface="Calibri"/>
              </a:rPr>
              <a:t>"We prescribe to PTV but the clinical aim is to cover the CTV"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0000" y="5040000"/>
            <a:ext cx="10800000" cy="90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2000" y="5076000"/>
            <a:ext cx="10656000" cy="82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F9ED5"/>
                </a:solidFill>
                <a:latin typeface="Calibri"/>
              </a:rPr>
              <a:t>DVH: screens for problems at a glance  ·  Isodose slices: diagnose exactly where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13200" y="6498000"/>
            <a:ext cx="9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CBE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16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F9ED5"/>
                </a:solidFill>
                <a:latin typeface="Calibri"/>
              </a:rPr>
              <a:t>Coverage Metrics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900000"/>
            <a:ext cx="10800000" cy="108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2000" y="954000"/>
            <a:ext cx="126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F9ED5"/>
                </a:solidFill>
                <a:latin typeface="Courier New"/>
              </a:rPr>
              <a:t>D95%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0000" y="954000"/>
            <a:ext cx="88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E8EDF2"/>
                </a:solidFill>
                <a:latin typeface="Calibri"/>
              </a:rPr>
              <a:t>Standard aim: D95 ≥ 95%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80000" y="1403999"/>
            <a:ext cx="882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AACBE"/>
                </a:solidFill>
                <a:latin typeface="Calibri"/>
              </a:rPr>
              <a:t>Dose received by 95% of the PTV. Key coverage benchmark.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0000" y="2052000"/>
            <a:ext cx="10800000" cy="108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000" y="2106000"/>
            <a:ext cx="126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F9ED5"/>
                </a:solidFill>
                <a:latin typeface="Courier New"/>
              </a:rPr>
              <a:t>D2%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80000" y="2106000"/>
            <a:ext cx="88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E8EDF2"/>
                </a:solidFill>
                <a:latin typeface="Calibri"/>
              </a:rPr>
              <a:t>Near-maximum · ICRU 83: D2% &lt; 107%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80000" y="2555999"/>
            <a:ext cx="882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AACBE"/>
                </a:solidFill>
                <a:latin typeface="Calibri"/>
              </a:rPr>
              <a:t>Dose to the hottest 2% of the volume. Replaces Dmax in modern reporting.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0000" y="3204000"/>
            <a:ext cx="10800000" cy="108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000" y="3258000"/>
            <a:ext cx="126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F9ED5"/>
                </a:solidFill>
                <a:latin typeface="Courier New"/>
              </a:rPr>
              <a:t>HI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80000" y="3258000"/>
            <a:ext cx="88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E8EDF2"/>
                </a:solidFill>
                <a:latin typeface="Calibri"/>
              </a:rPr>
              <a:t>Homogeneity Index = (D2 − D98) / D50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80000" y="3707999"/>
            <a:ext cx="882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AACBE"/>
                </a:solidFill>
                <a:latin typeface="Calibri"/>
              </a:rPr>
              <a:t>&lt;0.1 good   &lt;0.15 acceptable   &gt;0.2 poor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0000" y="4356000"/>
            <a:ext cx="10800000" cy="108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000" y="4410000"/>
            <a:ext cx="126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F9ED5"/>
                </a:solidFill>
                <a:latin typeface="Courier New"/>
              </a:rPr>
              <a:t>CI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80000" y="4410000"/>
            <a:ext cx="88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E8EDF2"/>
                </a:solidFill>
                <a:latin typeface="Calibri"/>
              </a:rPr>
              <a:t>Conformity Index = PIV / TV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80000" y="4859999"/>
            <a:ext cx="882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AACBE"/>
                </a:solidFill>
                <a:latin typeface="Calibri"/>
              </a:rPr>
              <a:t>Ideal 1.0–1.2   Higher values expected in 3DCRT (no IMRT shaping)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0000" y="6138000"/>
            <a:ext cx="108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E97132"/>
                </a:solidFill>
                <a:latin typeface="Calibri"/>
              </a:rPr>
              <a:t>"Coverage is negotiable where PTV abuts serial OAR"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13200" y="6498000"/>
            <a:ext cx="9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CBE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0000" y="180000"/>
            <a:ext cx="2160000" cy="540000"/>
          </a:xfrm>
          <a:prstGeom prst="rect">
            <a:avLst/>
          </a:prstGeom>
          <a:solidFill>
            <a:srgbClr val="29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12000" y="198000"/>
            <a:ext cx="2015999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A1F33"/>
                </a:solidFill>
                <a:latin typeface="Calibri"/>
              </a:rPr>
              <a:t>Block O: Organs at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0000" y="288000"/>
            <a:ext cx="36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9A35B"/>
                </a:solidFill>
                <a:latin typeface="Calibri"/>
              </a:rPr>
              <a:t>⏱ 10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000" y="900000"/>
            <a:ext cx="10800000" cy="1007999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000" y="936000"/>
            <a:ext cx="36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9A35B"/>
                </a:solidFill>
                <a:latin typeface="Calibri"/>
              </a:rPr>
              <a:t>Serial vs Parallel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000" y="1368000"/>
            <a:ext cx="1026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alibri"/>
              </a:rPr>
              <a:t>Organ architecture determines the relevant dose metric</a:t>
            </a:r>
          </a:p>
        </p:txBody>
      </p:sp>
      <p:sp>
        <p:nvSpPr>
          <p:cNvPr id="9" name="Rectangle 8"/>
          <p:cNvSpPr/>
          <p:nvPr/>
        </p:nvSpPr>
        <p:spPr>
          <a:xfrm>
            <a:off x="540000" y="1980000"/>
            <a:ext cx="10800000" cy="1007999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000" y="2016000"/>
            <a:ext cx="36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9A35B"/>
                </a:solidFill>
                <a:latin typeface="Calibri"/>
              </a:rPr>
              <a:t>Dose Metrics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000" y="2448000"/>
            <a:ext cx="1026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alibri"/>
              </a:rPr>
              <a:t>Serial → Dmax or D1cc  ·  Parallel → Dmean or Vx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0000" y="3060000"/>
            <a:ext cx="10800000" cy="1007999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000" y="3096000"/>
            <a:ext cx="36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9A35B"/>
                </a:solidFill>
                <a:latin typeface="Calibri"/>
              </a:rPr>
              <a:t>QUANTEC Constraints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000" y="3528000"/>
            <a:ext cx="1026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alibri"/>
              </a:rPr>
              <a:t>Evidence-based dose–volume limits for normal tissue complication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0000" y="4140000"/>
            <a:ext cx="10800000" cy="1007999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000" y="4176000"/>
            <a:ext cx="36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9A35B"/>
                </a:solidFill>
                <a:latin typeface="Calibri"/>
              </a:rPr>
              <a:t>PRV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000" y="4608000"/>
            <a:ext cx="1026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alibri"/>
              </a:rPr>
              <a:t>Planning Risk Volume — structural margin around serial OAR (analogous to PTV for targets)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3200" y="6498000"/>
            <a:ext cx="9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CBE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16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F9ED5"/>
                </a:solidFill>
                <a:latin typeface="Calibri"/>
              </a:rPr>
              <a:t>Serial vs Parallel OARs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864000"/>
            <a:ext cx="5220000" cy="396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0000" y="864000"/>
            <a:ext cx="5220000" cy="180000"/>
          </a:xfrm>
          <a:prstGeom prst="rect">
            <a:avLst/>
          </a:prstGeom>
          <a:solidFill>
            <a:srgbClr val="D4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000" y="1080000"/>
            <a:ext cx="50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D44040"/>
                </a:solidFill>
                <a:latin typeface="Calibri"/>
              </a:rPr>
              <a:t>SERIAL OARs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000" y="1548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8EDF2"/>
                </a:solidFill>
                <a:latin typeface="Calibri"/>
              </a:rPr>
              <a:t>Metric: Dmax / D1cc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000" y="1908000"/>
            <a:ext cx="50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CBE"/>
                </a:solidFill>
                <a:latin typeface="Calibri"/>
              </a:rPr>
              <a:t>One failed sub-unit = organ 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000" y="2448000"/>
            <a:ext cx="5040000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ourier New"/>
              </a:rPr>
              <a:t>Cord:       ≤ 45 Gy
Brainstem:  ≤ 54 Gy
Chiasm:     ≤ 54 Gy
Apply PRV margin (structural buffer)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0000" y="864000"/>
            <a:ext cx="5220000" cy="396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0000" y="864000"/>
            <a:ext cx="5220000" cy="180000"/>
          </a:xfrm>
          <a:prstGeom prst="rect">
            <a:avLst/>
          </a:prstGeom>
          <a:solidFill>
            <a:srgbClr val="29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2000" y="1080000"/>
            <a:ext cx="50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9A35B"/>
                </a:solidFill>
                <a:latin typeface="Calibri"/>
              </a:rPr>
              <a:t>PARALLEL OARs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2000" y="1548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8EDF2"/>
                </a:solidFill>
                <a:latin typeface="Calibri"/>
              </a:rPr>
              <a:t>Metric: Mean dose / Vx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2000" y="1908000"/>
            <a:ext cx="50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CBE"/>
                </a:solidFill>
                <a:latin typeface="Calibri"/>
              </a:rPr>
              <a:t>Redundant sub-units — partial loss tolerated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2000" y="2448000"/>
            <a:ext cx="5040000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ourier New"/>
              </a:rPr>
              <a:t>Lung:    V20 &lt; 30%
Parotid: mean &lt; 26 Gy
Rectum:  V70 &lt; 20%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000" y="6138000"/>
            <a:ext cx="108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9AACBE"/>
                </a:solidFill>
                <a:latin typeface="Calibri"/>
              </a:rPr>
              <a:t>"Constraints are not absolutes — re-irradiation, chemo, comorbidities all move the line"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13200" y="6498000"/>
            <a:ext cx="9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CBE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0000" y="180000"/>
            <a:ext cx="2880000" cy="54000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12000" y="198000"/>
            <a:ext cx="280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8EDF2"/>
                </a:solidFill>
                <a:latin typeface="Calibri"/>
              </a:rPr>
              <a:t>Block P·S: Prescription &amp; Summation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80000" y="288000"/>
            <a:ext cx="36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97132"/>
                </a:solidFill>
                <a:latin typeface="Calibri"/>
              </a:rPr>
              <a:t>⏱ 8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000" y="900000"/>
            <a:ext cx="10800000" cy="32400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000" y="918000"/>
            <a:ext cx="104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EDF2"/>
                </a:solidFill>
                <a:latin typeface="Calibri"/>
              </a:rPr>
              <a:t>Prescription Verification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1260000"/>
            <a:ext cx="1044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CBE"/>
                </a:solidFill>
                <a:latin typeface="Calibri"/>
              </a:rPr>
              <a:t>· Dose per fraction correct?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1530000"/>
            <a:ext cx="1044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CBE"/>
                </a:solidFill>
                <a:latin typeface="Calibri"/>
              </a:rPr>
              <a:t>· Total dose = dose/fraction × number of fractions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000" y="1800000"/>
            <a:ext cx="1044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CBE"/>
                </a:solidFill>
                <a:latin typeface="Calibri"/>
              </a:rPr>
              <a:t>· Normalisation point in stable representative tissue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000" y="2070000"/>
            <a:ext cx="1044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CBE"/>
                </a:solidFill>
                <a:latin typeface="Calibri"/>
              </a:rPr>
              <a:t>· Laterality confirmed (left vs right side)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0000" y="2448000"/>
            <a:ext cx="10800000" cy="32400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000" y="2466000"/>
            <a:ext cx="104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EDF2"/>
                </a:solidFill>
                <a:latin typeface="Calibri"/>
              </a:rPr>
              <a:t>Summation Checklist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000" y="2808000"/>
            <a:ext cx="1044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CBE"/>
                </a:solidFill>
                <a:latin typeface="Calibri"/>
              </a:rPr>
              <a:t>· Prior RT to same region — cumulative dose calculated?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0000" y="3078000"/>
            <a:ext cx="1044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CBE"/>
                </a:solidFill>
                <a:latin typeface="Calibri"/>
              </a:rPr>
              <a:t>· Brachytherapy boost phase — EBRT is Phase 1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000" y="3348000"/>
            <a:ext cx="1044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CBE"/>
                </a:solidFill>
                <a:latin typeface="Calibri"/>
              </a:rPr>
              <a:t>· EQD2 summation for re-irradiation 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000" y="3618000"/>
            <a:ext cx="1044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CBE"/>
                </a:solidFill>
                <a:latin typeface="Calibri"/>
              </a:rPr>
              <a:t>· All phases documented in plan directive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0" y="3996000"/>
            <a:ext cx="10800000" cy="32400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000" y="4014000"/>
            <a:ext cx="104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EDF2"/>
                </a:solidFill>
                <a:latin typeface="Calibri"/>
              </a:rPr>
              <a:t>Triage Tiers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000" y="4356000"/>
            <a:ext cx="1044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CBE"/>
                </a:solidFill>
                <a:latin typeface="Calibri"/>
              </a:rPr>
              <a:t>· CRITICAL → Re-plan immediately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000" y="4626000"/>
            <a:ext cx="1044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CBE"/>
                </a:solidFill>
                <a:latin typeface="Calibri"/>
              </a:rPr>
              <a:t>· MAJOR → Correct or justify with documentation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000" y="4896000"/>
            <a:ext cx="1044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CBE"/>
                </a:solidFill>
                <a:latin typeface="Calibri"/>
              </a:rPr>
              <a:t>· MINOR → Comment; proceed with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13200" y="6498000"/>
            <a:ext cx="9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CBE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80000"/>
            <a:ext cx="1080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9ED5"/>
                </a:solidFill>
                <a:latin typeface="Calibri"/>
              </a:rPr>
              <a:t>Triage Tiers + Evaluation Scorecard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792000"/>
            <a:ext cx="10800000" cy="79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0000" y="792000"/>
            <a:ext cx="180000" cy="792000"/>
          </a:xfrm>
          <a:prstGeom prst="rect">
            <a:avLst/>
          </a:prstGeom>
          <a:solidFill>
            <a:srgbClr val="D4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828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44040"/>
                </a:solidFill>
                <a:latin typeface="Calibri"/>
              </a:rPr>
              <a:t>CRITICAL — Re-plan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1188000"/>
            <a:ext cx="1008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CBE"/>
                </a:solidFill>
                <a:latin typeface="Calibri"/>
              </a:rPr>
              <a:t>Geographic miss  ·  Serial OAR above hard limit  ·  Hotspot in critical organ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0000" y="1656000"/>
            <a:ext cx="10800000" cy="79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0000" y="1656000"/>
            <a:ext cx="180000" cy="79200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1692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97132"/>
                </a:solidFill>
                <a:latin typeface="Calibri"/>
              </a:rPr>
              <a:t>MAJOR — Correct or justify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2052000"/>
            <a:ext cx="1008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CBE"/>
                </a:solidFill>
                <a:latin typeface="Calibri"/>
              </a:rPr>
              <a:t>Parallel OAR over constraint  ·  V95 borderline  ·  Avoidable beam through OAR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0000" y="2520000"/>
            <a:ext cx="10800000" cy="79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0000" y="2520000"/>
            <a:ext cx="180000" cy="7920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2556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C518"/>
                </a:solidFill>
                <a:latin typeface="Calibri"/>
              </a:rPr>
              <a:t>MINOR — Comment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2916000"/>
            <a:ext cx="1008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CBE"/>
                </a:solidFill>
                <a:latin typeface="Calibri"/>
              </a:rPr>
              <a:t>Minor HI elevation  ·  Documentation gap  ·  Suboptimal but acceptable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0000" y="3456000"/>
            <a:ext cx="4860000" cy="162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0000" y="3456000"/>
            <a:ext cx="4860000" cy="180000"/>
          </a:xfrm>
          <a:prstGeom prst="rect">
            <a:avLst/>
          </a:prstGeom>
          <a:solidFill>
            <a:srgbClr val="D4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000" y="3672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44040"/>
                </a:solidFill>
                <a:latin typeface="Calibri"/>
              </a:rPr>
              <a:t>Reject on Sight: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000" y="4032000"/>
            <a:ext cx="46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1) Cold CTV
2) Serial OAR hard limit breach
3) Unsafe / undeliverable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0000" y="3456000"/>
            <a:ext cx="5580000" cy="162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940000" y="3456000"/>
            <a:ext cx="5580000" cy="180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12000" y="3672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9ED5"/>
                </a:solidFill>
                <a:latin typeface="Calibri"/>
              </a:rPr>
              <a:t>Evaluation Routine: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12000" y="4032000"/>
            <a:ext cx="5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DF2"/>
                </a:solidFill>
                <a:latin typeface="Calibri"/>
              </a:rPr>
              <a:t>Prescription → Contours → Beams → Isodose
→ Coverage → Hotspots → DVH → OARs → Decision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13200" y="6498000"/>
            <a:ext cx="9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CBE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0000" y="216000"/>
            <a:ext cx="1620000" cy="540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12000" y="234000"/>
            <a:ext cx="151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A1F33"/>
                </a:solidFill>
                <a:latin typeface="Calibri"/>
              </a:rPr>
              <a:t>Case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20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8EDF2"/>
                </a:solidFill>
                <a:latin typeface="Calibri"/>
              </a:rPr>
              <a:t>Breast — Whole-Breast Tangents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000" y="1007999"/>
            <a:ext cx="10800000" cy="36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00" y="1152000"/>
            <a:ext cx="1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9ED5"/>
                </a:solidFill>
                <a:latin typeface="Calibri"/>
              </a:rPr>
              <a:t>Prescription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1440000"/>
            <a:ext cx="108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EDF2"/>
                </a:solidFill>
                <a:latin typeface="Calibri"/>
              </a:rPr>
              <a:t>2.67 Gy × 15 = 40.05 Gy  ·  Whole breast, right side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1872000"/>
            <a:ext cx="1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9ED5"/>
                </a:solidFill>
                <a:latin typeface="Calibri"/>
              </a:rPr>
              <a:t>Technique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0000" y="2160000"/>
            <a:ext cx="108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AACBE"/>
                </a:solidFill>
                <a:latin typeface="Calibri"/>
              </a:rPr>
              <a:t>Tangential photon fields (medial + lateral), FiF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0000" y="2592000"/>
            <a:ext cx="1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9ED5"/>
                </a:solidFill>
                <a:latin typeface="Calibri"/>
              </a:rPr>
              <a:t>OARs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0" y="2880000"/>
            <a:ext cx="108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AACBE"/>
                </a:solidFill>
                <a:latin typeface="Calibri"/>
              </a:rPr>
              <a:t>Heart  ·  Ipsilateral lung  ·  Contralateral breast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0000" y="3780000"/>
            <a:ext cx="10800000" cy="900000"/>
          </a:xfrm>
          <a:prstGeom prst="rect">
            <a:avLst/>
          </a:prstGeom>
          <a:solidFill>
            <a:srgbClr val="0E2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000" y="3851999"/>
            <a:ext cx="10656000" cy="7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E97132"/>
                </a:solidFill>
                <a:latin typeface="Calibri"/>
              </a:rPr>
              <a:t>"5 minutes — score Plan A"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3200" y="6498000"/>
            <a:ext cx="9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CBE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0000" y="180000"/>
            <a:ext cx="2880000" cy="54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12000" y="216000"/>
            <a:ext cx="273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F9ED5"/>
                </a:solidFill>
                <a:latin typeface="Calibri"/>
              </a:rPr>
              <a:t>Breast Plan A — Guide Your Eye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900000"/>
            <a:ext cx="10800000" cy="64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972000"/>
            <a:ext cx="36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9ED5"/>
                </a:solidFill>
                <a:latin typeface="Calibri"/>
              </a:rPr>
              <a:t>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000" y="972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alibri"/>
              </a:rPr>
              <a:t>Isocentre position — is it central in the breast tissue?</a:t>
            </a:r>
          </a:p>
        </p:txBody>
      </p:sp>
      <p:sp>
        <p:nvSpPr>
          <p:cNvPr id="8" name="Rectangle 7"/>
          <p:cNvSpPr/>
          <p:nvPr/>
        </p:nvSpPr>
        <p:spPr>
          <a:xfrm>
            <a:off x="540000" y="1584000"/>
            <a:ext cx="10800000" cy="648000"/>
          </a:xfrm>
          <a:prstGeom prst="rect">
            <a:avLst/>
          </a:prstGeom>
          <a:solidFill>
            <a:srgbClr val="0C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0000" y="1656000"/>
            <a:ext cx="36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9ED5"/>
                </a:solidFill>
                <a:latin typeface="Calibri"/>
              </a:rPr>
              <a:t>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000" y="1656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alibri"/>
              </a:rPr>
              <a:t>Tangent borders — are they crossing the midline?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0000" y="2268000"/>
            <a:ext cx="10800000" cy="64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0000" y="2340000"/>
            <a:ext cx="36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9ED5"/>
                </a:solidFill>
                <a:latin typeface="Calibri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000" y="2340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alibri"/>
              </a:rPr>
              <a:t>Flash — at least 2 cm beyond skin?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0000" y="2952000"/>
            <a:ext cx="10800000" cy="648000"/>
          </a:xfrm>
          <a:prstGeom prst="rect">
            <a:avLst/>
          </a:prstGeom>
          <a:solidFill>
            <a:srgbClr val="0C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0000" y="3024000"/>
            <a:ext cx="36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9ED5"/>
                </a:solidFill>
                <a:latin typeface="Calibri"/>
              </a:rPr>
              <a:t>4.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000" y="3024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alibri"/>
              </a:rPr>
              <a:t>Normalisation point — in breast tissue (not lung)?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0000" y="3636000"/>
            <a:ext cx="10800000" cy="64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0000" y="3708000"/>
            <a:ext cx="36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9ED5"/>
                </a:solidFill>
                <a:latin typeface="Calibri"/>
              </a:rPr>
              <a:t>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000" y="3708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alibri"/>
              </a:rPr>
              <a:t>Hotspot &lt; 115%?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0000" y="4320000"/>
            <a:ext cx="10800000" cy="648000"/>
          </a:xfrm>
          <a:prstGeom prst="rect">
            <a:avLst/>
          </a:prstGeom>
          <a:solidFill>
            <a:srgbClr val="0C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0000" y="4392000"/>
            <a:ext cx="36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9ED5"/>
                </a:solidFill>
                <a:latin typeface="Calibri"/>
              </a:rPr>
              <a:t>6.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2000" y="4392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alibri"/>
              </a:rPr>
              <a:t>Heart + lung DVH — within tolerance?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13200" y="6498000"/>
            <a:ext cx="9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CBE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80000"/>
            <a:ext cx="1080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D44040"/>
                </a:solidFill>
                <a:latin typeface="Calibri"/>
              </a:rPr>
              <a:t>Breast — Plan A is the BAD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792000"/>
            <a:ext cx="6480000" cy="54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0000" y="792000"/>
            <a:ext cx="144000" cy="540000"/>
          </a:xfrm>
          <a:prstGeom prst="rect">
            <a:avLst/>
          </a:prstGeom>
          <a:solidFill>
            <a:srgbClr val="D4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6000" y="828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4040"/>
                </a:solidFill>
                <a:latin typeface="Calibri"/>
              </a:rPr>
              <a:t>CRITICAL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40000" y="846000"/>
            <a:ext cx="45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Norm point in lung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40000" y="1386000"/>
            <a:ext cx="6480000" cy="54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0000" y="1386000"/>
            <a:ext cx="144000" cy="540000"/>
          </a:xfrm>
          <a:prstGeom prst="rect">
            <a:avLst/>
          </a:prstGeom>
          <a:solidFill>
            <a:srgbClr val="D4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6000" y="1422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4040"/>
                </a:solidFill>
                <a:latin typeface="Calibri"/>
              </a:rPr>
              <a:t>CRITICAL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0000" y="1440000"/>
            <a:ext cx="45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Hotspot &gt; 115%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0000" y="1980000"/>
            <a:ext cx="6480000" cy="54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0000" y="1980000"/>
            <a:ext cx="144000" cy="540000"/>
          </a:xfrm>
          <a:prstGeom prst="rect">
            <a:avLst/>
          </a:prstGeom>
          <a:solidFill>
            <a:srgbClr val="D4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6000" y="2016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4040"/>
                </a:solidFill>
                <a:latin typeface="Calibri"/>
              </a:rPr>
              <a:t>CRITICAL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40000" y="2034000"/>
            <a:ext cx="45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Heart over tolerance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0000" y="2574000"/>
            <a:ext cx="6480000" cy="54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0000" y="2574000"/>
            <a:ext cx="144000" cy="54000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6000" y="2610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97132"/>
                </a:solidFill>
                <a:latin typeface="Calibri"/>
              </a:rPr>
              <a:t>MAJOR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40000" y="2628000"/>
            <a:ext cx="45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Isocentre too deep (lung/heart)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0000" y="3168000"/>
            <a:ext cx="6480000" cy="54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0000" y="3168000"/>
            <a:ext cx="144000" cy="54000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6000" y="3204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97132"/>
                </a:solidFill>
                <a:latin typeface="Calibri"/>
              </a:rPr>
              <a:t>MAJOR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40000" y="3222000"/>
            <a:ext cx="45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Fields crossing midline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0000" y="3762000"/>
            <a:ext cx="6480000" cy="54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0000" y="3762000"/>
            <a:ext cx="144000" cy="54000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6000" y="3798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97132"/>
                </a:solidFill>
                <a:latin typeface="Calibri"/>
              </a:rPr>
              <a:t>MAJOR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40000" y="3816000"/>
            <a:ext cx="45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No flash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0000" y="4356000"/>
            <a:ext cx="6480000" cy="54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0000" y="4356000"/>
            <a:ext cx="144000" cy="5400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6000" y="4392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C518"/>
                </a:solidFill>
                <a:latin typeface="Calibri"/>
              </a:rPr>
              <a:t>MINOR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40000" y="4410000"/>
            <a:ext cx="45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No wedges / shaping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60000" y="792000"/>
            <a:ext cx="36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9ED5"/>
                </a:solidFill>
                <a:latin typeface="Calibri"/>
              </a:rPr>
              <a:t>What must change: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60000" y="1224000"/>
            <a:ext cx="39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→  Move iso to breast tissue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60000" y="1566000"/>
            <a:ext cx="39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→  Norm point in breast (not lung)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60000" y="1908000"/>
            <a:ext cx="39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→  No midline crossing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60000" y="2250000"/>
            <a:ext cx="39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→  ≥ 2 cm flash beyond skin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60000" y="2592000"/>
            <a:ext cx="39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→  Add wedges / FiF for shaping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13200" y="6498000"/>
            <a:ext cx="9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CBE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80000"/>
            <a:ext cx="1080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F9ED5"/>
                </a:solidFill>
                <a:latin typeface="Calibri"/>
              </a:rPr>
              <a:t>Breast — Acceptable vs Good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792000"/>
            <a:ext cx="5220000" cy="450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0000" y="792000"/>
            <a:ext cx="5220000" cy="1800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000" y="1007999"/>
            <a:ext cx="50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C518"/>
                </a:solidFill>
                <a:latin typeface="Calibri"/>
              </a:rPr>
              <a:t>Plan 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000" y="1368000"/>
            <a:ext cx="50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EDF2"/>
                </a:solidFill>
                <a:latin typeface="Calibri"/>
              </a:rPr>
              <a:t>Acceptable — Wedges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4000" y="1800000"/>
            <a:ext cx="504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CBE"/>
                </a:solidFill>
                <a:latin typeface="Calibri"/>
              </a:rPr>
              <a:t>✓  Good isocentre placement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4000" y="2142000"/>
            <a:ext cx="504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CBE"/>
                </a:solidFill>
                <a:latin typeface="Calibri"/>
              </a:rPr>
              <a:t>✓  Norm point in breast tissue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4000" y="2484000"/>
            <a:ext cx="504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CBE"/>
                </a:solidFill>
                <a:latin typeface="Calibri"/>
              </a:rPr>
              <a:t>✓  Flash ≥ 2 cm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4000" y="2826000"/>
            <a:ext cx="504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CBE"/>
                </a:solidFill>
                <a:latin typeface="Calibri"/>
              </a:rPr>
              <a:t>✓  Stays midline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4000" y="3168000"/>
            <a:ext cx="504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CBE"/>
                </a:solidFill>
                <a:latin typeface="Calibri"/>
              </a:rPr>
              <a:t>✓  Hotspot &lt; 115%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4000" y="3510000"/>
            <a:ext cx="504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CBE"/>
                </a:solidFill>
                <a:latin typeface="Calibri"/>
              </a:rPr>
              <a:t>✓  HI &lt; 0.15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0000" y="792000"/>
            <a:ext cx="5220000" cy="450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0000" y="792000"/>
            <a:ext cx="5220000" cy="180000"/>
          </a:xfrm>
          <a:prstGeom prst="rect">
            <a:avLst/>
          </a:prstGeom>
          <a:solidFill>
            <a:srgbClr val="29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2000" y="1007999"/>
            <a:ext cx="50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9A35B"/>
                </a:solidFill>
                <a:latin typeface="Calibri"/>
              </a:rPr>
              <a:t>Plan 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2000" y="1368000"/>
            <a:ext cx="50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EDF2"/>
                </a:solidFill>
                <a:latin typeface="Calibri"/>
              </a:rPr>
              <a:t>Good — Field-in-Field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4000" y="1800000"/>
            <a:ext cx="504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CBE"/>
                </a:solidFill>
                <a:latin typeface="Calibri"/>
              </a:rPr>
              <a:t>✓  All Plan B features PLUS: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4000" y="2142000"/>
            <a:ext cx="504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CBE"/>
                </a:solidFill>
                <a:latin typeface="Calibri"/>
              </a:rPr>
              <a:t>✓  Hotspot &lt; 110%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4000" y="2484000"/>
            <a:ext cx="504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CBE"/>
                </a:solidFill>
                <a:latin typeface="Calibri"/>
              </a:rPr>
              <a:t>✓  HI &lt; 0.10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4000" y="2826000"/>
            <a:ext cx="504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CBE"/>
                </a:solidFill>
                <a:latin typeface="Calibri"/>
              </a:rPr>
              <a:t>✓  FiF sub-segments block peak hotspots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13200" y="6498000"/>
            <a:ext cx="9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CBE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80000"/>
            <a:ext cx="1080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F9ED5"/>
                </a:solidFill>
                <a:latin typeface="Calibri"/>
              </a:rPr>
              <a:t>Breast — Teaching Moment: Homogeneity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792000"/>
            <a:ext cx="3420000" cy="360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0000" y="792000"/>
            <a:ext cx="3420000" cy="180000"/>
          </a:xfrm>
          <a:prstGeom prst="rect">
            <a:avLst/>
          </a:prstGeom>
          <a:solidFill>
            <a:srgbClr val="D4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000" y="1044000"/>
            <a:ext cx="3276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4040"/>
                </a:solidFill>
                <a:latin typeface="Calibri"/>
              </a:rPr>
              <a:t>BAD
(No shaping)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000" y="1980000"/>
            <a:ext cx="3276000" cy="2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8EDF2"/>
                </a:solidFill>
                <a:latin typeface="Calibri"/>
              </a:rPr>
              <a:t>HI &gt; 0.2
Dose piles at beam entry
Hotspot outside PTV possible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0" y="792000"/>
            <a:ext cx="3420000" cy="360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20000" y="792000"/>
            <a:ext cx="3420000" cy="1800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000" y="1044000"/>
            <a:ext cx="3276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C518"/>
                </a:solidFill>
                <a:latin typeface="Calibri"/>
              </a:rPr>
              <a:t>ACCEPTABLE
(Wedges)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000" y="1980000"/>
            <a:ext cx="3276000" cy="2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8EDF2"/>
                </a:solidFill>
                <a:latin typeface="Calibri"/>
              </a:rPr>
              <a:t>HI &lt; 0.15
Compensates sloping surface
Improved homogeneity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00000" y="792000"/>
            <a:ext cx="3420000" cy="360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00000" y="792000"/>
            <a:ext cx="3420000" cy="180000"/>
          </a:xfrm>
          <a:prstGeom prst="rect">
            <a:avLst/>
          </a:prstGeom>
          <a:solidFill>
            <a:srgbClr val="29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72000" y="1044000"/>
            <a:ext cx="3276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9A35B"/>
                </a:solidFill>
                <a:latin typeface="Calibri"/>
              </a:rPr>
              <a:t>GOOD
(Field-in-Field)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2000" y="1980000"/>
            <a:ext cx="3276000" cy="2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8EDF2"/>
                </a:solidFill>
                <a:latin typeface="Calibri"/>
              </a:rPr>
              <a:t>HI &lt; 0.10
Sub-segments block peak hotspots
Optimal homogeneity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000" y="6138000"/>
            <a:ext cx="108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9AACBE"/>
                </a:solidFill>
                <a:latin typeface="Calibri"/>
              </a:rPr>
              <a:t>"The three plans differ mainly in dose shaping — same geometry, different homogeneity tools"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13200" y="6498000"/>
            <a:ext cx="9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CBE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0000" y="216000"/>
            <a:ext cx="1620000" cy="540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12000" y="234000"/>
            <a:ext cx="151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A1F33"/>
                </a:solidFill>
                <a:latin typeface="Calibri"/>
              </a:rPr>
              <a:t>Case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20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8EDF2"/>
                </a:solidFill>
                <a:latin typeface="Calibri"/>
              </a:rPr>
              <a:t>Gynaecology — Whole-Pelvis Irradiation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000" y="1007999"/>
            <a:ext cx="10800000" cy="36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00" y="1152000"/>
            <a:ext cx="1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9ED5"/>
                </a:solidFill>
                <a:latin typeface="Calibri"/>
              </a:rPr>
              <a:t>Prescription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1440000"/>
            <a:ext cx="108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EDF2"/>
                </a:solidFill>
                <a:latin typeface="Calibri"/>
              </a:rPr>
              <a:t>1.8 Gy × 25 = 45 Gy  ·  Whole pelvis, cervix + parametria + regional nodes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1872000"/>
            <a:ext cx="1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9ED5"/>
                </a:solidFill>
                <a:latin typeface="Calibri"/>
              </a:rPr>
              <a:t>Technique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0000" y="2160000"/>
            <a:ext cx="108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AACBE"/>
                </a:solidFill>
                <a:latin typeface="Calibri"/>
              </a:rPr>
              <a:t>4-field box AP/PA + 2 laterals, FiF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0000" y="2592000"/>
            <a:ext cx="1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9ED5"/>
                </a:solidFill>
                <a:latin typeface="Calibri"/>
              </a:rPr>
              <a:t>OARs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0" y="2880000"/>
            <a:ext cx="108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AACBE"/>
                </a:solidFill>
                <a:latin typeface="Calibri"/>
              </a:rPr>
              <a:t>Rectum  ·  Small bowel  ·  Bladder  ·  Femoral heads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13200" y="6498000"/>
            <a:ext cx="9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CBE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0000" y="180000"/>
            <a:ext cx="2880000" cy="54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12000" y="216000"/>
            <a:ext cx="273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F9ED5"/>
                </a:solidFill>
                <a:latin typeface="Calibri"/>
              </a:rPr>
              <a:t>Gynae — Guide Your Eye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900000"/>
            <a:ext cx="10800000" cy="64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972000"/>
            <a:ext cx="36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9ED5"/>
                </a:solidFill>
                <a:latin typeface="Calibri"/>
              </a:rPr>
              <a:t>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000" y="972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alibri"/>
              </a:rPr>
              <a:t>PTV coverage — V95 and D95 on DVH</a:t>
            </a:r>
          </a:p>
        </p:txBody>
      </p:sp>
      <p:sp>
        <p:nvSpPr>
          <p:cNvPr id="8" name="Rectangle 7"/>
          <p:cNvSpPr/>
          <p:nvPr/>
        </p:nvSpPr>
        <p:spPr>
          <a:xfrm>
            <a:off x="540000" y="1584000"/>
            <a:ext cx="10800000" cy="648000"/>
          </a:xfrm>
          <a:prstGeom prst="rect">
            <a:avLst/>
          </a:prstGeom>
          <a:solidFill>
            <a:srgbClr val="0C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0000" y="1656000"/>
            <a:ext cx="36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9ED5"/>
                </a:solidFill>
                <a:latin typeface="Calibri"/>
              </a:rPr>
              <a:t>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000" y="1656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alibri"/>
              </a:rPr>
              <a:t>OARs on DVH — rectum, small bowel, bladder, femoral heads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0000" y="2268000"/>
            <a:ext cx="10800000" cy="64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0000" y="2340000"/>
            <a:ext cx="36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9ED5"/>
                </a:solidFill>
                <a:latin typeface="Calibri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000" y="2340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alibri"/>
              </a:rPr>
              <a:t>Rectum — high-dose isodose line on axial/sagittal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0000" y="2952000"/>
            <a:ext cx="10800000" cy="648000"/>
          </a:xfrm>
          <a:prstGeom prst="rect">
            <a:avLst/>
          </a:prstGeom>
          <a:solidFill>
            <a:srgbClr val="0C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0000" y="3024000"/>
            <a:ext cx="36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9ED5"/>
                </a:solidFill>
                <a:latin typeface="Calibri"/>
              </a:rPr>
              <a:t>4.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000" y="3024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alibri"/>
              </a:rPr>
              <a:t>Small bowel loops — anterior beam enters through small bowel?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0000" y="3636000"/>
            <a:ext cx="10800000" cy="64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0000" y="3708000"/>
            <a:ext cx="36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9ED5"/>
                </a:solidFill>
                <a:latin typeface="Calibri"/>
              </a:rPr>
              <a:t>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000" y="3708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alibri"/>
              </a:rPr>
              <a:t>Bladder filling protocol documented?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0000" y="4320000"/>
            <a:ext cx="10800000" cy="648000"/>
          </a:xfrm>
          <a:prstGeom prst="rect">
            <a:avLst/>
          </a:prstGeom>
          <a:solidFill>
            <a:srgbClr val="0C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0000" y="4392000"/>
            <a:ext cx="36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9ED5"/>
                </a:solidFill>
                <a:latin typeface="Calibri"/>
              </a:rPr>
              <a:t>6.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2000" y="4392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alibri"/>
              </a:rPr>
              <a:t>Femoral heads — Dmax within QUANTEC limit?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13200" y="6498000"/>
            <a:ext cx="9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CBE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80000"/>
            <a:ext cx="1080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F9ED5"/>
                </a:solidFill>
                <a:latin typeface="Calibri"/>
              </a:rPr>
              <a:t>Gynae —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792000"/>
            <a:ext cx="10800000" cy="61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0000" y="792000"/>
            <a:ext cx="144000" cy="612000"/>
          </a:xfrm>
          <a:prstGeom prst="rect">
            <a:avLst/>
          </a:prstGeom>
          <a:solidFill>
            <a:srgbClr val="29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6000" y="828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9A35B"/>
                </a:solidFill>
                <a:latin typeface="Calibri"/>
              </a:rPr>
              <a:t>✓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20000" y="864000"/>
            <a:ext cx="828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PTV well covered  ·  V95 and D95 within targets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0000" y="1458000"/>
            <a:ext cx="10800000" cy="61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0000" y="1458000"/>
            <a:ext cx="144000" cy="61200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6000" y="1494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97132"/>
                </a:solidFill>
                <a:latin typeface="Calibri"/>
              </a:rPr>
              <a:t>↑ Rectum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20000" y="1530000"/>
            <a:ext cx="828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V45/V30 elevated — above QUANTEC for this dose level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0000" y="2124000"/>
            <a:ext cx="10800000" cy="61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0000" y="2124000"/>
            <a:ext cx="144000" cy="6120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6000" y="2160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C518"/>
                </a:solidFill>
                <a:latin typeface="Calibri"/>
              </a:rPr>
              <a:t>~ Small bowel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20000" y="2196000"/>
            <a:ext cx="828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V45 elevated — loops in beam path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0000" y="2790000"/>
            <a:ext cx="10800000" cy="61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0000" y="2790000"/>
            <a:ext cx="144000" cy="612000"/>
          </a:xfrm>
          <a:prstGeom prst="rect">
            <a:avLst/>
          </a:prstGeom>
          <a:solidFill>
            <a:srgbClr val="29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6000" y="2826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9A35B"/>
                </a:solidFill>
                <a:latin typeface="Calibri"/>
              </a:rPr>
              <a:t>✓ Bladder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20000" y="2862000"/>
            <a:ext cx="828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Within QUANTEC limits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0000" y="3456000"/>
            <a:ext cx="10800000" cy="61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0000" y="3456000"/>
            <a:ext cx="144000" cy="612000"/>
          </a:xfrm>
          <a:prstGeom prst="rect">
            <a:avLst/>
          </a:prstGeom>
          <a:solidFill>
            <a:srgbClr val="29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6000" y="3492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9A35B"/>
                </a:solidFill>
                <a:latin typeface="Calibri"/>
              </a:rPr>
              <a:t>✓ Fem heads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0000" y="3528000"/>
            <a:ext cx="828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Within QUANTEC tolerance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0000" y="4122000"/>
            <a:ext cx="10800000" cy="61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0000" y="4122000"/>
            <a:ext cx="144000" cy="612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6000" y="4158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9ED5"/>
                </a:solidFill>
                <a:latin typeface="Calibri"/>
              </a:rPr>
              <a:t>Summation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0000" y="4194000"/>
            <a:ext cx="828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Brachy boost to follow — EBRT is Phase 1 only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0000" y="4788000"/>
            <a:ext cx="10800000" cy="61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0000" y="4788000"/>
            <a:ext cx="144000" cy="612000"/>
          </a:xfrm>
          <a:prstGeom prst="rect">
            <a:avLst/>
          </a:prstGeom>
          <a:solidFill>
            <a:srgbClr val="9AAC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6000" y="4824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AACBE"/>
                </a:solidFill>
                <a:latin typeface="Calibri"/>
              </a:rPr>
              <a:t>QUANTEC ref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20000" y="4860000"/>
            <a:ext cx="828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Rectum: V70 &lt; 20%  ·  V50 &lt; 50%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13200" y="6498000"/>
            <a:ext cx="9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CBE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80000"/>
            <a:ext cx="1080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F9ED5"/>
                </a:solidFill>
                <a:latin typeface="Calibri"/>
              </a:rPr>
              <a:t>Gynae — Solutions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792000"/>
            <a:ext cx="10800000" cy="61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0000" y="792000"/>
            <a:ext cx="180000" cy="612000"/>
          </a:xfrm>
          <a:prstGeom prst="rect">
            <a:avLst/>
          </a:prstGeom>
          <a:solidFill>
            <a:srgbClr val="29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828000"/>
            <a:ext cx="5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9A35B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40000" y="864000"/>
            <a:ext cx="954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Adjust AP/PA vs lateral field weighting to reduce posterior dose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0000" y="1458000"/>
            <a:ext cx="10800000" cy="61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0000" y="1458000"/>
            <a:ext cx="180000" cy="612000"/>
          </a:xfrm>
          <a:prstGeom prst="rect">
            <a:avLst/>
          </a:prstGeom>
          <a:solidFill>
            <a:srgbClr val="29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1494000"/>
            <a:ext cx="5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9A35B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0000" y="1530000"/>
            <a:ext cx="954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Patient positioning &amp; preparation — full bladder, belly board, small bowel displacement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0000" y="2124000"/>
            <a:ext cx="10800000" cy="61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0000" y="2124000"/>
            <a:ext cx="180000" cy="612000"/>
          </a:xfrm>
          <a:prstGeom prst="rect">
            <a:avLst/>
          </a:prstGeom>
          <a:solidFill>
            <a:srgbClr val="29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2160000"/>
            <a:ext cx="5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9A35B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0000" y="2196000"/>
            <a:ext cx="954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Reduce posterior PTV margin at rectum-prostate interface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0000" y="2790000"/>
            <a:ext cx="10800000" cy="61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0000" y="2790000"/>
            <a:ext cx="180000" cy="612000"/>
          </a:xfrm>
          <a:prstGeom prst="rect">
            <a:avLst/>
          </a:prstGeom>
          <a:solidFill>
            <a:srgbClr val="29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2826000"/>
            <a:ext cx="5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9A35B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0000" y="2862000"/>
            <a:ext cx="954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Adjust prescription if clinically appropriate (discuss with attending)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0000" y="3456000"/>
            <a:ext cx="10800000" cy="61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0000" y="3456000"/>
            <a:ext cx="180000" cy="612000"/>
          </a:xfrm>
          <a:prstGeom prst="rect">
            <a:avLst/>
          </a:prstGeom>
          <a:solidFill>
            <a:srgbClr val="29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000" y="3492000"/>
            <a:ext cx="5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9A35B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40000" y="3528000"/>
            <a:ext cx="954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Accept with documentation — geometric constraint, not a planning error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0000" y="4230000"/>
            <a:ext cx="10800000" cy="720000"/>
          </a:xfrm>
          <a:prstGeom prst="rect">
            <a:avLst/>
          </a:prstGeom>
          <a:solidFill>
            <a:srgbClr val="1232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000" y="4266000"/>
            <a:ext cx="1065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E97132"/>
                </a:solidFill>
                <a:latin typeface="Calibri"/>
              </a:rPr>
              <a:t>"EBRT is phase 1 — brachytherapy adds rectal and bladder dose. Track cumulative from the start."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13200" y="6498000"/>
            <a:ext cx="9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CBE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0000" y="216000"/>
            <a:ext cx="1620000" cy="540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12000" y="234000"/>
            <a:ext cx="151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A1F33"/>
                </a:solidFill>
                <a:latin typeface="Calibri"/>
              </a:rPr>
              <a:t>Case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20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8EDF2"/>
                </a:solidFill>
                <a:latin typeface="Calibri"/>
              </a:rPr>
              <a:t>Prostate — 3-Field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000" y="1007999"/>
            <a:ext cx="10800000" cy="36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00" y="1152000"/>
            <a:ext cx="1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9ED5"/>
                </a:solidFill>
                <a:latin typeface="Calibri"/>
              </a:rPr>
              <a:t>Prescription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1440000"/>
            <a:ext cx="108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EDF2"/>
                </a:solidFill>
                <a:latin typeface="Calibri"/>
              </a:rPr>
              <a:t>2.5 Gy × 27 = 67.5 Gy  ·  Prostate + proximal SVs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1872000"/>
            <a:ext cx="1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9ED5"/>
                </a:solidFill>
                <a:latin typeface="Calibri"/>
              </a:rPr>
              <a:t>Technique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0000" y="2160000"/>
            <a:ext cx="108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AACBE"/>
                </a:solidFill>
                <a:latin typeface="Calibri"/>
              </a:rPr>
              <a:t>AP + 2 posterior obliques  ·  Full bladder  ·  Empty rectum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0000" y="2592000"/>
            <a:ext cx="1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9ED5"/>
                </a:solidFill>
                <a:latin typeface="Calibri"/>
              </a:rPr>
              <a:t>OARs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0" y="2880000"/>
            <a:ext cx="108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AACBE"/>
                </a:solidFill>
                <a:latin typeface="Calibri"/>
              </a:rPr>
              <a:t>Rectum  ·  Penile bulb  ·  Bladder  ·  Femoral heads  ·  Small bowel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13200" y="6498000"/>
            <a:ext cx="9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CBE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0000" y="180000"/>
            <a:ext cx="2880000" cy="54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12000" y="216000"/>
            <a:ext cx="273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F9ED5"/>
                </a:solidFill>
                <a:latin typeface="Calibri"/>
              </a:rPr>
              <a:t>Prostate — Guide Your Eye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900000"/>
            <a:ext cx="10800000" cy="64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972000"/>
            <a:ext cx="36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9ED5"/>
                </a:solidFill>
                <a:latin typeface="Calibri"/>
              </a:rPr>
              <a:t>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000" y="972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alibri"/>
              </a:rPr>
              <a:t>D95 / D98 — is the CTV fully covered?</a:t>
            </a:r>
          </a:p>
        </p:txBody>
      </p:sp>
      <p:sp>
        <p:nvSpPr>
          <p:cNvPr id="8" name="Rectangle 7"/>
          <p:cNvSpPr/>
          <p:nvPr/>
        </p:nvSpPr>
        <p:spPr>
          <a:xfrm>
            <a:off x="540000" y="1584000"/>
            <a:ext cx="10800000" cy="648000"/>
          </a:xfrm>
          <a:prstGeom prst="rect">
            <a:avLst/>
          </a:prstGeom>
          <a:solidFill>
            <a:srgbClr val="0C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0000" y="1656000"/>
            <a:ext cx="36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9ED5"/>
                </a:solidFill>
                <a:latin typeface="Calibri"/>
              </a:rPr>
              <a:t>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000" y="1656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alibri"/>
              </a:rPr>
              <a:t>Rectum — V70, V50 vs QUANTEC tolerance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0000" y="2268000"/>
            <a:ext cx="10800000" cy="64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0000" y="2340000"/>
            <a:ext cx="36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9ED5"/>
                </a:solidFill>
                <a:latin typeface="Calibri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000" y="2340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alibri"/>
              </a:rPr>
              <a:t>Penile bulb — contoured? Mean dose? QUANTEC 52 Gy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0000" y="2952000"/>
            <a:ext cx="10800000" cy="648000"/>
          </a:xfrm>
          <a:prstGeom prst="rect">
            <a:avLst/>
          </a:prstGeom>
          <a:solidFill>
            <a:srgbClr val="0C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0000" y="3024000"/>
            <a:ext cx="36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9ED5"/>
                </a:solidFill>
                <a:latin typeface="Calibri"/>
              </a:rPr>
              <a:t>4.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000" y="3024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alibri"/>
              </a:rPr>
              <a:t>Bladder and femoral heads — within tolerance?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0000" y="3636000"/>
            <a:ext cx="10800000" cy="64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0000" y="3708000"/>
            <a:ext cx="36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9ED5"/>
                </a:solidFill>
                <a:latin typeface="Calibri"/>
              </a:rPr>
              <a:t>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000" y="3708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alibri"/>
              </a:rPr>
              <a:t>Posterior PTV margin vs rectum — where is the interface?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0000" y="4320000"/>
            <a:ext cx="10800000" cy="648000"/>
          </a:xfrm>
          <a:prstGeom prst="rect">
            <a:avLst/>
          </a:prstGeom>
          <a:solidFill>
            <a:srgbClr val="0C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0000" y="4392000"/>
            <a:ext cx="36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9ED5"/>
                </a:solidFill>
                <a:latin typeface="Calibri"/>
              </a:rPr>
              <a:t>6.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2000" y="4392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alibri"/>
              </a:rPr>
              <a:t>Isocentre — in prostate tissue (not rectum / air)?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13200" y="6498000"/>
            <a:ext cx="9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CBE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80000"/>
            <a:ext cx="1080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F9ED5"/>
                </a:solidFill>
                <a:latin typeface="Calibri"/>
              </a:rPr>
              <a:t>Prostate —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792000"/>
            <a:ext cx="10800000" cy="61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0000" y="792000"/>
            <a:ext cx="144000" cy="612000"/>
          </a:xfrm>
          <a:prstGeom prst="rect">
            <a:avLst/>
          </a:prstGeom>
          <a:solidFill>
            <a:srgbClr val="29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6000" y="828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9A35B"/>
                </a:solidFill>
                <a:latin typeface="Calibri"/>
              </a:rPr>
              <a:t>✓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20000" y="864000"/>
            <a:ext cx="828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CTV D98 ≈ 99.2%  ·  PTV D98 ≈ 96.6%  ·  Coverage good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0000" y="1458000"/>
            <a:ext cx="10800000" cy="61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0000" y="1458000"/>
            <a:ext cx="144000" cy="612000"/>
          </a:xfrm>
          <a:prstGeom prst="rect">
            <a:avLst/>
          </a:prstGeom>
          <a:solidFill>
            <a:srgbClr val="D4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6000" y="1494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4040"/>
                </a:solidFill>
                <a:latin typeface="Calibri"/>
              </a:rPr>
              <a:t>↑ Rectum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20000" y="1530000"/>
            <a:ext cx="828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V55 ≈ 37.9%  ·  V59 ≈ 32.9%  — over QUANTEC tolerance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0000" y="2124000"/>
            <a:ext cx="10800000" cy="61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0000" y="2124000"/>
            <a:ext cx="144000" cy="612000"/>
          </a:xfrm>
          <a:prstGeom prst="rect">
            <a:avLst/>
          </a:prstGeom>
          <a:solidFill>
            <a:srgbClr val="D4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6000" y="2160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4040"/>
                </a:solidFill>
                <a:latin typeface="Calibri"/>
              </a:rPr>
              <a:t>↑ Penile bulb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20000" y="2196000"/>
            <a:ext cx="828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Mean ≈ 62.8 Gy  — above QUANTEC limit of 52 Gy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0000" y="2790000"/>
            <a:ext cx="10800000" cy="61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0000" y="2790000"/>
            <a:ext cx="144000" cy="6120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6000" y="2826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C518"/>
                </a:solidFill>
                <a:latin typeface="Calibri"/>
              </a:rPr>
              <a:t>~ Small bowel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20000" y="2862000"/>
            <a:ext cx="828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Minor focal involvement  ·  Within tolerance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0000" y="3456000"/>
            <a:ext cx="10800000" cy="61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0000" y="3456000"/>
            <a:ext cx="144000" cy="612000"/>
          </a:xfrm>
          <a:prstGeom prst="rect">
            <a:avLst/>
          </a:prstGeom>
          <a:solidFill>
            <a:srgbClr val="29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6000" y="3492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9A35B"/>
                </a:solidFill>
                <a:latin typeface="Calibri"/>
              </a:rPr>
              <a:t>✓ Bladder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0000" y="3528000"/>
            <a:ext cx="828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Within tolerance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0000" y="4122000"/>
            <a:ext cx="10800000" cy="61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0000" y="4122000"/>
            <a:ext cx="144000" cy="612000"/>
          </a:xfrm>
          <a:prstGeom prst="rect">
            <a:avLst/>
          </a:prstGeom>
          <a:solidFill>
            <a:srgbClr val="29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6000" y="4158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9A35B"/>
                </a:solidFill>
                <a:latin typeface="Calibri"/>
              </a:rPr>
              <a:t>✓ Fem heads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0000" y="4194000"/>
            <a:ext cx="828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Within tolerance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0000" y="4788000"/>
            <a:ext cx="10800000" cy="61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0000" y="4788000"/>
            <a:ext cx="144000" cy="612000"/>
          </a:xfrm>
          <a:prstGeom prst="rect">
            <a:avLst/>
          </a:prstGeom>
          <a:solidFill>
            <a:srgbClr val="9AAC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6000" y="4824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AACBE"/>
                </a:solidFill>
                <a:latin typeface="Calibri"/>
              </a:rPr>
              <a:t>QUANTEC ref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20000" y="4860000"/>
            <a:ext cx="828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Rectum: V70 &lt;20%  V50 &lt;50%  ·  Penile bulb: Dmean &lt;52 Gy  D90 &lt;50 Gy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13200" y="6498000"/>
            <a:ext cx="9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CBE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80000"/>
            <a:ext cx="1080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F9ED5"/>
                </a:solidFill>
                <a:latin typeface="Calibri"/>
              </a:rPr>
              <a:t>Prostate — Solutions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792000"/>
            <a:ext cx="10800000" cy="61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0000" y="792000"/>
            <a:ext cx="180000" cy="612000"/>
          </a:xfrm>
          <a:prstGeom prst="rect">
            <a:avLst/>
          </a:prstGeom>
          <a:solidFill>
            <a:srgbClr val="29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828000"/>
            <a:ext cx="5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9A35B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40000" y="864000"/>
            <a:ext cx="954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Reduce inferior margin — decrease penile bulb dose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0000" y="1458000"/>
            <a:ext cx="10800000" cy="61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0000" y="1458000"/>
            <a:ext cx="180000" cy="612000"/>
          </a:xfrm>
          <a:prstGeom prst="rect">
            <a:avLst/>
          </a:prstGeom>
          <a:solidFill>
            <a:srgbClr val="29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1494000"/>
            <a:ext cx="5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9A35B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0000" y="1530000"/>
            <a:ext cx="954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Reduce posterior PTV margin at prostate–rectum interface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0000" y="2124000"/>
            <a:ext cx="10800000" cy="61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0000" y="2124000"/>
            <a:ext cx="180000" cy="612000"/>
          </a:xfrm>
          <a:prstGeom prst="rect">
            <a:avLst/>
          </a:prstGeom>
          <a:solidFill>
            <a:srgbClr val="29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2160000"/>
            <a:ext cx="5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9A35B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0000" y="2196000"/>
            <a:ext cx="954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Adjust posterior oblique field weighting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0000" y="2790000"/>
            <a:ext cx="10800000" cy="61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0000" y="2790000"/>
            <a:ext cx="180000" cy="612000"/>
          </a:xfrm>
          <a:prstGeom prst="rect">
            <a:avLst/>
          </a:prstGeom>
          <a:solidFill>
            <a:srgbClr val="29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2826000"/>
            <a:ext cx="5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9A35B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0000" y="2862000"/>
            <a:ext cx="954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Adjust prescription if clinically appropriate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0000" y="3456000"/>
            <a:ext cx="10800000" cy="61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0000" y="3456000"/>
            <a:ext cx="180000" cy="612000"/>
          </a:xfrm>
          <a:prstGeom prst="rect">
            <a:avLst/>
          </a:prstGeom>
          <a:solidFill>
            <a:srgbClr val="29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000" y="3492000"/>
            <a:ext cx="5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9A35B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40000" y="3528000"/>
            <a:ext cx="954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Accept with documentation — geometric proximity, not a planning error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0000" y="4230000"/>
            <a:ext cx="10800000" cy="720000"/>
          </a:xfrm>
          <a:prstGeom prst="rect">
            <a:avLst/>
          </a:prstGeom>
          <a:solidFill>
            <a:srgbClr val="1232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000" y="4266000"/>
            <a:ext cx="1065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E97132"/>
                </a:solidFill>
                <a:latin typeface="Calibri"/>
              </a:rPr>
              <a:t>"Coverage was good — the problem was the OARs. Name it, don't ignore it."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13200" y="6498000"/>
            <a:ext cx="9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CBE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0000" y="216000"/>
            <a:ext cx="1620000" cy="540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12000" y="234000"/>
            <a:ext cx="151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A1F33"/>
                </a:solidFill>
                <a:latin typeface="Calibri"/>
              </a:rPr>
              <a:t>Case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20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8EDF2"/>
                </a:solidFill>
                <a:latin typeface="Calibri"/>
              </a:rPr>
              <a:t>Pituitary Adenoma — Coplanar 3-Field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000" y="1007999"/>
            <a:ext cx="10800000" cy="36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00" y="1152000"/>
            <a:ext cx="1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9ED5"/>
                </a:solidFill>
                <a:latin typeface="Calibri"/>
              </a:rPr>
              <a:t>Prescription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1440000"/>
            <a:ext cx="108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EDF2"/>
                </a:solidFill>
                <a:latin typeface="Calibri"/>
              </a:rPr>
              <a:t>1.8 Gy × 30 = 54 Gy  ·  Pituitary fossa + margin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1872000"/>
            <a:ext cx="1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9ED5"/>
                </a:solidFill>
                <a:latin typeface="Calibri"/>
              </a:rPr>
              <a:t>Technique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0000" y="2160000"/>
            <a:ext cx="108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AACBE"/>
                </a:solidFill>
                <a:latin typeface="Calibri"/>
              </a:rPr>
              <a:t>3-field coplanar MLC shaped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0000" y="2592000"/>
            <a:ext cx="1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9ED5"/>
                </a:solidFill>
                <a:latin typeface="Calibri"/>
              </a:rPr>
              <a:t>OARs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0" y="2880000"/>
            <a:ext cx="108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AACBE"/>
                </a:solidFill>
                <a:latin typeface="Calibri"/>
              </a:rPr>
              <a:t>Optic chiasm  ·  Optic nerves  ·  Brainstem  ·  Brain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0000" y="3780000"/>
            <a:ext cx="10800000" cy="900000"/>
          </a:xfrm>
          <a:prstGeom prst="rect">
            <a:avLst/>
          </a:prstGeom>
          <a:solidFill>
            <a:srgbClr val="0E2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000" y="3851999"/>
            <a:ext cx="10656000" cy="7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E97132"/>
                </a:solidFill>
                <a:latin typeface="Calibri"/>
              </a:rPr>
              <a:t>"Pay very close attention to the optic chiasm dose"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3200" y="6498000"/>
            <a:ext cx="9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CBE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0000" y="180000"/>
            <a:ext cx="2880000" cy="54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12000" y="216000"/>
            <a:ext cx="273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F9ED5"/>
                </a:solidFill>
                <a:latin typeface="Calibri"/>
              </a:rPr>
              <a:t>Pituitary — Guide Your Eye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900000"/>
            <a:ext cx="10800000" cy="64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972000"/>
            <a:ext cx="36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9ED5"/>
                </a:solidFill>
                <a:latin typeface="Calibri"/>
              </a:rPr>
              <a:t>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000" y="972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alibri"/>
              </a:rPr>
              <a:t>D95 / D98 / Dmin — is the PTV fully covered?</a:t>
            </a:r>
          </a:p>
        </p:txBody>
      </p:sp>
      <p:sp>
        <p:nvSpPr>
          <p:cNvPr id="8" name="Rectangle 7"/>
          <p:cNvSpPr/>
          <p:nvPr/>
        </p:nvSpPr>
        <p:spPr>
          <a:xfrm>
            <a:off x="540000" y="1584000"/>
            <a:ext cx="10800000" cy="648000"/>
          </a:xfrm>
          <a:prstGeom prst="rect">
            <a:avLst/>
          </a:prstGeom>
          <a:solidFill>
            <a:srgbClr val="0C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0000" y="1656000"/>
            <a:ext cx="36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9ED5"/>
                </a:solidFill>
                <a:latin typeface="Calibri"/>
              </a:rPr>
              <a:t>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000" y="1656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alibri"/>
              </a:rPr>
              <a:t>Optic chiasm Dmax — QUANTEC tolerance is 54 Gy (hard limit)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0000" y="2268000"/>
            <a:ext cx="10800000" cy="64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0000" y="2340000"/>
            <a:ext cx="36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9ED5"/>
                </a:solidFill>
                <a:latin typeface="Calibri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000" y="2340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alibri"/>
              </a:rPr>
              <a:t>Optic nerves — bilateral Dmax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0000" y="2952000"/>
            <a:ext cx="10800000" cy="648000"/>
          </a:xfrm>
          <a:prstGeom prst="rect">
            <a:avLst/>
          </a:prstGeom>
          <a:solidFill>
            <a:srgbClr val="0C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0000" y="3024000"/>
            <a:ext cx="36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9ED5"/>
                </a:solidFill>
                <a:latin typeface="Calibri"/>
              </a:rPr>
              <a:t>4.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000" y="3024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alibri"/>
              </a:rPr>
              <a:t>Brainstem — Dmax and mean dose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0000" y="3636000"/>
            <a:ext cx="10800000" cy="64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0000" y="3708000"/>
            <a:ext cx="36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9ED5"/>
                </a:solidFill>
                <a:latin typeface="Calibri"/>
              </a:rPr>
              <a:t>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000" y="3708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alibri"/>
              </a:rPr>
              <a:t>Inferior undercoverage — sphenoid sinus physics effect?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0000" y="4320000"/>
            <a:ext cx="10800000" cy="648000"/>
          </a:xfrm>
          <a:prstGeom prst="rect">
            <a:avLst/>
          </a:prstGeom>
          <a:solidFill>
            <a:srgbClr val="0C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0000" y="4392000"/>
            <a:ext cx="36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9ED5"/>
                </a:solidFill>
                <a:latin typeface="Calibri"/>
              </a:rPr>
              <a:t>6.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2000" y="4392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alibri"/>
              </a:rPr>
              <a:t>Non-coplanar option — does it improve coverage or OAR sparing?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13200" y="6498000"/>
            <a:ext cx="9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CBE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80000"/>
            <a:ext cx="1080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F9ED5"/>
                </a:solidFill>
                <a:latin typeface="Calibri"/>
              </a:rPr>
              <a:t>Pituitary —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792000"/>
            <a:ext cx="10800000" cy="61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0000" y="792000"/>
            <a:ext cx="144000" cy="612000"/>
          </a:xfrm>
          <a:prstGeom prst="rect">
            <a:avLst/>
          </a:prstGeom>
          <a:solidFill>
            <a:srgbClr val="29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6000" y="828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9A35B"/>
                </a:solidFill>
                <a:latin typeface="Calibri"/>
              </a:rPr>
              <a:t>✓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20000" y="864000"/>
            <a:ext cx="828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PTV D95 adequate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0000" y="1458000"/>
            <a:ext cx="10800000" cy="61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0000" y="1458000"/>
            <a:ext cx="144000" cy="612000"/>
          </a:xfrm>
          <a:prstGeom prst="rect">
            <a:avLst/>
          </a:prstGeom>
          <a:solidFill>
            <a:srgbClr val="D4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6000" y="1494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4040"/>
                </a:solidFill>
                <a:latin typeface="Calibri"/>
              </a:rPr>
              <a:t>↑ Chiasm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20000" y="1530000"/>
            <a:ext cx="828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Dmax 54.9 Gy — ABOVE 54 Gy QUANTEC hard limit (mandatory sign-off)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0000" y="2124000"/>
            <a:ext cx="10800000" cy="61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0000" y="2124000"/>
            <a:ext cx="144000" cy="6120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6000" y="2160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C518"/>
                </a:solidFill>
                <a:latin typeface="Calibri"/>
              </a:rPr>
              <a:t>~ Inferior PTV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20000" y="2196000"/>
            <a:ext cx="828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PTV min 41.75 Gy — reduced inferior coverage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0000" y="2790000"/>
            <a:ext cx="10800000" cy="61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0000" y="2790000"/>
            <a:ext cx="144000" cy="612000"/>
          </a:xfrm>
          <a:prstGeom prst="rect">
            <a:avLst/>
          </a:prstGeom>
          <a:solidFill>
            <a:srgbClr val="29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6000" y="2826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9A35B"/>
                </a:solidFill>
                <a:latin typeface="Calibri"/>
              </a:rPr>
              <a:t>✓ Brainstem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20000" y="2862000"/>
            <a:ext cx="828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Dmax 52.5 Gy  ·  Mean ~11 Gy  ·  Within tolerance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0000" y="3456000"/>
            <a:ext cx="10800000" cy="61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0000" y="3456000"/>
            <a:ext cx="144000" cy="612000"/>
          </a:xfrm>
          <a:prstGeom prst="rect">
            <a:avLst/>
          </a:prstGeom>
          <a:solidFill>
            <a:srgbClr val="9AAC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6000" y="3492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AACBE"/>
                </a:solidFill>
                <a:latin typeface="Calibri"/>
              </a:rPr>
              <a:t>Note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0000" y="3528000"/>
            <a:ext cx="828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Sphenoid air sinus undercoverage 88.7% — physics-driven, expected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0000" y="4122000"/>
            <a:ext cx="10800000" cy="61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0000" y="4122000"/>
            <a:ext cx="144000" cy="61200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6000" y="4158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97132"/>
                </a:solidFill>
                <a:latin typeface="Calibri"/>
              </a:rPr>
              <a:t>Architecture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0000" y="4194000"/>
            <a:ext cx="828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Chiasm is serial: Dmax governs — even small breach = tolerance violation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13200" y="6498000"/>
            <a:ext cx="9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CBE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80000"/>
            <a:ext cx="1080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F9ED5"/>
                </a:solidFill>
                <a:latin typeface="Calibri"/>
              </a:rPr>
              <a:t>Pituitary — Solutions: Coplanar vs Non-Coplanar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792000"/>
            <a:ext cx="5220000" cy="396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0000" y="792000"/>
            <a:ext cx="5220000" cy="18000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000" y="1007999"/>
            <a:ext cx="507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97132"/>
                </a:solidFill>
                <a:latin typeface="Calibri"/>
              </a:rPr>
              <a:t>Plan A — Coplanar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000" y="1440000"/>
            <a:ext cx="507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ourier New"/>
              </a:rPr>
              <a:t>Chiasm Dmax:  54.9 Gy  ↑  (above tolerance)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000" y="1818000"/>
            <a:ext cx="507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ourier New"/>
              </a:rPr>
              <a:t>PTV min:       41.75 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000" y="2196000"/>
            <a:ext cx="507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ourier New"/>
              </a:rPr>
              <a:t>Brainstem mean: ~11 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0000" y="792000"/>
            <a:ext cx="5220000" cy="396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0000" y="792000"/>
            <a:ext cx="5220000" cy="180000"/>
          </a:xfrm>
          <a:prstGeom prst="rect">
            <a:avLst/>
          </a:prstGeom>
          <a:solidFill>
            <a:srgbClr val="29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2000" y="1007999"/>
            <a:ext cx="507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9A35B"/>
                </a:solidFill>
                <a:latin typeface="Calibri"/>
              </a:rPr>
              <a:t>Plan B — Non-Coplanar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2000" y="1440000"/>
            <a:ext cx="507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ourier New"/>
              </a:rPr>
              <a:t>Chiasm Dmax:  ~54.9 Gy  (SAME — cannot move chiasm)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2000" y="1818000"/>
            <a:ext cx="507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ourier New"/>
              </a:rPr>
              <a:t>PTV min:       43.9 Gy  (+2.1 Gy improved)  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2000" y="2196000"/>
            <a:ext cx="507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ourier New"/>
              </a:rPr>
              <a:t>Brainstem mean: 9.7 Gy  (↓ 1.6 Gy improved)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000" y="6066000"/>
            <a:ext cx="108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E97132"/>
                </a:solidFill>
                <a:latin typeface="Calibri"/>
              </a:rPr>
              <a:t>"Non-coplanar fields spread entrance angles — but cannot move the chiasm. Documentation required in both."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13200" y="6498000"/>
            <a:ext cx="9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CBE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0000" y="216000"/>
            <a:ext cx="1620000" cy="540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12000" y="234000"/>
            <a:ext cx="151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A1F33"/>
                </a:solidFill>
                <a:latin typeface="Calibri"/>
              </a:rPr>
              <a:t>Case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20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8EDF2"/>
                </a:solidFill>
                <a:latin typeface="Calibri"/>
              </a:rPr>
              <a:t>Head &amp; Neck — Parotid Tumour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000" y="1007999"/>
            <a:ext cx="10800000" cy="36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00" y="1152000"/>
            <a:ext cx="1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9ED5"/>
                </a:solidFill>
                <a:latin typeface="Calibri"/>
              </a:rPr>
              <a:t>Prescription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1440000"/>
            <a:ext cx="108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EDF2"/>
                </a:solidFill>
                <a:latin typeface="Calibri"/>
              </a:rPr>
              <a:t>2 Gy × 33 = 66 Gy  ·  Parotid tumour + regional nodes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1872000"/>
            <a:ext cx="1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9ED5"/>
                </a:solidFill>
                <a:latin typeface="Calibri"/>
              </a:rPr>
              <a:t>Technique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0000" y="2160000"/>
            <a:ext cx="108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AACBE"/>
                </a:solidFill>
                <a:latin typeface="Calibri"/>
              </a:rPr>
              <a:t>4-field 3DCRT  ·  Photon + possible electron match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0000" y="2592000"/>
            <a:ext cx="1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9ED5"/>
                </a:solidFill>
                <a:latin typeface="Calibri"/>
              </a:rPr>
              <a:t>OARs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0" y="2880000"/>
            <a:ext cx="108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AACBE"/>
                </a:solidFill>
                <a:latin typeface="Calibri"/>
              </a:rPr>
              <a:t>Contralateral parotid  ·  Spinal cord  ·  Brainstem  ·  Oral cavity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0000" y="3780000"/>
            <a:ext cx="10800000" cy="900000"/>
          </a:xfrm>
          <a:prstGeom prst="rect">
            <a:avLst/>
          </a:prstGeom>
          <a:solidFill>
            <a:srgbClr val="0E2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000" y="3851999"/>
            <a:ext cx="10656000" cy="7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E97132"/>
                </a:solidFill>
                <a:latin typeface="Calibri"/>
              </a:rPr>
              <a:t>"Focus especially on the contralateral parotid dose"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3200" y="6498000"/>
            <a:ext cx="9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CBE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0000" y="180000"/>
            <a:ext cx="2880000" cy="54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12000" y="216000"/>
            <a:ext cx="273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F9ED5"/>
                </a:solidFill>
                <a:latin typeface="Calibri"/>
              </a:rPr>
              <a:t>H&amp;N — Guide Your Eye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900000"/>
            <a:ext cx="10800000" cy="64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972000"/>
            <a:ext cx="36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9ED5"/>
                </a:solidFill>
                <a:latin typeface="Calibri"/>
              </a:rPr>
              <a:t>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000" y="972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alibri"/>
              </a:rPr>
              <a:t>PTV coverage — D95, D98</a:t>
            </a:r>
          </a:p>
        </p:txBody>
      </p:sp>
      <p:sp>
        <p:nvSpPr>
          <p:cNvPr id="8" name="Rectangle 7"/>
          <p:cNvSpPr/>
          <p:nvPr/>
        </p:nvSpPr>
        <p:spPr>
          <a:xfrm>
            <a:off x="540000" y="1584000"/>
            <a:ext cx="10800000" cy="648000"/>
          </a:xfrm>
          <a:prstGeom prst="rect">
            <a:avLst/>
          </a:prstGeom>
          <a:solidFill>
            <a:srgbClr val="0C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0000" y="1656000"/>
            <a:ext cx="36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9ED5"/>
                </a:solidFill>
                <a:latin typeface="Calibri"/>
              </a:rPr>
              <a:t>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000" y="1656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alibri"/>
              </a:rPr>
              <a:t>Cord Dmax — hard limit 45 Gy (PRV) / 50 Gy (cord)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0000" y="2268000"/>
            <a:ext cx="10800000" cy="64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0000" y="2340000"/>
            <a:ext cx="36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9ED5"/>
                </a:solidFill>
                <a:latin typeface="Calibri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000" y="2340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alibri"/>
              </a:rPr>
              <a:t>Brainstem Dmax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0000" y="2952000"/>
            <a:ext cx="10800000" cy="648000"/>
          </a:xfrm>
          <a:prstGeom prst="rect">
            <a:avLst/>
          </a:prstGeom>
          <a:solidFill>
            <a:srgbClr val="0C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0000" y="3024000"/>
            <a:ext cx="36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9ED5"/>
                </a:solidFill>
                <a:latin typeface="Calibri"/>
              </a:rPr>
              <a:t>4.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000" y="3024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alibri"/>
              </a:rPr>
              <a:t>Contralateral parotid mean — QUANTEC &lt; 26 Gy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0000" y="3636000"/>
            <a:ext cx="10800000" cy="64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0000" y="3708000"/>
            <a:ext cx="36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9ED5"/>
                </a:solidFill>
                <a:latin typeface="Calibri"/>
              </a:rPr>
              <a:t>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000" y="3708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alibri"/>
              </a:rPr>
              <a:t>Ipsilateral parotid — likely sacrifice; document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0000" y="4320000"/>
            <a:ext cx="10800000" cy="648000"/>
          </a:xfrm>
          <a:prstGeom prst="rect">
            <a:avLst/>
          </a:prstGeom>
          <a:solidFill>
            <a:srgbClr val="0C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0000" y="4392000"/>
            <a:ext cx="36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9ED5"/>
                </a:solidFill>
                <a:latin typeface="Calibri"/>
              </a:rPr>
              <a:t>6.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2000" y="4392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  <a:latin typeface="Calibri"/>
              </a:rPr>
              <a:t>Beam entry / exit path — does right lateral exit through contralateral parotid?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13200" y="6498000"/>
            <a:ext cx="9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CBE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80000"/>
            <a:ext cx="1080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F9ED5"/>
                </a:solidFill>
                <a:latin typeface="Calibri"/>
              </a:rPr>
              <a:t>H&amp;N —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792000"/>
            <a:ext cx="10800000" cy="61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0000" y="792000"/>
            <a:ext cx="144000" cy="612000"/>
          </a:xfrm>
          <a:prstGeom prst="rect">
            <a:avLst/>
          </a:prstGeom>
          <a:solidFill>
            <a:srgbClr val="29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6000" y="828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9A35B"/>
                </a:solidFill>
                <a:latin typeface="Calibri"/>
              </a:rPr>
              <a:t>✓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20000" y="864000"/>
            <a:ext cx="828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PTV mean ≈ 66.0 Gy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0000" y="1458000"/>
            <a:ext cx="10800000" cy="61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0000" y="1458000"/>
            <a:ext cx="144000" cy="61200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6000" y="1494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97132"/>
                </a:solidFill>
                <a:latin typeface="Calibri"/>
              </a:rPr>
              <a:t>↑ Contra parotid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20000" y="1530000"/>
            <a:ext cx="828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Mean ≈ 3.30 Gy — higher than necessary (Plan A, 4-field)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0000" y="2124000"/>
            <a:ext cx="10800000" cy="61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0000" y="2124000"/>
            <a:ext cx="144000" cy="612000"/>
          </a:xfrm>
          <a:prstGeom prst="rect">
            <a:avLst/>
          </a:prstGeom>
          <a:solidFill>
            <a:srgbClr val="29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6000" y="2160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9A35B"/>
                </a:solidFill>
                <a:latin typeface="Calibri"/>
              </a:rPr>
              <a:t>✓ Cord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20000" y="2196000"/>
            <a:ext cx="828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Dmax 19.9 Gy  ·  Within tolerance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0000" y="2790000"/>
            <a:ext cx="10800000" cy="61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0000" y="2790000"/>
            <a:ext cx="144000" cy="612000"/>
          </a:xfrm>
          <a:prstGeom prst="rect">
            <a:avLst/>
          </a:prstGeom>
          <a:solidFill>
            <a:srgbClr val="29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6000" y="2826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9A35B"/>
                </a:solidFill>
                <a:latin typeface="Calibri"/>
              </a:rPr>
              <a:t>✓ Brainstem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20000" y="2862000"/>
            <a:ext cx="828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Dmax 18.2 Gy  ·  Within tolerance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0000" y="3456000"/>
            <a:ext cx="10800000" cy="61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0000" y="3456000"/>
            <a:ext cx="144000" cy="6120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6000" y="3492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C518"/>
                </a:solidFill>
                <a:latin typeface="Calibri"/>
              </a:rPr>
              <a:t>~ Submandibular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0000" y="3528000"/>
            <a:ext cx="828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R mean ≈ 40.4 Gy — elevated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0000" y="4122000"/>
            <a:ext cx="10800000" cy="61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0000" y="4122000"/>
            <a:ext cx="144000" cy="612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6000" y="4158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9ED5"/>
                </a:solidFill>
                <a:latin typeface="Calibri"/>
              </a:rPr>
              <a:t>Summation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0000" y="4194000"/>
            <a:ext cx="828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Electron/photon match junction — dose at junction must be summed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0000" y="4788000"/>
            <a:ext cx="10800000" cy="61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0000" y="4788000"/>
            <a:ext cx="144000" cy="612000"/>
          </a:xfrm>
          <a:prstGeom prst="rect">
            <a:avLst/>
          </a:prstGeom>
          <a:solidFill>
            <a:srgbClr val="9AAC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6000" y="4824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AACBE"/>
                </a:solidFill>
                <a:latin typeface="Calibri"/>
              </a:rPr>
              <a:t>Cause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20000" y="4860000"/>
            <a:ext cx="828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Right lateral field exits through contralateral parotid — geometry problem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0000" y="5454000"/>
            <a:ext cx="10800000" cy="612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0000" y="5454000"/>
            <a:ext cx="144000" cy="612000"/>
          </a:xfrm>
          <a:prstGeom prst="rect">
            <a:avLst/>
          </a:prstGeom>
          <a:solidFill>
            <a:srgbClr val="9AAC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6000" y="5490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AACBE"/>
                </a:solidFill>
                <a:latin typeface="Calibri"/>
              </a:rPr>
              <a:t>Late effect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20000" y="5526000"/>
            <a:ext cx="828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alibri"/>
              </a:rPr>
              <a:t>Xerostomia: most common serious late effect of H&amp;N 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13200" y="6498000"/>
            <a:ext cx="9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CBE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80000"/>
            <a:ext cx="1080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F9ED5"/>
                </a:solidFill>
                <a:latin typeface="Calibri"/>
              </a:rPr>
              <a:t>H&amp;N — Solutions: 4-Field vs 3-Field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792000"/>
            <a:ext cx="5220000" cy="396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0000" y="792000"/>
            <a:ext cx="5220000" cy="18000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000" y="1007999"/>
            <a:ext cx="507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E97132"/>
                </a:solidFill>
                <a:latin typeface="Calibri"/>
              </a:rPr>
              <a:t>Plan A — 4-Field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000" y="1440000"/>
            <a:ext cx="507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ourier New"/>
              </a:rPr>
              <a:t>PTV mean:          ≈ 66.0 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000" y="1818000"/>
            <a:ext cx="507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ourier New"/>
              </a:rPr>
              <a:t>Contra parotid:    3.30 Gy  ↑  (above optimal)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000" y="2196000"/>
            <a:ext cx="507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ourier New"/>
              </a:rPr>
              <a:t>Cord Dmax:         19.9 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000" y="2574000"/>
            <a:ext cx="507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ourier New"/>
              </a:rPr>
              <a:t>Brainstem Dmax:    18.2 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0000" y="792000"/>
            <a:ext cx="5220000" cy="3960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0000" y="792000"/>
            <a:ext cx="5220000" cy="180000"/>
          </a:xfrm>
          <a:prstGeom prst="rect">
            <a:avLst/>
          </a:prstGeom>
          <a:solidFill>
            <a:srgbClr val="29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2000" y="1007999"/>
            <a:ext cx="507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9A35B"/>
                </a:solidFill>
                <a:latin typeface="Calibri"/>
              </a:rPr>
              <a:t>Plan B — 3-Field
(right lateral removed)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2000" y="1440000"/>
            <a:ext cx="507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ourier New"/>
              </a:rPr>
              <a:t>PTV mean:          ≈ 66.0 Gy  (maintained)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2000" y="1818000"/>
            <a:ext cx="507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ourier New"/>
              </a:rPr>
              <a:t>Contra parotid:    1.14 Gy  ↓  (↓ 2.2 Gy improvement)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000" y="2196000"/>
            <a:ext cx="507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ourier New"/>
              </a:rPr>
              <a:t>Cord Dmax:         17.8 Gy  (↓ 2.1 Gy)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2000" y="2574000"/>
            <a:ext cx="507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  <a:latin typeface="Courier New"/>
              </a:rPr>
              <a:t>Brainstem Dmax:    16.1 Gy  (↓ 2.1 Gy)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0000" y="6066000"/>
            <a:ext cx="108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E97132"/>
                </a:solidFill>
                <a:latin typeface="Calibri"/>
              </a:rPr>
              <a:t>"Fewer fields ≠ worse plan. Remove the beam that exits through the contralateral parotid."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13200" y="6498000"/>
            <a:ext cx="9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CBE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6000" cy="6858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0000" y="180000"/>
            <a:ext cx="1080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9ED5"/>
                </a:solidFill>
                <a:latin typeface="Calibri"/>
              </a:rPr>
              <a:t>Wrap-up — 5 Key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792000"/>
            <a:ext cx="10800000" cy="792000"/>
          </a:xfrm>
          <a:prstGeom prst="rect">
            <a:avLst/>
          </a:prstGeom>
          <a:solidFill>
            <a:srgbClr val="0E2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000" y="828000"/>
            <a:ext cx="432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F9ED5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000" y="828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EDF2"/>
                </a:solidFill>
                <a:latin typeface="Calibri"/>
              </a:rPr>
              <a:t>FCB-CHOPS every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000" y="1188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CBE"/>
                </a:solidFill>
                <a:latin typeface="Calibri"/>
              </a:rPr>
              <a:t>Use the framework as a safety net — don't skip letters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0000" y="1656000"/>
            <a:ext cx="10800000" cy="792000"/>
          </a:xfrm>
          <a:prstGeom prst="rect">
            <a:avLst/>
          </a:prstGeom>
          <a:solidFill>
            <a:srgbClr val="0E2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000" y="1692000"/>
            <a:ext cx="432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F9ED5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000" y="1692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EDF2"/>
                </a:solidFill>
                <a:latin typeface="Calibri"/>
              </a:rPr>
              <a:t>DVH screens; slices diagnose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000" y="2052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CBE"/>
                </a:solidFill>
                <a:latin typeface="Calibri"/>
              </a:rPr>
              <a:t>Use both — DVH flags the problem, isodose slices locate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0000" y="2520000"/>
            <a:ext cx="10800000" cy="792000"/>
          </a:xfrm>
          <a:prstGeom prst="rect">
            <a:avLst/>
          </a:prstGeom>
          <a:solidFill>
            <a:srgbClr val="0E2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000" y="2556000"/>
            <a:ext cx="432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F9ED5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000" y="2556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EDF2"/>
                </a:solidFill>
                <a:latin typeface="Calibri"/>
              </a:rPr>
              <a:t>Match metric to organ architecture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000" y="2916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CBE"/>
                </a:solidFill>
                <a:latin typeface="Calibri"/>
              </a:rPr>
              <a:t>Serial → Dmax / D1cc   ·   Parallel → mean / Vx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0000" y="3384000"/>
            <a:ext cx="10800000" cy="792000"/>
          </a:xfrm>
          <a:prstGeom prst="rect">
            <a:avLst/>
          </a:prstGeom>
          <a:solidFill>
            <a:srgbClr val="0E2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000" y="3420000"/>
            <a:ext cx="432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F9ED5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000" y="3420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EDF2"/>
                </a:solidFill>
                <a:latin typeface="Calibri"/>
              </a:rPr>
              <a:t>Normalisation point matters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000" y="3780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CBE"/>
                </a:solidFill>
                <a:latin typeface="Calibri"/>
              </a:rPr>
              <a:t>In lung or air = unreliable; must be in stable representative tissue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0000" y="4248000"/>
            <a:ext cx="10800000" cy="792000"/>
          </a:xfrm>
          <a:prstGeom prst="rect">
            <a:avLst/>
          </a:prstGeom>
          <a:solidFill>
            <a:srgbClr val="0E2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000" y="4284000"/>
            <a:ext cx="432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F9ED5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000" y="4284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EDF2"/>
                </a:solidFill>
                <a:latin typeface="Calibri"/>
              </a:rPr>
              <a:t>Document every trade-off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000" y="4644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CBE"/>
                </a:solidFill>
                <a:latin typeface="Calibri"/>
              </a:rPr>
              <a:t>If you accept a compromise, write it down — name it, don't ignore 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0000" y="5958000"/>
            <a:ext cx="108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CBE"/>
                </a:solidFill>
                <a:latin typeface="Calibri"/>
              </a:rPr>
              <a:t>References: FCB-CHOPS Weisman 2024 (PMID 40017913)  ·  ICRU 50/62/83  ·  QUANTEC 2010  ·  Emami 1991  ·  Khan textbook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0000" y="621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1">
                <a:solidFill>
                  <a:srgbClr val="E97132"/>
                </a:solidFill>
                <a:latin typeface="Calibri"/>
              </a:rPr>
              <a:t>"A good plan is a documented compromise"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13200" y="6498000"/>
            <a:ext cx="9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CBE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